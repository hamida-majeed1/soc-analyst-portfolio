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100584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1463040"/>
            <a:ext cx="164592" cy="164592"/>
          </a:xfrm>
          <a:prstGeom prst="ellipse">
            <a:avLst/>
          </a:prstGeom>
          <a:solidFill>
            <a:srgbClr val="CFE8F0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210312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651760"/>
            <a:ext cx="164592" cy="164592"/>
          </a:xfrm>
          <a:prstGeom prst="ellipse">
            <a:avLst/>
          </a:prstGeom>
          <a:solidFill>
            <a:srgbClr val="CF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192024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9774936" y="1088136"/>
            <a:ext cx="1097280" cy="45720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09176" y="1545336"/>
            <a:ext cx="1463040" cy="64008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09176" y="2185416"/>
            <a:ext cx="1188720" cy="54864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597896" y="2002536"/>
            <a:ext cx="914400" cy="73152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74936" y="1088136"/>
            <a:ext cx="822960" cy="164592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FUNDAMENTALS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Address &amp; MAC Address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devices are identified and connected across networks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709160"/>
            <a:ext cx="21945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07  •  Core Concepts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IP Address?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55448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IP (Internet Protocol) address is a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number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assigned to a device connected to a network or the internet. It allows devices to find and communicate with each other.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3749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37490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device's postal address on a network.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554480"/>
            <a:ext cx="4526280" cy="3566160"/>
          </a:xfrm>
          <a:prstGeom prst="roundRect">
            <a:avLst>
              <a:gd name="adj" fmla="val 3077"/>
            </a:avLst>
          </a:prstGeom>
          <a:solidFill>
            <a:srgbClr val="F4F8FA"/>
          </a:solidFill>
          <a:ln w="12700">
            <a:solidFill>
              <a:srgbClr val="CF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60920" y="224028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F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60920" y="2240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60920" y="310896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F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31089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103.25.45.10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60920" y="416052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number lets devices locate one another, just like a house number helps mail find its way.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&amp; MAC Address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IP Address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508760"/>
            <a:ext cx="5257800" cy="4572000"/>
          </a:xfrm>
          <a:prstGeom prst="roundRect">
            <a:avLst>
              <a:gd name="adj" fmla="val 2800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86968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8105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18488" y="18105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IP Address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86968" y="260604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 the internet. Assigned by the Internet Service Provider (ISP) and visible publicly.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6968" y="3703320"/>
            <a:ext cx="4617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F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37033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39.45.xx.xx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" y="4754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websites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6968" y="51389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gaming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6968" y="55229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YouTube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508760"/>
            <a:ext cx="5257800" cy="4572000"/>
          </a:xfrm>
          <a:prstGeom prst="roundRect">
            <a:avLst>
              <a:gd name="adj" fmla="val 2800"/>
            </a:avLst>
          </a:prstGeom>
          <a:solidFill>
            <a:srgbClr val="F4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675120" y="18105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18105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06640" y="18105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IP Address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75120" y="260604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inside a local network such as home Wi-Fi or an office network. Assigned by the router.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675120" y="3703320"/>
            <a:ext cx="4617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F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7033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192.168.1.5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7512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4754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51389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devices on same Wi-Fi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55229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connection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&amp; MAC Address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of IP Address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10424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023360"/>
                <a:gridCol w="2103120"/>
                <a:gridCol w="3291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Range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Subnet Mask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1.0.0.0 – 126.255.255.255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255.0.0.0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 networks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128.0.0.0 – 191.255.255.255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255.255.0.0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Medium-sized networks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192.0.0.0 – 223.255.255.255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255.255.255.0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networks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224.0.0.0 – 239.255.255.255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Multicast communication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240.0.0.0 – 255.255.255.255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/ experimental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MEMORY TRICK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6928" y="5212080"/>
            <a:ext cx="2139696" cy="822960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5212080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
</a:t>
            </a:r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52344" y="5212080"/>
            <a:ext cx="2139696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2752344" y="5212080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
</a:t>
            </a:r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937760" y="5212080"/>
            <a:ext cx="2139696" cy="822960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5212080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
</a:t>
            </a:r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23176" y="5212080"/>
            <a:ext cx="2139696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7123176" y="5212080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
</a:t>
            </a:r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Multicast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308592" y="5212080"/>
            <a:ext cx="2139696" cy="822960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9308592" y="5212080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E
</a:t>
            </a:r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&amp; MAC Address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IPv4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Protocol Version 4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280160" cy="0"/>
          </a:xfrm>
          <a:prstGeom prst="line">
            <a:avLst/>
          </a:prstGeom>
          <a:noFill/>
          <a:ln w="38100">
            <a:solidFill>
              <a:srgbClr val="CF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0020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older and most commonly used version of IP addresses.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6060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address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291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4 parts separated by dots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9776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977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numbers from 0–255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892040"/>
            <a:ext cx="5760720" cy="68580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8920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 192.168.1.1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040880" y="1600200"/>
            <a:ext cx="4526280" cy="3977640"/>
          </a:xfrm>
          <a:prstGeom prst="roundRect">
            <a:avLst>
              <a:gd name="adj" fmla="val 3218"/>
            </a:avLst>
          </a:prstGeom>
          <a:solidFill>
            <a:srgbClr val="0B4A66"/>
          </a:solidFill>
          <a:ln/>
        </p:spPr>
      </p:sp>
      <p:sp>
        <p:nvSpPr>
          <p:cNvPr id="19" name="Text 17"/>
          <p:cNvSpPr/>
          <p:nvPr/>
        </p:nvSpPr>
        <p:spPr>
          <a:xfrm>
            <a:off x="7360920" y="1828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60920" y="21945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4.3B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7360920" y="2880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addresses supported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60920" y="3520440"/>
            <a:ext cx="3931920" cy="0"/>
          </a:xfrm>
          <a:prstGeom prst="line">
            <a:avLst/>
          </a:prstGeom>
          <a:noFill/>
          <a:ln w="12700">
            <a:solidFill>
              <a:srgbClr val="3D7A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3703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widely used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60920" y="4206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number of available addresses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&amp; MAC Address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IPv6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Protocol Version 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0020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newer version, created because IPv4 addresses were running out.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6060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128-bit address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2918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291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hexadecimal format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9776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977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separated by colons ( : 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4892040"/>
            <a:ext cx="5760720" cy="685800"/>
          </a:xfrm>
          <a:prstGeom prst="roundRect">
            <a:avLst>
              <a:gd name="adj" fmla="val 13333"/>
            </a:avLst>
          </a:prstGeom>
          <a:solidFill>
            <a:srgbClr val="F4F8FA"/>
          </a:solidFill>
          <a:ln w="12700">
            <a:solidFill>
              <a:srgbClr val="CF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8920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2001:0db8:85a3:0000:0000:8a2e:0370:7334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1600200"/>
            <a:ext cx="4526280" cy="3977640"/>
          </a:xfrm>
          <a:prstGeom prst="roundRect">
            <a:avLst>
              <a:gd name="adj" fmla="val 3218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1828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60920" y="21945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Huge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360920" y="2880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space — designed for future internet growth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60920" y="3611880"/>
            <a:ext cx="3931920" cy="0"/>
          </a:xfrm>
          <a:prstGeom prst="line">
            <a:avLst/>
          </a:prstGeom>
          <a:noFill/>
          <a:ln w="12700">
            <a:solidFill>
              <a:srgbClr val="3D4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3794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and more secure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60920" y="4297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future of the internet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&amp; MAC Address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IPv4 vs IPv6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0424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840480"/>
                <a:gridCol w="384048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length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32-bit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128-bit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Uses dots ( . 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Uses colons ( : 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192.168.1.1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2001:db8::1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Limited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Very large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Older version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Newer version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669280"/>
            <a:ext cx="10424160" cy="685800"/>
          </a:xfrm>
          <a:prstGeom prst="roundRect">
            <a:avLst>
              <a:gd name="adj" fmla="val 13333"/>
            </a:avLst>
          </a:prstGeom>
          <a:solidFill>
            <a:srgbClr val="F4F8FA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56692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idea:  </a:t>
            </a:r>
            <a:pPr algn="ctr" indent="0" marL="0">
              <a:buNone/>
            </a:pPr>
            <a:r>
              <a:rPr lang="en-US" sz="15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= Old system      →      IPv6 = New, improved system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&amp; MAC Address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 Address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Access Control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737360"/>
            <a:ext cx="5760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 address is a unique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identifier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assigned to a device's Network Interface Card (NIC). It helps devices communicate inside a local network (LAN).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3566160"/>
            <a:ext cx="5760720" cy="777240"/>
          </a:xfrm>
          <a:prstGeom prst="roundRect">
            <a:avLst>
              <a:gd name="adj" fmla="val 11765"/>
            </a:avLst>
          </a:prstGeom>
          <a:solidFill>
            <a:srgbClr val="F4F8FA"/>
          </a:solidFill>
          <a:ln w="12700">
            <a:solidFill>
              <a:srgbClr val="CF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56616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00:1A:2B:3C:4D:5E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04088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WITH MAC ADDRESSES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0" y="210312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2103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372600" y="210312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9372600" y="2103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040880" y="30632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30632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372600" y="30632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372600" y="30632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040880" y="402336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40233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TV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&amp; MAC Address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&amp; Structure of a MAC Address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417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 address is a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48-bit hexadecimal address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written as 6 groups separated by ':' or '-'. Each group has 2 hexadecimal digits (0–9, A–F).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5146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984248" y="251460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121408" y="251460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121408" y="25146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38728" y="251460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675888" y="251460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675888" y="25146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93208" y="251460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230368" y="251460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230368" y="25146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47688" y="251460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784848" y="251460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784848" y="25146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4D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202168" y="251460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339328" y="251460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339328" y="25146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5E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566928" y="3794760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CF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7947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ID (OUI)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230368" y="3794760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D9EEE9"/>
          </a:solidFill>
          <a:ln/>
        </p:spPr>
      </p:sp>
      <p:sp>
        <p:nvSpPr>
          <p:cNvPr id="25" name="Text 23"/>
          <p:cNvSpPr/>
          <p:nvPr/>
        </p:nvSpPr>
        <p:spPr>
          <a:xfrm>
            <a:off x="5230368" y="37947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Unique ID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61772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4F8FA"/>
          </a:solidFill>
          <a:ln w="12700">
            <a:solidFill>
              <a:srgbClr val="CF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617720"/>
            <a:ext cx="10149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groups 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identify the manufacturer (OUI)
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 groups 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identify the specific device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&amp; MAC Address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MAC Address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554480"/>
            <a:ext cx="3429000" cy="4206240"/>
          </a:xfrm>
          <a:prstGeom prst="roundRect">
            <a:avLst>
              <a:gd name="adj" fmla="val 3733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1869948" y="18745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869948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8803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Unicast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34290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data to one specific device.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" y="4526280"/>
            <a:ext cx="2880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F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5262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  →  Printer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24528" y="1554480"/>
            <a:ext cx="3429000" cy="4206240"/>
          </a:xfrm>
          <a:prstGeom prst="roundRect">
            <a:avLst>
              <a:gd name="adj" fmla="val 3733"/>
            </a:avLst>
          </a:prstGeom>
          <a:solidFill>
            <a:srgbClr val="F4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527548" y="18745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527548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24528" y="28803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98848" y="34290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data to all devices in the network.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498848" y="4526280"/>
            <a:ext cx="2880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F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8848" y="45262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FF:FF:FF:FF:FF:FF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82128" y="1554480"/>
            <a:ext cx="3429000" cy="4206240"/>
          </a:xfrm>
          <a:prstGeom prst="roundRect">
            <a:avLst>
              <a:gd name="adj" fmla="val 3733"/>
            </a:avLst>
          </a:prstGeom>
          <a:solidFill>
            <a:srgbClr val="F4F8FA"/>
          </a:solidFill>
          <a:ln/>
        </p:spPr>
      </p:sp>
      <p:sp>
        <p:nvSpPr>
          <p:cNvPr id="19" name="Shape 17"/>
          <p:cNvSpPr/>
          <p:nvPr/>
        </p:nvSpPr>
        <p:spPr>
          <a:xfrm>
            <a:off x="9185148" y="187452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9185148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82128" y="28803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Multicast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156448" y="34290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data to a group of devices.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156448" y="4526280"/>
            <a:ext cx="2880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F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56448" y="45262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 →  Group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&amp; MAC Address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 Address vs IP Address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508760"/>
          <a:ext cx="10149840" cy="914400"/>
        </p:xfrm>
        <a:graphic>
          <a:graphicData uri="http://schemas.openxmlformats.org/drawingml/2006/table">
            <a:tbl>
              <a:tblPr/>
              <a:tblGrid>
                <a:gridCol w="5074920"/>
                <a:gridCol w="507492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Address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F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address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F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address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F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F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change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F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by manufacturer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F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by ISP / router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F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in local network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F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across internet &amp; networks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F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2 (Data Link Layer)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F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3 (Network Layer)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&amp; MAC Address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ARP &amp; the MAC Address Table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ARP — Address Resolution Protocol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known IP address into its matching MAC address.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37744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known: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58568" y="237744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78608" y="237744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578608" y="237744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70248" y="237744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90288" y="237744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590288" y="237744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found: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00:1A:2B:3C:4D:5E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 Address Table (kept by switches)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34840"/>
          <a:ext cx="5120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00:1A:2B:3C:4D:5E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Port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66928" y="5532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switches deliver data to the correct device efficiently.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40880" y="1463040"/>
            <a:ext cx="4526280" cy="4572000"/>
          </a:xfrm>
          <a:prstGeom prst="roundRect">
            <a:avLst>
              <a:gd name="adj" fmla="val 2828"/>
            </a:avLst>
          </a:prstGeom>
          <a:solidFill>
            <a:srgbClr val="F4F8FA"/>
          </a:solidFill>
          <a:ln w="12700">
            <a:solidFill>
              <a:srgbClr val="CF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60920" y="1737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 ADDRESSING WORKS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60920" y="21945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7360920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909560" y="21945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finds the MAC address of the destination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360920" y="32461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0"/>
          <p:cNvSpPr/>
          <p:nvPr/>
        </p:nvSpPr>
        <p:spPr>
          <a:xfrm>
            <a:off x="736092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909560" y="32461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sent using that MAC address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360920" y="42976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3"/>
          <p:cNvSpPr/>
          <p:nvPr/>
        </p:nvSpPr>
        <p:spPr>
          <a:xfrm>
            <a:off x="736092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909560" y="429768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/ router delivers data to the correct device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360920" y="5486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Laptop sends a file to a printer using the printer's MAC address.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&amp; MAC Address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 Spoofing &amp; Finding Your MAC Address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463040"/>
            <a:ext cx="5257800" cy="4572000"/>
          </a:xfrm>
          <a:prstGeom prst="roundRect">
            <a:avLst>
              <a:gd name="adj" fmla="val 2800"/>
            </a:avLst>
          </a:prstGeom>
          <a:solidFill>
            <a:srgbClr val="F4F8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SPOOFING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or faking a device's MAC address.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protection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Bypassing filters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709160"/>
            <a:ext cx="4663440" cy="1051560"/>
          </a:xfrm>
          <a:prstGeom prst="roundRect">
            <a:avLst>
              <a:gd name="adj" fmla="val 8696"/>
            </a:avLst>
          </a:prstGeom>
          <a:solidFill>
            <a:srgbClr val="F9E0DD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70916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also be used maliciously — to impersonate devices or bypass security controls.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1463040"/>
            <a:ext cx="5257800" cy="4572000"/>
          </a:xfrm>
          <a:prstGeom prst="roundRect">
            <a:avLst>
              <a:gd name="adj" fmla="val 2800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YOUR MAC ADDRESS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21945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75120" y="256032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0F1740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5603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ipconfig /all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0" y="33375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75120" y="370332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0F1740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37033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ifconfig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006840" y="37033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0F1740"/>
          </a:solidFill>
          <a:ln/>
        </p:spPr>
      </p:sp>
      <p:sp>
        <p:nvSpPr>
          <p:cNvPr id="22" name="Text 20"/>
          <p:cNvSpPr/>
          <p:nvPr/>
        </p:nvSpPr>
        <p:spPr>
          <a:xfrm>
            <a:off x="9006840" y="3703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addr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675120" y="4480560"/>
            <a:ext cx="4480560" cy="0"/>
          </a:xfrm>
          <a:prstGeom prst="line">
            <a:avLst/>
          </a:prstGeom>
          <a:noFill/>
          <a:ln w="12700">
            <a:solidFill>
              <a:srgbClr val="3D4A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46177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POINTS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75120" y="4892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&amp; usually permanent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5257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IP address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&amp; MAC Address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Real-Life Analogy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10698480" cy="1554480"/>
          </a:xfrm>
          <a:prstGeom prst="roundRect">
            <a:avLst>
              <a:gd name="adj" fmla="val 8235"/>
            </a:avLst>
          </a:prstGeom>
          <a:solidFill>
            <a:srgbClr val="1B2454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5146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14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0" y="2377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Address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2788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Address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75120" y="21945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WHERE the device is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069080"/>
            <a:ext cx="10698480" cy="1554480"/>
          </a:xfrm>
          <a:prstGeom prst="roundRect">
            <a:avLst>
              <a:gd name="adj" fmla="val 8235"/>
            </a:avLst>
          </a:prstGeom>
          <a:solidFill>
            <a:srgbClr val="1B245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43891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86000" y="4251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Person's Fingerprint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86000" y="4663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 Address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675120" y="40690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WHICH exact device it 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tells where a device is on the network. MAC tells exactly which device it is.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2026-07-28T14:31:05Z</dcterms:created>
  <dcterms:modified xsi:type="dcterms:W3CDTF">2026-07-28T14:31:05Z</dcterms:modified>
</cp:coreProperties>
</file>