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645920"/>
            <a:ext cx="5029200" cy="5029200"/>
          </a:xfrm>
          <a:prstGeom prst="ellipse">
            <a:avLst/>
          </a:prstGeom>
          <a:solidFill>
            <a:srgbClr val="065A82">
              <a:alpha val="45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-1463040" y="4206240"/>
            <a:ext cx="3840480" cy="3840480"/>
          </a:xfrm>
          <a:prstGeom prst="ellipse">
            <a:avLst/>
          </a:prstGeom>
          <a:solidFill>
            <a:srgbClr val="1C7293">
              <a:alpha val="40000"/>
            </a:srgbClr>
          </a:solidFill>
        </p:spPr>
      </p:sp>
      <p:sp>
        <p:nvSpPr>
          <p:cNvPr id="4" name="Text 2"/>
          <p:cNvSpPr/>
          <p:nvPr/>
        </p:nvSpPr>
        <p:spPr>
          <a:xfrm>
            <a:off x="731520" y="1965960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5FCBC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NETWORKING FUNDAMENTALS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331720"/>
            <a:ext cx="960120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TCP/IP Model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731520" y="342900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7D6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standard communication model that powers the Internet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4754880"/>
            <a:ext cx="23774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5FCBC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31520" y="5257800"/>
            <a:ext cx="2377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3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Layers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83280" y="4754880"/>
            <a:ext cx="23774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383280" y="5257800"/>
            <a:ext cx="2377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35040" y="4754880"/>
            <a:ext cx="23774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5FCBC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TCP / UDP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035040" y="5257800"/>
            <a:ext cx="2377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3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Core protocols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What is TCP/IP?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667512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blurRad="76200" dist="25400" dir="5400000" algn="bl" rotWithShape="0">
              <a:srgbClr val="9AAAB8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68680" y="1828800"/>
            <a:ext cx="6035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Definition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" y="2240280"/>
            <a:ext cx="603504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TCP/IP (Transmission Control Protocol / Internet Protocol) is the standard communication model used for data transmission over the Internet. It defines how data is sent, received, and routed between devices.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68680" y="3794760"/>
            <a:ext cx="457200" cy="457200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7" name="Text 5"/>
          <p:cNvSpPr/>
          <p:nvPr/>
        </p:nvSpPr>
        <p:spPr>
          <a:xfrm>
            <a:off x="868680" y="379476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08760" y="3794760"/>
            <a:ext cx="5486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Developed by: </a:t>
            </a:r>
            <a:r>
              <a:rPr lang="en-US" sz="140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DARPA (U.S. Department of Defense)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68680" y="4434840"/>
            <a:ext cx="457200" cy="457200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10" name="Text 8"/>
          <p:cNvSpPr/>
          <p:nvPr/>
        </p:nvSpPr>
        <p:spPr>
          <a:xfrm>
            <a:off x="868680" y="443484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08760" y="4434840"/>
            <a:ext cx="5486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Layers: </a:t>
            </a:r>
            <a:r>
              <a:rPr lang="en-US" sz="140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 (vs 7 in OSI model)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498080" y="1600200"/>
            <a:ext cx="4114800" cy="4206240"/>
          </a:xfrm>
          <a:prstGeom prst="rect">
            <a:avLst/>
          </a:prstGeom>
          <a:solidFill>
            <a:srgbClr val="21295C"/>
          </a:solidFill>
        </p:spPr>
      </p:sp>
      <p:sp>
        <p:nvSpPr>
          <p:cNvPr id="13" name="Text 11"/>
          <p:cNvSpPr/>
          <p:nvPr/>
        </p:nvSpPr>
        <p:spPr>
          <a:xfrm>
            <a:off x="7818120" y="1874520"/>
            <a:ext cx="3566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FCBC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it matters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818120" y="2286000"/>
            <a:ext cx="356616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CE6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device that connects to the Internet — phones, servers, routers — communicates using this model.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818120" y="3657600"/>
            <a:ext cx="3291840" cy="0"/>
          </a:xfrm>
          <a:prstGeom prst="line">
            <a:avLst/>
          </a:prstGeom>
          <a:noFill/>
          <a:ln w="12700">
            <a:solidFill>
              <a:srgbClr val="3A4A7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18120" y="3840480"/>
            <a:ext cx="35661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FB3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Interview + exam favourite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B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TCP/IP Model  •  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TCP/IP Layers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515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B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 layers, top to bottom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74520"/>
            <a:ext cx="548640" cy="548640"/>
          </a:xfrm>
          <a:prstGeom prst="ellipse">
            <a:avLst/>
          </a:prstGeom>
          <a:solidFill>
            <a:srgbClr val="065A82"/>
          </a:solidFill>
        </p:spPr>
      </p:sp>
      <p:sp>
        <p:nvSpPr>
          <p:cNvPr id="6" name="Text 4"/>
          <p:cNvSpPr/>
          <p:nvPr/>
        </p:nvSpPr>
        <p:spPr>
          <a:xfrm>
            <a:off x="777240" y="1874520"/>
            <a:ext cx="548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00200" y="1764792"/>
            <a:ext cx="265176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Application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434840" y="1764792"/>
            <a:ext cx="42062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Provides network services to users and applications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778240" y="1764792"/>
            <a:ext cx="265176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HTTP, HTTPS, FTP, SMTP, DNS, SSH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743200"/>
            <a:ext cx="11064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2926080"/>
            <a:ext cx="548640" cy="548640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12" name="Text 10"/>
          <p:cNvSpPr/>
          <p:nvPr/>
        </p:nvSpPr>
        <p:spPr>
          <a:xfrm>
            <a:off x="777240" y="2926080"/>
            <a:ext cx="548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600200" y="2816352"/>
            <a:ext cx="265176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Transport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434840" y="2816352"/>
            <a:ext cx="42062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End-to-end communication, segmentation, error checking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778240" y="2816352"/>
            <a:ext cx="265176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TCP, UDP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794760"/>
            <a:ext cx="11064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3977640"/>
            <a:ext cx="548640" cy="548640"/>
          </a:xfrm>
          <a:prstGeom prst="ellipse">
            <a:avLst/>
          </a:prstGeom>
          <a:solidFill>
            <a:srgbClr val="2E7D8C"/>
          </a:solidFill>
        </p:spPr>
      </p:sp>
      <p:sp>
        <p:nvSpPr>
          <p:cNvPr id="18" name="Text 16"/>
          <p:cNvSpPr/>
          <p:nvPr/>
        </p:nvSpPr>
        <p:spPr>
          <a:xfrm>
            <a:off x="777240" y="3977640"/>
            <a:ext cx="548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600200" y="3867912"/>
            <a:ext cx="265176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Internet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434840" y="3867912"/>
            <a:ext cx="42062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Logical addressing and routing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778240" y="3867912"/>
            <a:ext cx="265176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IP, ICMP, ARP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4846320"/>
            <a:ext cx="11064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77240" y="5029200"/>
            <a:ext cx="548640" cy="548640"/>
          </a:xfrm>
          <a:prstGeom prst="ellipse">
            <a:avLst/>
          </a:prstGeom>
          <a:solidFill>
            <a:srgbClr val="21295C"/>
          </a:solidFill>
        </p:spPr>
      </p:sp>
      <p:sp>
        <p:nvSpPr>
          <p:cNvPr id="24" name="Text 22"/>
          <p:cNvSpPr/>
          <p:nvPr/>
        </p:nvSpPr>
        <p:spPr>
          <a:xfrm>
            <a:off x="777240" y="5029200"/>
            <a:ext cx="548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600200" y="4919472"/>
            <a:ext cx="265176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Network Access (Link)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434840" y="4919472"/>
            <a:ext cx="42062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Physical transmission of data over the network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778240" y="4919472"/>
            <a:ext cx="265176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Ethernet, Wi-Fi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B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TCP/IP Model  •  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Application Layer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691640"/>
            <a:ext cx="539496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920240"/>
            <a:ext cx="4754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Function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" y="2331720"/>
            <a:ext cx="4754880" cy="1463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Provides services directly to user applications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Combines OSI's Application, Presentation, and Session layers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868680" y="3931920"/>
            <a:ext cx="4754880" cy="0"/>
          </a:xfrm>
          <a:prstGeom prst="line">
            <a:avLst/>
          </a:prstGeom>
          <a:noFill/>
          <a:ln w="12700">
            <a:solidFill>
              <a:srgbClr val="E1E8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4069080"/>
            <a:ext cx="4754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Protocols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68680" y="4526280"/>
            <a:ext cx="1463040" cy="502920"/>
          </a:xfrm>
          <a:prstGeom prst="roundRect">
            <a:avLst>
              <a:gd name="adj" fmla="val 14545"/>
            </a:avLst>
          </a:prstGeom>
          <a:solidFill>
            <a:srgbClr val="E7F2F5"/>
          </a:solidFill>
        </p:spPr>
      </p:sp>
      <p:sp>
        <p:nvSpPr>
          <p:cNvPr id="9" name="Text 7"/>
          <p:cNvSpPr/>
          <p:nvPr/>
        </p:nvSpPr>
        <p:spPr>
          <a:xfrm>
            <a:off x="868680" y="4526280"/>
            <a:ext cx="14630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65A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HTTP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468880" y="4526280"/>
            <a:ext cx="1463040" cy="502920"/>
          </a:xfrm>
          <a:prstGeom prst="roundRect">
            <a:avLst>
              <a:gd name="adj" fmla="val 14545"/>
            </a:avLst>
          </a:prstGeom>
          <a:solidFill>
            <a:srgbClr val="E7F2F5"/>
          </a:solidFill>
        </p:spPr>
      </p:sp>
      <p:sp>
        <p:nvSpPr>
          <p:cNvPr id="11" name="Text 9"/>
          <p:cNvSpPr/>
          <p:nvPr/>
        </p:nvSpPr>
        <p:spPr>
          <a:xfrm>
            <a:off x="2468880" y="4526280"/>
            <a:ext cx="14630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65A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HTTPS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069080" y="4526280"/>
            <a:ext cx="1463040" cy="502920"/>
          </a:xfrm>
          <a:prstGeom prst="roundRect">
            <a:avLst>
              <a:gd name="adj" fmla="val 14545"/>
            </a:avLst>
          </a:prstGeom>
          <a:solidFill>
            <a:srgbClr val="E7F2F5"/>
          </a:solidFill>
        </p:spPr>
      </p:sp>
      <p:sp>
        <p:nvSpPr>
          <p:cNvPr id="13" name="Text 11"/>
          <p:cNvSpPr/>
          <p:nvPr/>
        </p:nvSpPr>
        <p:spPr>
          <a:xfrm>
            <a:off x="4069080" y="4526280"/>
            <a:ext cx="14630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65A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FTP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68680" y="5166360"/>
            <a:ext cx="1463040" cy="502920"/>
          </a:xfrm>
          <a:prstGeom prst="roundRect">
            <a:avLst>
              <a:gd name="adj" fmla="val 14545"/>
            </a:avLst>
          </a:prstGeom>
          <a:solidFill>
            <a:srgbClr val="E7F2F5"/>
          </a:solidFill>
        </p:spPr>
      </p:sp>
      <p:sp>
        <p:nvSpPr>
          <p:cNvPr id="15" name="Text 13"/>
          <p:cNvSpPr/>
          <p:nvPr/>
        </p:nvSpPr>
        <p:spPr>
          <a:xfrm>
            <a:off x="868680" y="5166360"/>
            <a:ext cx="14630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65A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SMTP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2468880" y="5166360"/>
            <a:ext cx="1463040" cy="502920"/>
          </a:xfrm>
          <a:prstGeom prst="roundRect">
            <a:avLst>
              <a:gd name="adj" fmla="val 14545"/>
            </a:avLst>
          </a:prstGeom>
          <a:solidFill>
            <a:srgbClr val="E7F2F5"/>
          </a:solidFill>
        </p:spPr>
      </p:sp>
      <p:sp>
        <p:nvSpPr>
          <p:cNvPr id="17" name="Text 15"/>
          <p:cNvSpPr/>
          <p:nvPr/>
        </p:nvSpPr>
        <p:spPr>
          <a:xfrm>
            <a:off x="2468880" y="5166360"/>
            <a:ext cx="14630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65A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DNS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069080" y="5166360"/>
            <a:ext cx="1463040" cy="502920"/>
          </a:xfrm>
          <a:prstGeom prst="roundRect">
            <a:avLst>
              <a:gd name="adj" fmla="val 14545"/>
            </a:avLst>
          </a:prstGeom>
          <a:solidFill>
            <a:srgbClr val="E7F2F5"/>
          </a:solidFill>
        </p:spPr>
      </p:sp>
      <p:sp>
        <p:nvSpPr>
          <p:cNvPr id="19" name="Text 17"/>
          <p:cNvSpPr/>
          <p:nvPr/>
        </p:nvSpPr>
        <p:spPr>
          <a:xfrm>
            <a:off x="4069080" y="5166360"/>
            <a:ext cx="14630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65A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SSH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217920" y="1691640"/>
            <a:ext cx="5394960" cy="4114800"/>
          </a:xfrm>
          <a:prstGeom prst="rect">
            <a:avLst/>
          </a:prstGeom>
          <a:solidFill>
            <a:srgbClr val="21295C"/>
          </a:solidFill>
        </p:spPr>
      </p:sp>
      <p:sp>
        <p:nvSpPr>
          <p:cNvPr id="21" name="Text 19"/>
          <p:cNvSpPr/>
          <p:nvPr/>
        </p:nvSpPr>
        <p:spPr>
          <a:xfrm>
            <a:off x="6537960" y="1965960"/>
            <a:ext cx="4754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FCBC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Where it sits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537960" y="2377440"/>
            <a:ext cx="475488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CE6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Application Layer is the layer closest to the end user — it's what your apps talk to directly.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537960" y="3337560"/>
            <a:ext cx="4480560" cy="0"/>
          </a:xfrm>
          <a:prstGeom prst="line">
            <a:avLst/>
          </a:prstGeom>
          <a:noFill/>
          <a:ln w="12700">
            <a:solidFill>
              <a:srgbClr val="3A4A7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37960" y="3520440"/>
            <a:ext cx="4754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FCBC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Q: </a:t>
            </a:r>
            <a:r>
              <a:rPr lang="en-US" sz="1300" dirty="0">
                <a:solidFill>
                  <a:srgbClr val="DCE6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Give two Application layer protocols.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537960" y="3931920"/>
            <a:ext cx="4754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FCBC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A: </a:t>
            </a:r>
            <a:r>
              <a:rPr lang="en-US" sz="1300" dirty="0">
                <a:solidFill>
                  <a:srgbClr val="DCE6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HTTP and DNS.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B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TCP/IP Model  •  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Transport Layer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515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B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End-to-end communication, segmentation, error checking, flow control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37360"/>
            <a:ext cx="5394960" cy="914400"/>
          </a:xfrm>
          <a:prstGeom prst="rect">
            <a:avLst/>
          </a:prstGeom>
          <a:solidFill>
            <a:srgbClr val="065A82"/>
          </a:solidFill>
        </p:spPr>
      </p:sp>
      <p:sp>
        <p:nvSpPr>
          <p:cNvPr id="6" name="Text 4"/>
          <p:cNvSpPr/>
          <p:nvPr/>
        </p:nvSpPr>
        <p:spPr>
          <a:xfrm>
            <a:off x="822960" y="1828800"/>
            <a:ext cx="3657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TCP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22960" y="2286000"/>
            <a:ext cx="48463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7F2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Transmission Control Protocol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22960" y="2880360"/>
            <a:ext cx="4846320" cy="1737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Connection-oriented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Reliable, ordered delivery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Error checking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Slower, more overhead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22960" y="4709160"/>
            <a:ext cx="4846320" cy="0"/>
          </a:xfrm>
          <a:prstGeom prst="line">
            <a:avLst/>
          </a:prstGeom>
          <a:noFill/>
          <a:ln w="12700">
            <a:solidFill>
              <a:srgbClr val="E1E8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4846320"/>
            <a:ext cx="48463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065A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Used for: </a:t>
            </a:r>
            <a:r>
              <a:rPr lang="en-US" sz="125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Web browsing, Email, File transfer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17920" y="1737360"/>
            <a:ext cx="539496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0" y="1737360"/>
            <a:ext cx="5394960" cy="914400"/>
          </a:xfrm>
          <a:prstGeom prst="rect">
            <a:avLst/>
          </a:prstGeom>
          <a:solidFill>
            <a:srgbClr val="1C7293"/>
          </a:solidFill>
        </p:spPr>
      </p:sp>
      <p:sp>
        <p:nvSpPr>
          <p:cNvPr id="13" name="Text 11"/>
          <p:cNvSpPr/>
          <p:nvPr/>
        </p:nvSpPr>
        <p:spPr>
          <a:xfrm>
            <a:off x="6492240" y="1828800"/>
            <a:ext cx="3657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UDP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92240" y="2286000"/>
            <a:ext cx="48463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7F2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 Datagram Protocol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492240" y="2880360"/>
            <a:ext cx="4846320" cy="1737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Connectionless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delivery guarantee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error recovery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Fast, low overhead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92240" y="4709160"/>
            <a:ext cx="4846320" cy="0"/>
          </a:xfrm>
          <a:prstGeom prst="line">
            <a:avLst/>
          </a:prstGeom>
          <a:noFill/>
          <a:ln w="12700">
            <a:solidFill>
              <a:srgbClr val="E1E8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4846320"/>
            <a:ext cx="48463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Used for: </a:t>
            </a:r>
            <a:r>
              <a:rPr lang="en-US" sz="125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Video streaming, Gaming, VoIP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B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TCP/IP Model  •  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Internet &amp; Network Access Layers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539496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737360"/>
            <a:ext cx="109728" cy="4114800"/>
          </a:xfrm>
          <a:prstGeom prst="rect">
            <a:avLst/>
          </a:prstGeom>
          <a:solidFill>
            <a:srgbClr val="065A82"/>
          </a:solidFill>
        </p:spPr>
      </p:sp>
      <p:sp>
        <p:nvSpPr>
          <p:cNvPr id="5" name="Text 3"/>
          <p:cNvSpPr/>
          <p:nvPr/>
        </p:nvSpPr>
        <p:spPr>
          <a:xfrm>
            <a:off x="914400" y="1965960"/>
            <a:ext cx="47548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65A8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Internet Layer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14400" y="2560320"/>
            <a:ext cx="4754880" cy="1645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Provides logical addressing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Routes packets between networks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Determines best path for packets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914400" y="4434840"/>
            <a:ext cx="4663440" cy="0"/>
          </a:xfrm>
          <a:prstGeom prst="line">
            <a:avLst/>
          </a:prstGeom>
          <a:noFill/>
          <a:ln w="12700">
            <a:solidFill>
              <a:srgbClr val="E1E8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4572000"/>
            <a:ext cx="4663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A6B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Protocols / Tech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4892040"/>
            <a:ext cx="46634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IP, ICMP, ARP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17920" y="1737360"/>
            <a:ext cx="539496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0" y="1737360"/>
            <a:ext cx="109728" cy="4114800"/>
          </a:xfrm>
          <a:prstGeom prst="rect">
            <a:avLst/>
          </a:prstGeom>
          <a:solidFill>
            <a:srgbClr val="21295C"/>
          </a:solidFill>
        </p:spPr>
      </p:sp>
      <p:sp>
        <p:nvSpPr>
          <p:cNvPr id="12" name="Text 10"/>
          <p:cNvSpPr/>
          <p:nvPr/>
        </p:nvSpPr>
        <p:spPr>
          <a:xfrm>
            <a:off x="6583680" y="1965960"/>
            <a:ext cx="47548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Network Access (Link) Layer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583680" y="2560320"/>
            <a:ext cx="4754880" cy="1645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Sends/receives data over physical network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Uses MAC addresses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Converts packets into frames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583680" y="4434840"/>
            <a:ext cx="4663440" cy="0"/>
          </a:xfrm>
          <a:prstGeom prst="line">
            <a:avLst/>
          </a:prstGeom>
          <a:noFill/>
          <a:ln w="12700">
            <a:solidFill>
              <a:srgbClr val="E1E8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4572000"/>
            <a:ext cx="4663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A6B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Protocols / Tech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83680" y="4892040"/>
            <a:ext cx="46634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Ethernet, Wi-Fi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B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TCP/IP Model  •  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Encapsulation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515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FB3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Protocol headers are added to data as it moves down the stack for transmission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121408" cy="3291840"/>
          </a:xfrm>
          <a:prstGeom prst="rect">
            <a:avLst/>
          </a:prstGeom>
          <a:solidFill>
            <a:srgbClr val="065A82">
              <a:alpha val="90000"/>
            </a:srgbClr>
          </a:solidFill>
        </p:spPr>
      </p:sp>
      <p:sp>
        <p:nvSpPr>
          <p:cNvPr id="5" name="Text 3"/>
          <p:cNvSpPr/>
          <p:nvPr/>
        </p:nvSpPr>
        <p:spPr>
          <a:xfrm>
            <a:off x="685800" y="2194560"/>
            <a:ext cx="1847088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Application Layer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85800" y="3200400"/>
            <a:ext cx="1847088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FCBC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Data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" y="4297680"/>
            <a:ext cx="1847088" cy="822960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050" dirty="0">
                <a:solidFill>
                  <a:srgbClr val="C7D6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Application creates the data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670048" y="3383280"/>
            <a:ext cx="128016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FCBC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➔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779776" y="2011680"/>
            <a:ext cx="2121408" cy="3291840"/>
          </a:xfrm>
          <a:prstGeom prst="rect">
            <a:avLst/>
          </a:prstGeom>
          <a:solidFill>
            <a:srgbClr val="065A82">
              <a:alpha val="90000"/>
            </a:srgbClr>
          </a:solidFill>
        </p:spPr>
      </p:sp>
      <p:sp>
        <p:nvSpPr>
          <p:cNvPr id="10" name="Text 8"/>
          <p:cNvSpPr/>
          <p:nvPr/>
        </p:nvSpPr>
        <p:spPr>
          <a:xfrm>
            <a:off x="2916936" y="2194560"/>
            <a:ext cx="1847088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Transport Layer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916936" y="3200400"/>
            <a:ext cx="1847088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FCBC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Segment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916936" y="4297680"/>
            <a:ext cx="1847088" cy="822960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050" dirty="0">
                <a:solidFill>
                  <a:srgbClr val="C7D6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TCP/UDP header added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901184" y="3383280"/>
            <a:ext cx="128016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FCBC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➔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10912" y="2011680"/>
            <a:ext cx="2121408" cy="3291840"/>
          </a:xfrm>
          <a:prstGeom prst="rect">
            <a:avLst/>
          </a:prstGeom>
          <a:solidFill>
            <a:srgbClr val="065A82">
              <a:alpha val="90000"/>
            </a:srgbClr>
          </a:solidFill>
        </p:spPr>
      </p:sp>
      <p:sp>
        <p:nvSpPr>
          <p:cNvPr id="15" name="Text 13"/>
          <p:cNvSpPr/>
          <p:nvPr/>
        </p:nvSpPr>
        <p:spPr>
          <a:xfrm>
            <a:off x="5148072" y="2194560"/>
            <a:ext cx="1847088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Internet Layer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148072" y="3200400"/>
            <a:ext cx="1847088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FCBC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Packet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148072" y="4297680"/>
            <a:ext cx="1847088" cy="822960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050" dirty="0">
                <a:solidFill>
                  <a:srgbClr val="C7D6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IP header added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132320" y="3383280"/>
            <a:ext cx="128016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FCBC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➔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242048" y="2011680"/>
            <a:ext cx="2121408" cy="3291840"/>
          </a:xfrm>
          <a:prstGeom prst="rect">
            <a:avLst/>
          </a:prstGeom>
          <a:solidFill>
            <a:srgbClr val="065A82">
              <a:alpha val="90000"/>
            </a:srgbClr>
          </a:solidFill>
        </p:spPr>
      </p:sp>
      <p:sp>
        <p:nvSpPr>
          <p:cNvPr id="20" name="Text 18"/>
          <p:cNvSpPr/>
          <p:nvPr/>
        </p:nvSpPr>
        <p:spPr>
          <a:xfrm>
            <a:off x="7379208" y="2194560"/>
            <a:ext cx="1847088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Network Access Layer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379208" y="3200400"/>
            <a:ext cx="1847088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FCBC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Frame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379208" y="4297680"/>
            <a:ext cx="1847088" cy="822960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050" dirty="0">
                <a:solidFill>
                  <a:srgbClr val="C7D6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MAC header + trailer added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363456" y="3383280"/>
            <a:ext cx="128016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FCBC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➔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9473184" y="2011680"/>
            <a:ext cx="2121408" cy="3291840"/>
          </a:xfrm>
          <a:prstGeom prst="rect">
            <a:avLst/>
          </a:prstGeom>
          <a:solidFill>
            <a:srgbClr val="5FCBC3"/>
          </a:solidFill>
        </p:spPr>
      </p:sp>
      <p:sp>
        <p:nvSpPr>
          <p:cNvPr id="25" name="Text 23"/>
          <p:cNvSpPr/>
          <p:nvPr/>
        </p:nvSpPr>
        <p:spPr>
          <a:xfrm>
            <a:off x="9610344" y="2194560"/>
            <a:ext cx="1847088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Physical Media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9610344" y="3200400"/>
            <a:ext cx="1847088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Bits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610344" y="4297680"/>
            <a:ext cx="1847088" cy="822960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05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Transmitted over the network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FB3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TCP/IP Model  •  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TCP vs UDP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5257800" cy="502920"/>
          </a:xfrm>
          <a:prstGeom prst="rect">
            <a:avLst/>
          </a:prstGeom>
          <a:solidFill>
            <a:srgbClr val="065A82"/>
          </a:solidFill>
        </p:spPr>
      </p:sp>
      <p:sp>
        <p:nvSpPr>
          <p:cNvPr id="4" name="Text 2"/>
          <p:cNvSpPr/>
          <p:nvPr/>
        </p:nvSpPr>
        <p:spPr>
          <a:xfrm>
            <a:off x="548640" y="1737360"/>
            <a:ext cx="52578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TCP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943600" y="1737360"/>
            <a:ext cx="5257800" cy="502920"/>
          </a:xfrm>
          <a:prstGeom prst="rect">
            <a:avLst/>
          </a:prstGeom>
          <a:solidFill>
            <a:srgbClr val="1C7293"/>
          </a:solidFill>
        </p:spPr>
      </p:sp>
      <p:sp>
        <p:nvSpPr>
          <p:cNvPr id="6" name="Text 4"/>
          <p:cNvSpPr/>
          <p:nvPr/>
        </p:nvSpPr>
        <p:spPr>
          <a:xfrm>
            <a:off x="5943600" y="1737360"/>
            <a:ext cx="52578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UDP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2313432"/>
            <a:ext cx="5257800" cy="56692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8" name="Text 6"/>
          <p:cNvSpPr/>
          <p:nvPr/>
        </p:nvSpPr>
        <p:spPr>
          <a:xfrm>
            <a:off x="777240" y="2313432"/>
            <a:ext cx="489204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Reliable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0" y="2313432"/>
            <a:ext cx="5257800" cy="56692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0" name="Text 8"/>
          <p:cNvSpPr/>
          <p:nvPr/>
        </p:nvSpPr>
        <p:spPr>
          <a:xfrm>
            <a:off x="6172200" y="2313432"/>
            <a:ext cx="489204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Unreliable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935224"/>
            <a:ext cx="5257800" cy="566928"/>
          </a:xfrm>
          <a:prstGeom prst="rect">
            <a:avLst/>
          </a:prstGeom>
          <a:solidFill>
            <a:srgbClr val="EAF1F4"/>
          </a:solidFill>
        </p:spPr>
      </p:sp>
      <p:sp>
        <p:nvSpPr>
          <p:cNvPr id="12" name="Text 10"/>
          <p:cNvSpPr/>
          <p:nvPr/>
        </p:nvSpPr>
        <p:spPr>
          <a:xfrm>
            <a:off x="777240" y="2935224"/>
            <a:ext cx="489204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Connection-oriented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943600" y="2935224"/>
            <a:ext cx="5257800" cy="566928"/>
          </a:xfrm>
          <a:prstGeom prst="rect">
            <a:avLst/>
          </a:prstGeom>
          <a:solidFill>
            <a:srgbClr val="EAF1F4"/>
          </a:solidFill>
        </p:spPr>
      </p:sp>
      <p:sp>
        <p:nvSpPr>
          <p:cNvPr id="14" name="Text 12"/>
          <p:cNvSpPr/>
          <p:nvPr/>
        </p:nvSpPr>
        <p:spPr>
          <a:xfrm>
            <a:off x="6172200" y="2935224"/>
            <a:ext cx="489204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Connectionless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557016"/>
            <a:ext cx="5257800" cy="56692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6" name="Text 14"/>
          <p:cNvSpPr/>
          <p:nvPr/>
        </p:nvSpPr>
        <p:spPr>
          <a:xfrm>
            <a:off x="777240" y="3557016"/>
            <a:ext cx="489204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Error checking &amp; recovery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943600" y="3557016"/>
            <a:ext cx="5257800" cy="56692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8" name="Text 16"/>
          <p:cNvSpPr/>
          <p:nvPr/>
        </p:nvSpPr>
        <p:spPr>
          <a:xfrm>
            <a:off x="6172200" y="3557016"/>
            <a:ext cx="489204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Minimal / no error recovery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4178808"/>
            <a:ext cx="5257800" cy="566928"/>
          </a:xfrm>
          <a:prstGeom prst="rect">
            <a:avLst/>
          </a:prstGeom>
          <a:solidFill>
            <a:srgbClr val="EAF1F4"/>
          </a:solidFill>
        </p:spPr>
      </p:sp>
      <p:sp>
        <p:nvSpPr>
          <p:cNvPr id="20" name="Text 18"/>
          <p:cNvSpPr/>
          <p:nvPr/>
        </p:nvSpPr>
        <p:spPr>
          <a:xfrm>
            <a:off x="777240" y="4178808"/>
            <a:ext cx="489204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Ordered delivery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0" y="4178808"/>
            <a:ext cx="5257800" cy="566928"/>
          </a:xfrm>
          <a:prstGeom prst="rect">
            <a:avLst/>
          </a:prstGeom>
          <a:solidFill>
            <a:srgbClr val="EAF1F4"/>
          </a:solidFill>
        </p:spPr>
      </p:sp>
      <p:sp>
        <p:nvSpPr>
          <p:cNvPr id="22" name="Text 20"/>
          <p:cNvSpPr/>
          <p:nvPr/>
        </p:nvSpPr>
        <p:spPr>
          <a:xfrm>
            <a:off x="6172200" y="4178808"/>
            <a:ext cx="489204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ordering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4800600"/>
            <a:ext cx="5257800" cy="56692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4" name="Text 22"/>
          <p:cNvSpPr/>
          <p:nvPr/>
        </p:nvSpPr>
        <p:spPr>
          <a:xfrm>
            <a:off x="777240" y="4800600"/>
            <a:ext cx="489204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Slower, more overhead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943600" y="4800600"/>
            <a:ext cx="5257800" cy="56692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6" name="Text 24"/>
          <p:cNvSpPr/>
          <p:nvPr/>
        </p:nvSpPr>
        <p:spPr>
          <a:xfrm>
            <a:off x="6172200" y="4800600"/>
            <a:ext cx="489204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Faster, less overhead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48640" y="5422392"/>
            <a:ext cx="5257800" cy="566928"/>
          </a:xfrm>
          <a:prstGeom prst="rect">
            <a:avLst/>
          </a:prstGeom>
          <a:solidFill>
            <a:srgbClr val="EAF1F4"/>
          </a:solidFill>
        </p:spPr>
      </p:sp>
      <p:sp>
        <p:nvSpPr>
          <p:cNvPr id="28" name="Text 26"/>
          <p:cNvSpPr/>
          <p:nvPr/>
        </p:nvSpPr>
        <p:spPr>
          <a:xfrm>
            <a:off x="777240" y="5422392"/>
            <a:ext cx="489204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HTTP, HTTPS, FTP, Email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943600" y="5422392"/>
            <a:ext cx="5257800" cy="566928"/>
          </a:xfrm>
          <a:prstGeom prst="rect">
            <a:avLst/>
          </a:prstGeom>
          <a:solidFill>
            <a:srgbClr val="EAF1F4"/>
          </a:solidFill>
        </p:spPr>
      </p:sp>
      <p:sp>
        <p:nvSpPr>
          <p:cNvPr id="30" name="Text 28"/>
          <p:cNvSpPr/>
          <p:nvPr/>
        </p:nvSpPr>
        <p:spPr>
          <a:xfrm>
            <a:off x="6172200" y="5422392"/>
            <a:ext cx="489204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Streaming, Gaming, VoIP, DNS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B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TCP/IP Model  •  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TCP 3-Way Handshake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515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B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a TCP connection is established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2194560"/>
            <a:ext cx="2011680" cy="640080"/>
          </a:xfrm>
          <a:prstGeom prst="rect">
            <a:avLst/>
          </a:prstGeom>
          <a:solidFill>
            <a:srgbClr val="21295C"/>
          </a:solidFill>
        </p:spPr>
      </p:sp>
      <p:sp>
        <p:nvSpPr>
          <p:cNvPr id="5" name="Text 3"/>
          <p:cNvSpPr/>
          <p:nvPr/>
        </p:nvSpPr>
        <p:spPr>
          <a:xfrm>
            <a:off x="822960" y="2194560"/>
            <a:ext cx="20116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Client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326880" y="2194560"/>
            <a:ext cx="2011680" cy="640080"/>
          </a:xfrm>
          <a:prstGeom prst="rect">
            <a:avLst/>
          </a:prstGeom>
          <a:solidFill>
            <a:srgbClr val="21295C"/>
          </a:solidFill>
        </p:spPr>
      </p:sp>
      <p:sp>
        <p:nvSpPr>
          <p:cNvPr id="7" name="Text 5"/>
          <p:cNvSpPr/>
          <p:nvPr/>
        </p:nvSpPr>
        <p:spPr>
          <a:xfrm>
            <a:off x="9326880" y="2194560"/>
            <a:ext cx="20116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Server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463040" y="2194560"/>
            <a:ext cx="0" cy="3840480"/>
          </a:xfrm>
          <a:prstGeom prst="line">
            <a:avLst/>
          </a:prstGeom>
          <a:noFill/>
          <a:ln w="12700">
            <a:solidFill>
              <a:srgbClr val="B9C6D6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10241280" y="2194560"/>
            <a:ext cx="0" cy="3840480"/>
          </a:xfrm>
          <a:prstGeom prst="line">
            <a:avLst/>
          </a:prstGeom>
          <a:noFill/>
          <a:ln w="12700">
            <a:solidFill>
              <a:srgbClr val="B9C6D6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1463040" y="2880360"/>
            <a:ext cx="8778240" cy="0"/>
          </a:xfrm>
          <a:prstGeom prst="line">
            <a:avLst/>
          </a:prstGeom>
          <a:noFill/>
          <a:ln w="31750">
            <a:solidFill>
              <a:srgbClr val="065A82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1737360" y="2496312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5A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 SYN → Client sends request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463040" y="3611880"/>
            <a:ext cx="8778240" cy="0"/>
          </a:xfrm>
          <a:prstGeom prst="line">
            <a:avLst/>
          </a:prstGeom>
          <a:noFill/>
          <a:ln w="31750">
            <a:solidFill>
              <a:srgbClr val="1C7293"/>
            </a:solidFill>
            <a:prstDash val="solid"/>
            <a:headEnd type="triangle"/>
            <a:tailEnd type="none"/>
          </a:ln>
        </p:spPr>
      </p:sp>
      <p:sp>
        <p:nvSpPr>
          <p:cNvPr id="13" name="Text 11"/>
          <p:cNvSpPr/>
          <p:nvPr/>
        </p:nvSpPr>
        <p:spPr>
          <a:xfrm>
            <a:off x="1737360" y="3227832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 SYN-ACK → Server acknowledges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463040" y="4343400"/>
            <a:ext cx="8778240" cy="0"/>
          </a:xfrm>
          <a:prstGeom prst="line">
            <a:avLst/>
          </a:prstGeom>
          <a:noFill/>
          <a:ln w="31750">
            <a:solidFill>
              <a:srgbClr val="065A82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1737360" y="3959352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5A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 ACK → Client confirms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480560" y="5349240"/>
            <a:ext cx="3200400" cy="548640"/>
          </a:xfrm>
          <a:prstGeom prst="roundRect">
            <a:avLst>
              <a:gd name="adj" fmla="val 16667"/>
            </a:avLst>
          </a:prstGeom>
          <a:solidFill>
            <a:srgbClr val="5FCBC3"/>
          </a:solidFill>
        </p:spPr>
      </p:sp>
      <p:sp>
        <p:nvSpPr>
          <p:cNvPr id="17" name="Text 15"/>
          <p:cNvSpPr/>
          <p:nvPr/>
        </p:nvSpPr>
        <p:spPr>
          <a:xfrm>
            <a:off x="4480560" y="5349240"/>
            <a:ext cx="32004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Connection Established ✅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B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TCP/IP Model  •  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TCP/IP vs OSI Model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783080"/>
            <a:ext cx="5257800" cy="502920"/>
          </a:xfrm>
          <a:prstGeom prst="rect">
            <a:avLst/>
          </a:prstGeom>
          <a:solidFill>
            <a:srgbClr val="21295C"/>
          </a:solidFill>
        </p:spPr>
      </p:sp>
      <p:sp>
        <p:nvSpPr>
          <p:cNvPr id="4" name="Text 2"/>
          <p:cNvSpPr/>
          <p:nvPr/>
        </p:nvSpPr>
        <p:spPr>
          <a:xfrm>
            <a:off x="548640" y="1783080"/>
            <a:ext cx="52578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OSI Model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943600" y="1783080"/>
            <a:ext cx="5257800" cy="502920"/>
          </a:xfrm>
          <a:prstGeom prst="rect">
            <a:avLst/>
          </a:prstGeom>
          <a:solidFill>
            <a:srgbClr val="065A82"/>
          </a:solidFill>
        </p:spPr>
      </p:sp>
      <p:sp>
        <p:nvSpPr>
          <p:cNvPr id="6" name="Text 4"/>
          <p:cNvSpPr/>
          <p:nvPr/>
        </p:nvSpPr>
        <p:spPr>
          <a:xfrm>
            <a:off x="5943600" y="1783080"/>
            <a:ext cx="52578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TCP/IP Model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377440"/>
            <a:ext cx="5257800" cy="6858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8" name="Text 6"/>
          <p:cNvSpPr/>
          <p:nvPr/>
        </p:nvSpPr>
        <p:spPr>
          <a:xfrm>
            <a:off x="777240" y="2377440"/>
            <a:ext cx="48920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 Layers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0" y="2377440"/>
            <a:ext cx="5257800" cy="6858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0" name="Text 8"/>
          <p:cNvSpPr/>
          <p:nvPr/>
        </p:nvSpPr>
        <p:spPr>
          <a:xfrm>
            <a:off x="6172200" y="2377440"/>
            <a:ext cx="48920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 Layers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136392"/>
            <a:ext cx="5257800" cy="685800"/>
          </a:xfrm>
          <a:prstGeom prst="rect">
            <a:avLst/>
          </a:prstGeom>
          <a:solidFill>
            <a:srgbClr val="EAF1F4"/>
          </a:solidFill>
        </p:spPr>
      </p:sp>
      <p:sp>
        <p:nvSpPr>
          <p:cNvPr id="12" name="Text 10"/>
          <p:cNvSpPr/>
          <p:nvPr/>
        </p:nvSpPr>
        <p:spPr>
          <a:xfrm>
            <a:off x="777240" y="3136392"/>
            <a:ext cx="48920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Reference model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943600" y="3136392"/>
            <a:ext cx="5257800" cy="685800"/>
          </a:xfrm>
          <a:prstGeom prst="rect">
            <a:avLst/>
          </a:prstGeom>
          <a:solidFill>
            <a:srgbClr val="EAF1F4"/>
          </a:solidFill>
        </p:spPr>
      </p:sp>
      <p:sp>
        <p:nvSpPr>
          <p:cNvPr id="14" name="Text 12"/>
          <p:cNvSpPr/>
          <p:nvPr/>
        </p:nvSpPr>
        <p:spPr>
          <a:xfrm>
            <a:off x="6172200" y="3136392"/>
            <a:ext cx="48920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Practical model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895344"/>
            <a:ext cx="5257800" cy="6858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6" name="Text 14"/>
          <p:cNvSpPr/>
          <p:nvPr/>
        </p:nvSpPr>
        <p:spPr>
          <a:xfrm>
            <a:off x="777240" y="3895344"/>
            <a:ext cx="48920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Mostly used for learning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943600" y="3895344"/>
            <a:ext cx="5257800" cy="6858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8" name="Text 16"/>
          <p:cNvSpPr/>
          <p:nvPr/>
        </p:nvSpPr>
        <p:spPr>
          <a:xfrm>
            <a:off x="6172200" y="3895344"/>
            <a:ext cx="48920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Used on the Internet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4654296"/>
            <a:ext cx="5257800" cy="685800"/>
          </a:xfrm>
          <a:prstGeom prst="rect">
            <a:avLst/>
          </a:prstGeom>
          <a:solidFill>
            <a:srgbClr val="EAF1F4"/>
          </a:solidFill>
        </p:spPr>
      </p:sp>
      <p:sp>
        <p:nvSpPr>
          <p:cNvPr id="20" name="Text 18"/>
          <p:cNvSpPr/>
          <p:nvPr/>
        </p:nvSpPr>
        <p:spPr>
          <a:xfrm>
            <a:off x="777240" y="4654296"/>
            <a:ext cx="48920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Developed by ISO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943600" y="4654296"/>
            <a:ext cx="5257800" cy="685800"/>
          </a:xfrm>
          <a:prstGeom prst="rect">
            <a:avLst/>
          </a:prstGeom>
          <a:solidFill>
            <a:srgbClr val="EAF1F4"/>
          </a:solidFill>
        </p:spPr>
      </p:sp>
      <p:sp>
        <p:nvSpPr>
          <p:cNvPr id="22" name="Text 20"/>
          <p:cNvSpPr/>
          <p:nvPr/>
        </p:nvSpPr>
        <p:spPr>
          <a:xfrm>
            <a:off x="6172200" y="4654296"/>
            <a:ext cx="48920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Developed by DARPA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B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TCP/IP Model  •  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OSI to TCP/IP Mapping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280160" y="1737360"/>
            <a:ext cx="384048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80160" y="1737360"/>
            <a:ext cx="3840480" cy="4937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Application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212080" y="1737360"/>
            <a:ext cx="548640" cy="4937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A6B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➔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852160" y="1737360"/>
            <a:ext cx="4846320" cy="493776"/>
          </a:xfrm>
          <a:prstGeom prst="rect">
            <a:avLst/>
          </a:prstGeom>
          <a:solidFill>
            <a:srgbClr val="065A82"/>
          </a:solidFill>
        </p:spPr>
      </p:sp>
      <p:sp>
        <p:nvSpPr>
          <p:cNvPr id="7" name="Text 5"/>
          <p:cNvSpPr/>
          <p:nvPr/>
        </p:nvSpPr>
        <p:spPr>
          <a:xfrm>
            <a:off x="5852160" y="1737360"/>
            <a:ext cx="4846320" cy="4937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Application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280160" y="2304288"/>
            <a:ext cx="384048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80160" y="2304288"/>
            <a:ext cx="3840480" cy="4937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Presentation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212080" y="2304288"/>
            <a:ext cx="548640" cy="4937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A6B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➔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852160" y="2304288"/>
            <a:ext cx="4846320" cy="493776"/>
          </a:xfrm>
          <a:prstGeom prst="rect">
            <a:avLst/>
          </a:prstGeom>
          <a:solidFill>
            <a:srgbClr val="065A82"/>
          </a:solidFill>
        </p:spPr>
      </p:sp>
      <p:sp>
        <p:nvSpPr>
          <p:cNvPr id="12" name="Text 10"/>
          <p:cNvSpPr/>
          <p:nvPr/>
        </p:nvSpPr>
        <p:spPr>
          <a:xfrm>
            <a:off x="5852160" y="2304288"/>
            <a:ext cx="4846320" cy="4937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Application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280160" y="2871216"/>
            <a:ext cx="384048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80160" y="2871216"/>
            <a:ext cx="3840480" cy="4937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Session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212080" y="2871216"/>
            <a:ext cx="548640" cy="4937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A6B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➔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852160" y="2871216"/>
            <a:ext cx="4846320" cy="493776"/>
          </a:xfrm>
          <a:prstGeom prst="rect">
            <a:avLst/>
          </a:prstGeom>
          <a:solidFill>
            <a:srgbClr val="065A82"/>
          </a:solidFill>
        </p:spPr>
      </p:sp>
      <p:sp>
        <p:nvSpPr>
          <p:cNvPr id="17" name="Text 15"/>
          <p:cNvSpPr/>
          <p:nvPr/>
        </p:nvSpPr>
        <p:spPr>
          <a:xfrm>
            <a:off x="5852160" y="2871216"/>
            <a:ext cx="4846320" cy="4937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Application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280160" y="3438144"/>
            <a:ext cx="384048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80160" y="3438144"/>
            <a:ext cx="3840480" cy="4937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Transport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212080" y="3438144"/>
            <a:ext cx="548640" cy="4937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A6B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➔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852160" y="3438144"/>
            <a:ext cx="4846320" cy="493776"/>
          </a:xfrm>
          <a:prstGeom prst="rect">
            <a:avLst/>
          </a:prstGeom>
          <a:solidFill>
            <a:srgbClr val="1C7293"/>
          </a:solidFill>
        </p:spPr>
      </p:sp>
      <p:sp>
        <p:nvSpPr>
          <p:cNvPr id="22" name="Text 20"/>
          <p:cNvSpPr/>
          <p:nvPr/>
        </p:nvSpPr>
        <p:spPr>
          <a:xfrm>
            <a:off x="5852160" y="3438144"/>
            <a:ext cx="4846320" cy="4937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Transport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1280160" y="4005072"/>
            <a:ext cx="384048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80160" y="4005072"/>
            <a:ext cx="3840480" cy="4937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Network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212080" y="4005072"/>
            <a:ext cx="548640" cy="4937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A6B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➔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852160" y="4005072"/>
            <a:ext cx="4846320" cy="493776"/>
          </a:xfrm>
          <a:prstGeom prst="rect">
            <a:avLst/>
          </a:prstGeom>
          <a:solidFill>
            <a:srgbClr val="2E7D8C"/>
          </a:solidFill>
        </p:spPr>
      </p:sp>
      <p:sp>
        <p:nvSpPr>
          <p:cNvPr id="27" name="Text 25"/>
          <p:cNvSpPr/>
          <p:nvPr/>
        </p:nvSpPr>
        <p:spPr>
          <a:xfrm>
            <a:off x="5852160" y="4005072"/>
            <a:ext cx="4846320" cy="4937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Internet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1280160" y="4572000"/>
            <a:ext cx="384048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280160" y="4572000"/>
            <a:ext cx="3840480" cy="4937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Link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212080" y="4572000"/>
            <a:ext cx="548640" cy="4937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A6B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➔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5852160" y="4572000"/>
            <a:ext cx="4846320" cy="493776"/>
          </a:xfrm>
          <a:prstGeom prst="rect">
            <a:avLst/>
          </a:prstGeom>
          <a:solidFill>
            <a:srgbClr val="21295C"/>
          </a:solidFill>
        </p:spPr>
      </p:sp>
      <p:sp>
        <p:nvSpPr>
          <p:cNvPr id="32" name="Text 30"/>
          <p:cNvSpPr/>
          <p:nvPr/>
        </p:nvSpPr>
        <p:spPr>
          <a:xfrm>
            <a:off x="5852160" y="4572000"/>
            <a:ext cx="4846320" cy="4937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Network Access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1280160" y="5138928"/>
            <a:ext cx="384048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280160" y="5138928"/>
            <a:ext cx="3840480" cy="4937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Physical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212080" y="5138928"/>
            <a:ext cx="548640" cy="4937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A6B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➔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5852160" y="5138928"/>
            <a:ext cx="4846320" cy="493776"/>
          </a:xfrm>
          <a:prstGeom prst="rect">
            <a:avLst/>
          </a:prstGeom>
          <a:solidFill>
            <a:srgbClr val="21295C"/>
          </a:solidFill>
        </p:spPr>
      </p:sp>
      <p:sp>
        <p:nvSpPr>
          <p:cNvPr id="37" name="Text 35"/>
          <p:cNvSpPr/>
          <p:nvPr/>
        </p:nvSpPr>
        <p:spPr>
          <a:xfrm>
            <a:off x="5852160" y="5138928"/>
            <a:ext cx="4846320" cy="4937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Network Access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B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TCP/IP Model  •  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371600"/>
            <a:ext cx="4114800" cy="4114800"/>
          </a:xfrm>
          <a:prstGeom prst="ellipse">
            <a:avLst/>
          </a:prstGeom>
          <a:solidFill>
            <a:srgbClr val="065A82">
              <a:alpha val="45000"/>
            </a:srgbClr>
          </a:solidFill>
        </p:spPr>
      </p:sp>
      <p:sp>
        <p:nvSpPr>
          <p:cNvPr id="3" name="Text 1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FB3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One-line revision for quick recall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292608" cy="292608"/>
          </a:xfrm>
          <a:prstGeom prst="ellipse">
            <a:avLst/>
          </a:prstGeom>
          <a:solidFill>
            <a:srgbClr val="5FCBC3"/>
          </a:solidFill>
        </p:spPr>
      </p:sp>
      <p:sp>
        <p:nvSpPr>
          <p:cNvPr id="6" name="Text 4"/>
          <p:cNvSpPr/>
          <p:nvPr/>
        </p:nvSpPr>
        <p:spPr>
          <a:xfrm>
            <a:off x="548640" y="1783080"/>
            <a:ext cx="292608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1737360"/>
            <a:ext cx="10515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7EE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TCP/IP = Internet communication model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423160"/>
            <a:ext cx="292608" cy="292608"/>
          </a:xfrm>
          <a:prstGeom prst="ellipse">
            <a:avLst/>
          </a:prstGeom>
          <a:solidFill>
            <a:srgbClr val="5FCBC3"/>
          </a:solidFill>
        </p:spPr>
      </p:sp>
      <p:sp>
        <p:nvSpPr>
          <p:cNvPr id="9" name="Text 7"/>
          <p:cNvSpPr/>
          <p:nvPr/>
        </p:nvSpPr>
        <p:spPr>
          <a:xfrm>
            <a:off x="548640" y="2423160"/>
            <a:ext cx="292608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5840" y="2377440"/>
            <a:ext cx="10515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7EE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 Layers: Application → Transport → Internet → Network Access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3063240"/>
            <a:ext cx="292608" cy="292608"/>
          </a:xfrm>
          <a:prstGeom prst="ellipse">
            <a:avLst/>
          </a:prstGeom>
          <a:solidFill>
            <a:srgbClr val="5FCBC3"/>
          </a:solidFill>
        </p:spPr>
      </p:sp>
      <p:sp>
        <p:nvSpPr>
          <p:cNvPr id="12" name="Text 10"/>
          <p:cNvSpPr/>
          <p:nvPr/>
        </p:nvSpPr>
        <p:spPr>
          <a:xfrm>
            <a:off x="548640" y="3063240"/>
            <a:ext cx="292608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05840" y="3017520"/>
            <a:ext cx="10515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7EE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TCP = Reliable, Connection-oriented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3703320"/>
            <a:ext cx="292608" cy="292608"/>
          </a:xfrm>
          <a:prstGeom prst="ellipse">
            <a:avLst/>
          </a:prstGeom>
          <a:solidFill>
            <a:srgbClr val="5FCBC3"/>
          </a:solidFill>
        </p:spPr>
      </p:sp>
      <p:sp>
        <p:nvSpPr>
          <p:cNvPr id="15" name="Text 13"/>
          <p:cNvSpPr/>
          <p:nvPr/>
        </p:nvSpPr>
        <p:spPr>
          <a:xfrm>
            <a:off x="548640" y="3703320"/>
            <a:ext cx="292608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05840" y="3657600"/>
            <a:ext cx="10515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7EE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UDP = Fast, Connectionless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4343400"/>
            <a:ext cx="292608" cy="292608"/>
          </a:xfrm>
          <a:prstGeom prst="ellipse">
            <a:avLst/>
          </a:prstGeom>
          <a:solidFill>
            <a:srgbClr val="5FCBC3"/>
          </a:solidFill>
        </p:spPr>
      </p:sp>
      <p:sp>
        <p:nvSpPr>
          <p:cNvPr id="18" name="Text 16"/>
          <p:cNvSpPr/>
          <p:nvPr/>
        </p:nvSpPr>
        <p:spPr>
          <a:xfrm>
            <a:off x="548640" y="4343400"/>
            <a:ext cx="292608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05840" y="4297680"/>
            <a:ext cx="10515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7EE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Encapsulation = Data → Segment → Packet → Frame → Bits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48640" y="4983480"/>
            <a:ext cx="292608" cy="292608"/>
          </a:xfrm>
          <a:prstGeom prst="ellipse">
            <a:avLst/>
          </a:prstGeom>
          <a:solidFill>
            <a:srgbClr val="5FCBC3"/>
          </a:solidFill>
        </p:spPr>
      </p:sp>
      <p:sp>
        <p:nvSpPr>
          <p:cNvPr id="21" name="Text 19"/>
          <p:cNvSpPr/>
          <p:nvPr/>
        </p:nvSpPr>
        <p:spPr>
          <a:xfrm>
            <a:off x="548640" y="4983480"/>
            <a:ext cx="292608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05840" y="4937760"/>
            <a:ext cx="10515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7EE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Internet Layer = IP Address + Routing  |  Network Access Layer = MAC Address + Frame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FB3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TCP/IP Model  •  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3546</Words>
  <Application>WPS Presentation</Application>
  <PresentationFormat>On-screen Show (16:9)</PresentationFormat>
  <Paragraphs>351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4" baseType="lpstr">
      <vt:lpstr>Arial</vt:lpstr>
      <vt:lpstr>SimSun</vt:lpstr>
      <vt:lpstr>Wingdings</vt:lpstr>
      <vt:lpstr>Calibri</vt:lpstr>
      <vt:lpstr>Calibri</vt:lpstr>
      <vt:lpstr>Calibri</vt:lpstr>
      <vt:lpstr>Cambria</vt:lpstr>
      <vt:lpstr>Cambria</vt:lpstr>
      <vt:lpstr>Cambria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hamida majeed</cp:lastModifiedBy>
  <cp:revision>2</cp:revision>
  <dcterms:created xsi:type="dcterms:W3CDTF">2026-07-27T14:47:00Z</dcterms:created>
  <dcterms:modified xsi:type="dcterms:W3CDTF">2026-07-27T09:22:51Z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8F35FA9F9DD8432FB065E68CE9C6821A_13</vt:lpwstr>
  </property>
  <property fmtid="{D5CDD505-2E9C-101B-9397-08002B2CF9AE}" pid="3" name="KSOProductBuildVer">
    <vt:lpwstr>2057-12.2.0.23206</vt:lpwstr>
  </property>
</Properties>
</file>