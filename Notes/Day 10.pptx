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Text 1"/>
          <p:cNvSpPr/>
          <p:nvPr/>
        </p:nvSpPr>
        <p:spPr>
          <a:xfrm>
            <a:off x="822960" y="1371600"/>
            <a:ext cx="1371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📘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Subnetting &amp; CIDR Notes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Beginner-friendly notes — one of the most important networking topics for a SOC Analyst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2860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Subnetting?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Subnetting is the process of dividing one large network into multiple smaller networks called subnets.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do we use Subnetting?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</p:spPr>
      </p:sp>
      <p:sp>
        <p:nvSpPr>
          <p:cNvPr id="7" name="Text 5"/>
          <p:cNvSpPr/>
          <p:nvPr/>
        </p:nvSpPr>
        <p:spPr>
          <a:xfrm>
            <a:off x="685800" y="260604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network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26060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355080" y="260604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broadcast traffic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85800" y="329184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security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</p:spPr>
      </p:sp>
      <p:sp>
        <p:nvSpPr>
          <p:cNvPr id="13" name="Text 11"/>
          <p:cNvSpPr/>
          <p:nvPr/>
        </p:nvSpPr>
        <p:spPr>
          <a:xfrm>
            <a:off x="6355080" y="329184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Easier network management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</p:spPr>
      </p:sp>
      <p:sp>
        <p:nvSpPr>
          <p:cNvPr id="15" name="Text 13"/>
          <p:cNvSpPr/>
          <p:nvPr/>
        </p:nvSpPr>
        <p:spPr>
          <a:xfrm>
            <a:off x="685800" y="397764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use of IP addresses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Subnetting in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Subnetting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16294A"/>
          </a:solidFill>
        </p:spPr>
      </p:sp>
      <p:sp>
        <p:nvSpPr>
          <p:cNvPr id="6" name="Text 4"/>
          <p:cNvSpPr/>
          <p:nvPr/>
        </p:nvSpPr>
        <p:spPr>
          <a:xfrm>
            <a:off x="731520" y="18745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192.168.1.0/24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4754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network with 256 IP addresses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Subnetting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6294A"/>
          </a:solidFill>
        </p:spPr>
      </p:sp>
      <p:sp>
        <p:nvSpPr>
          <p:cNvPr id="10" name="Text 8"/>
          <p:cNvSpPr/>
          <p:nvPr/>
        </p:nvSpPr>
        <p:spPr>
          <a:xfrm>
            <a:off x="6309360" y="173736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192.168.1.0/26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52560" y="17373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6294A"/>
          </a:solidFill>
        </p:spPr>
      </p:sp>
      <p:sp>
        <p:nvSpPr>
          <p:cNvPr id="12" name="Text 10"/>
          <p:cNvSpPr/>
          <p:nvPr/>
        </p:nvSpPr>
        <p:spPr>
          <a:xfrm>
            <a:off x="9052560" y="173736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192.168.1.64/26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6294A"/>
          </a:solidFill>
        </p:spPr>
      </p:sp>
      <p:sp>
        <p:nvSpPr>
          <p:cNvPr id="14" name="Text 12"/>
          <p:cNvSpPr/>
          <p:nvPr/>
        </p:nvSpPr>
        <p:spPr>
          <a:xfrm>
            <a:off x="6309360" y="2514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192.168.1.128/26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25146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6294A"/>
          </a:solidFill>
        </p:spPr>
      </p:sp>
      <p:sp>
        <p:nvSpPr>
          <p:cNvPr id="16" name="Text 14"/>
          <p:cNvSpPr/>
          <p:nvPr/>
        </p:nvSpPr>
        <p:spPr>
          <a:xfrm>
            <a:off x="9052560" y="251460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192.168.1.192/26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3375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there are 4 smaller networks.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CIDR?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CIDR stands for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Classless Inter-Domain Routing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CIDR uses slash notation instead of only subnet masks.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16294A"/>
          </a:solidFill>
        </p:spPr>
      </p:sp>
      <p:sp>
        <p:nvSpPr>
          <p:cNvPr id="8" name="Text 6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192.168.1.0/24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Here /24 means:
</a:t>
            </a:r>
            <a:r>
              <a:rPr lang="en-US" sz="13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bits are Network bits
</a:t>
            </a:r>
            <a:r>
              <a:rPr lang="en-US" sz="13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bits are Host bits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CIDR 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16294A"/>
          </a:solidFill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192.168.1.0/24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Breakdown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= 24 bits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24231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= 8 bits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Since 32 − 24 = 8, there are 8 host bits.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Address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IPv4 contains 32 bits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6294A"/>
          </a:solidFill>
        </p:spPr>
      </p:sp>
      <p:sp>
        <p:nvSpPr>
          <p:cNvPr id="6" name="Text 4"/>
          <p:cNvSpPr/>
          <p:nvPr/>
        </p:nvSpPr>
        <p:spPr>
          <a:xfrm>
            <a:off x="457200" y="192024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11111111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3337560" y="192024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11111111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2880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6294A"/>
          </a:solidFill>
        </p:spPr>
      </p:sp>
      <p:sp>
        <p:nvSpPr>
          <p:cNvPr id="12" name="Text 10"/>
          <p:cNvSpPr/>
          <p:nvPr/>
        </p:nvSpPr>
        <p:spPr>
          <a:xfrm>
            <a:off x="6217920" y="192024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11111111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2880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920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6294A"/>
          </a:solidFill>
        </p:spPr>
      </p:sp>
      <p:sp>
        <p:nvSpPr>
          <p:cNvPr id="15" name="Text 13"/>
          <p:cNvSpPr/>
          <p:nvPr/>
        </p:nvSpPr>
        <p:spPr>
          <a:xfrm>
            <a:off x="9098280" y="192024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00000000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98280" y="28803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block contains 8 bits   →   8 + 8 + 8 + 8 = 32 bits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CIDR to Subnet Mask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280160"/>
          <a:ext cx="5394960" cy="2304288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CIDR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Subnet Mask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/8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255.0.0.0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/16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255.255.0.0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/24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255.255.255.0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/25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255.255.255.128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/26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255.255.255.192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6309360" y="1280160"/>
          <a:ext cx="5394960" cy="2688336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CIDR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Subnet Mask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/27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255.255.255.224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/28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255.255.255.240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/29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255.255.255.248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/30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255.255.255.252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/31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255.255.255.254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/32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255.255.255.255</a:t>
                      </a:r>
                      <a:endParaRPr lang="en-US" sz="14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Hosts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6294A"/>
          </a:solidFill>
        </p:spPr>
      </p:sp>
      <p:sp>
        <p:nvSpPr>
          <p:cNvPr id="5" name="Text 3"/>
          <p:cNvSpPr/>
          <p:nvPr/>
        </p:nvSpPr>
        <p:spPr>
          <a:xfrm>
            <a:off x="457200" y="1280160"/>
            <a:ext cx="51206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Hosts = 2^(Host Bits) − 2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52160" y="13258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minus 2?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1737360"/>
            <a:ext cx="5486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One IP = Network Address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One IP = Broadcast Address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cannot be assigned to devices.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294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192.168.1.0/24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32 − 24 = 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2^8 − 2 = 254 hosts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33672" y="29260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294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30632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16552" y="33832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/25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16552" y="37947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bits = 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16552" y="42062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2^7 − 2 = 126 Hosts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10144" y="29260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294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30632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93024" y="33832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/26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93024" y="37947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bits =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93024" y="42062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2^6 − 2 = 62 Hosts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CIDR Values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346704" y="1280160"/>
          <a:ext cx="54864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CIDR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Hosts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/24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254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/25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126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/26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62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/27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30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/28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14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/29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/30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</a:t>
                      </a:r>
                      <a:endParaRPr lang="en-US" sz="16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&amp; Broadcast Address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6294A"/>
          </a:solidFill>
        </p:spPr>
      </p:sp>
      <p:sp>
        <p:nvSpPr>
          <p:cNvPr id="5" name="Text 3"/>
          <p:cNvSpPr/>
          <p:nvPr/>
        </p:nvSpPr>
        <p:spPr>
          <a:xfrm>
            <a:off x="731520" y="14173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Address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IP in a subnet.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192.168.1.0/24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be assigned to a device.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Broadcast Address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last IP in the subnet.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192.168.1.0/24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192.168.1.255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be assigned to a device.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Usable Host Range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192.168.1.0/24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6294A"/>
          </a:solidFill>
        </p:spPr>
      </p:sp>
      <p:sp>
        <p:nvSpPr>
          <p:cNvPr id="6" name="Text 4"/>
          <p:cNvSpPr/>
          <p:nvPr/>
        </p:nvSpPr>
        <p:spPr>
          <a:xfrm>
            <a:off x="457200" y="19659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2294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659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Host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2294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9659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 Host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37744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192.168.1.254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6294A"/>
          </a:solidFill>
        </p:spPr>
      </p:sp>
      <p:sp>
        <p:nvSpPr>
          <p:cNvPr id="15" name="Text 13"/>
          <p:cNvSpPr/>
          <p:nvPr/>
        </p:nvSpPr>
        <p:spPr>
          <a:xfrm>
            <a:off x="8961120" y="19659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Broadcast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0" y="237744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192.168.1.255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of /26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 Mask: 255.255.255.192          Block Size: 64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737360"/>
          <a:ext cx="11247120" cy="25146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First Host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Last Host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Broadcast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192.168.1.0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192.168.1.62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192.168.1.63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192.168.1.65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192.168.1.126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192.168.1.127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192.168.1.128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192.168.1.129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192.168.1.190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192.168.1.191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192.168.1.192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192.168.1.193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192.168.1.255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Size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16294A"/>
          </a:solidFill>
        </p:spPr>
      </p:sp>
      <p:sp>
        <p:nvSpPr>
          <p:cNvPr id="5" name="Text 3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 Size = 256 − Last Octet of Subnet Mask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12294D"/>
          </a:solidFill>
        </p:spPr>
      </p:sp>
      <p:sp>
        <p:nvSpPr>
          <p:cNvPr id="7" name="Text 5"/>
          <p:cNvSpPr/>
          <p:nvPr/>
        </p:nvSpPr>
        <p:spPr>
          <a:xfrm>
            <a:off x="731520" y="288036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255.255.255.192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256 − 192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274320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12294D"/>
          </a:solidFill>
        </p:spPr>
      </p:sp>
      <p:sp>
        <p:nvSpPr>
          <p:cNvPr id="11" name="Text 9"/>
          <p:cNvSpPr/>
          <p:nvPr/>
        </p:nvSpPr>
        <p:spPr>
          <a:xfrm>
            <a:off x="6355080" y="288036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255.255.255.224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329184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256 − 224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65760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of Common Subnet Masks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3346704" y="1280160"/>
          <a:ext cx="548640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Decimal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Binary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128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10000000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11000000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224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11100000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240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11110000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248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11111000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252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11111100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254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11111110</a:t>
                      </a:r>
                      <a:endParaRPr lang="en-US" sz="15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REAL-LIFE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Departmental Subnetting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company has 200 computers. Instead of putting all devices into one network (192.168.1.0/24), they divide them into departments.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94A"/>
          </a:solidFill>
        </p:spPr>
      </p:sp>
      <p:sp>
        <p:nvSpPr>
          <p:cNvPr id="6" name="Text 4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192.168.1.0/26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057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3291840" y="21945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192.168.1.64/26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94A"/>
          </a:solidFill>
        </p:spPr>
      </p:sp>
      <p:sp>
        <p:nvSpPr>
          <p:cNvPr id="12" name="Text 10"/>
          <p:cNvSpPr/>
          <p:nvPr/>
        </p:nvSpPr>
        <p:spPr>
          <a:xfrm>
            <a:off x="6126480" y="21945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0" y="260604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192.168.1.128/26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2057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94A"/>
          </a:solidFill>
        </p:spPr>
      </p:sp>
      <p:sp>
        <p:nvSpPr>
          <p:cNvPr id="15" name="Text 13"/>
          <p:cNvSpPr/>
          <p:nvPr/>
        </p:nvSpPr>
        <p:spPr>
          <a:xfrm>
            <a:off x="8961120" y="21945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0" y="260604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192.168.1.192/26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Less network congestion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931920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Better security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Easier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4480560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Better performance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 ANALYST PERSPECTIVE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SOC Analysts Use Subnetting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6294A"/>
          </a:solidFill>
        </p:spPr>
      </p:sp>
      <p:sp>
        <p:nvSpPr>
          <p:cNvPr id="5" name="Text 3"/>
          <p:cNvSpPr/>
          <p:nvPr/>
        </p:nvSpPr>
        <p:spPr>
          <a:xfrm>
            <a:off x="685800" y="13258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which subnet an attacker belongs 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325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6294A"/>
          </a:solidFill>
        </p:spPr>
      </p:sp>
      <p:sp>
        <p:nvSpPr>
          <p:cNvPr id="7" name="Text 5"/>
          <p:cNvSpPr/>
          <p:nvPr/>
        </p:nvSpPr>
        <p:spPr>
          <a:xfrm>
            <a:off x="6355080" y="13258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logs by network segment.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85800" y="22402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suspicious traffic between subnets.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2240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355080" y="22402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Investigate lateral movement inside a network.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6294A"/>
          </a:solidFill>
        </p:spPr>
      </p:sp>
      <p:sp>
        <p:nvSpPr>
          <p:cNvPr id="13" name="Text 11"/>
          <p:cNvSpPr/>
          <p:nvPr/>
        </p:nvSpPr>
        <p:spPr>
          <a:xfrm>
            <a:off x="685800" y="31546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firewall rules to specific subnets.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6294A"/>
          </a:solidFill>
        </p:spPr>
      </p:sp>
      <p:sp>
        <p:nvSpPr>
          <p:cNvPr id="15" name="Text 13"/>
          <p:cNvSpPr/>
          <p:nvPr/>
        </p:nvSpPr>
        <p:spPr>
          <a:xfrm>
            <a:off x="6355080" y="31546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IP ranges during incident response.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Formulas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960120"/>
          </a:xfrm>
          <a:prstGeom prst="roundRect">
            <a:avLst>
              <a:gd name="adj" fmla="val 9524"/>
            </a:avLst>
          </a:prstGeom>
          <a:solidFill>
            <a:srgbClr val="1629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463040"/>
            <a:ext cx="9601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Host Bits = 32 − CIDR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0160" y="2697480"/>
            <a:ext cx="9601200" cy="960120"/>
          </a:xfrm>
          <a:prstGeom prst="roundRect">
            <a:avLst>
              <a:gd name="adj" fmla="val 9524"/>
            </a:avLst>
          </a:prstGeom>
          <a:solidFill>
            <a:srgbClr val="1629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697480"/>
            <a:ext cx="9601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Hosts = 2^(Host Bits) − 2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3931920"/>
            <a:ext cx="9601200" cy="960120"/>
          </a:xfrm>
          <a:prstGeom prst="roundRect">
            <a:avLst>
              <a:gd name="adj" fmla="val 9524"/>
            </a:avLst>
          </a:prstGeom>
          <a:solidFill>
            <a:srgbClr val="1629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931920"/>
            <a:ext cx="9601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 Size = 256 − Last Octet of Subnet Mask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Useful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6294A"/>
          </a:solidFill>
        </p:spPr>
      </p:sp>
      <p:sp>
        <p:nvSpPr>
          <p:cNvPr id="6" name="Text 4"/>
          <p:cNvSpPr/>
          <p:nvPr/>
        </p:nvSpPr>
        <p:spPr>
          <a:xfrm>
            <a:off x="685800" y="182880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IP Address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 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85800" y="28346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27248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 route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6294A"/>
          </a:solidFill>
        </p:spPr>
      </p:sp>
      <p:sp>
        <p:nvSpPr>
          <p:cNvPr id="12" name="Text 10"/>
          <p:cNvSpPr/>
          <p:nvPr/>
        </p:nvSpPr>
        <p:spPr>
          <a:xfrm>
            <a:off x="685800" y="38404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Interfaces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33088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 link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6294A"/>
          </a:solidFill>
        </p:spPr>
      </p:sp>
      <p:sp>
        <p:nvSpPr>
          <p:cNvPr id="16" name="Text 14"/>
          <p:cNvSpPr/>
          <p:nvPr/>
        </p:nvSpPr>
        <p:spPr>
          <a:xfrm>
            <a:off x="6537960" y="182880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IP Address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121408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ipconfig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6294A"/>
          </a:solidFill>
        </p:spPr>
      </p:sp>
      <p:sp>
        <p:nvSpPr>
          <p:cNvPr id="19" name="Text 17"/>
          <p:cNvSpPr/>
          <p:nvPr/>
        </p:nvSpPr>
        <p:spPr>
          <a:xfrm>
            <a:off x="6537960" y="28346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Network Information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127248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ipconfig /all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6294A"/>
          </a:solidFill>
        </p:spPr>
      </p:sp>
      <p:sp>
        <p:nvSpPr>
          <p:cNvPr id="22" name="Text 20"/>
          <p:cNvSpPr/>
          <p:nvPr/>
        </p:nvSpPr>
        <p:spPr>
          <a:xfrm>
            <a:off x="6537960" y="38404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133088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 print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Quick Revision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Subnetting divides one network into smaller subnets.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CIDR uses slash notation (e.g., /24, /26).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IPv4 has 32 bits.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Address = First IP.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Broadcast Address = Last IP.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Usable Hosts = 2^(Host Bits) − 2.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Size = 256 − Last Octet of Subnet Mask.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/24 = 254 hosts, /25 = 126, /26 = 62, /27 = 30.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 Analysts use subnetting to analyze traffic, segment networks, and investigate incidents.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1: /24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Network: 192.168.1.0/24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 Mask: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255.255.255.0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40080" y="2807208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Bits: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32 − 24 = 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40080" y="3465576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Hosts: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2^8 = 256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3" name="Text 11"/>
          <p:cNvSpPr/>
          <p:nvPr/>
        </p:nvSpPr>
        <p:spPr>
          <a:xfrm>
            <a:off x="640080" y="4123944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Usable Hosts: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256 − 2 = 254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6309360" y="1783080"/>
          <a:ext cx="5394960" cy="246888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Network Address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192.168.1.0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First Host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Last Host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192.168.1.254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Broadcast Address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Usable Hosts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254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2: /25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Network: 192.168.1.0/25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 Mask: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255.255.255.128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40080" y="2807208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Size: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256 − 128 = 128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40080" y="3465576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Bits: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32 − 25 = 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3" name="Text 11"/>
          <p:cNvSpPr/>
          <p:nvPr/>
        </p:nvSpPr>
        <p:spPr>
          <a:xfrm>
            <a:off x="640080" y="4123944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2^7 − 2 = 126 Hosts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6309360" y="1783080"/>
          <a:ext cx="5394960" cy="123444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First Host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Last Host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Broadcast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192.168.1.0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192.168.1.126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192.168.1.127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192.168.1.128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192.168.1.129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192.168.1.254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3: /26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Network: 192.168.1.0/26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 Mask: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255.255.255.192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40080" y="2807208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Size: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256 − 192 = 64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40080" y="3465576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Bits: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32 − 26 = 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3" name="Text 11"/>
          <p:cNvSpPr/>
          <p:nvPr/>
        </p:nvSpPr>
        <p:spPr>
          <a:xfrm>
            <a:off x="640080" y="4123944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2^6 − 2 = 62 Hosts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6309360" y="1783080"/>
          <a:ext cx="5394960" cy="20574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First Host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Last Host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Broadcast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192.168.1.0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192.168.1.62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192.168.1.63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192.168.1.64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192.168.1.126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192.168.1.127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192.168.1.128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192.168.1.129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192.168.1.190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192.168.1.191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192.168.1.192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192.168.1.193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192.168.1.254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4: /27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Network: 192.168.1.0/27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 Mask: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255.255.255.224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40080" y="2807208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Size: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256 − 224 = 32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40080" y="3465576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Bits: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32 − 27 =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3" name="Text 11"/>
          <p:cNvSpPr/>
          <p:nvPr/>
        </p:nvSpPr>
        <p:spPr>
          <a:xfrm>
            <a:off x="640080" y="4123944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2^5 − 2 = 30 Hosts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309360" y="1783080"/>
          <a:ext cx="5394960" cy="370332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Broadcast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192.168.1.0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192.168.1.31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192.168.1.32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192.168.1.63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192.168.1.64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192.168.1.95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192.168.1.96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192.168.1.127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192.168.1.128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192.168.1.159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192.168.1.160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192.168.1.191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192.168.1.192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192.168.1.223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192.168.1.224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192.168.1.255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5 (Interview Style)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Network: 10.0.0.0/26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7" name="Text 5"/>
          <p:cNvSpPr/>
          <p:nvPr/>
        </p:nvSpPr>
        <p:spPr>
          <a:xfrm>
            <a:off x="640080" y="2148840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CIDR: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9" name="Text 7"/>
          <p:cNvSpPr/>
          <p:nvPr/>
        </p:nvSpPr>
        <p:spPr>
          <a:xfrm>
            <a:off x="640080" y="2807208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 Mask: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255.255.255.192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1" name="Text 9"/>
          <p:cNvSpPr/>
          <p:nvPr/>
        </p:nvSpPr>
        <p:spPr>
          <a:xfrm>
            <a:off x="640080" y="3465576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Bits: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32 − 26 = 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3" name="Text 11"/>
          <p:cNvSpPr/>
          <p:nvPr/>
        </p:nvSpPr>
        <p:spPr>
          <a:xfrm>
            <a:off x="640080" y="4123944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2^6 − 2 = 62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82312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6294A"/>
          </a:solidFill>
        </p:spPr>
      </p:sp>
      <p:sp>
        <p:nvSpPr>
          <p:cNvPr id="15" name="Text 13"/>
          <p:cNvSpPr/>
          <p:nvPr/>
        </p:nvSpPr>
        <p:spPr>
          <a:xfrm>
            <a:off x="640080" y="4782312"/>
            <a:ext cx="5029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Size: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256 − 192 = 64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6309360" y="1783080"/>
          <a:ext cx="5394960" cy="246888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Network Address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10.0.0.0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First Host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10.0.0.1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Last Host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10.0.0.62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Broadcast Address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10.0.0.63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Usable Hosts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62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Trick to Remember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457200" y="1234440"/>
          <a:ext cx="11247120" cy="3072384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CIDR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Mask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 Size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Hosts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255.255.255.0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256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/25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255.255.255.128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128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126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/26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255.255.255.192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62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/27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255.255.255.224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32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30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/28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255.255.255.240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16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/29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255.255.255.248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8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9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/30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255.255.255.252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Tip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Size = 256 − Last Octet of the Subnet Mask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 = 2^(32 − CIDR) − 2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Address = First IP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Broadcast Address = Last IP</a:t>
            </a:r>
            <a:endParaRPr lang="en-US" sz="12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6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Usable Hosts = IPs between the Network and Broadcast addresses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10 — Subnetting &amp; CIDR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6743</Words>
  <Application>WPS Presentation</Application>
  <PresentationFormat>On-screen Show (16:9)</PresentationFormat>
  <Paragraphs>882</Paragraphs>
  <Slides>25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hamida majeed</cp:lastModifiedBy>
  <cp:revision>2</cp:revision>
  <dcterms:created xsi:type="dcterms:W3CDTF">2026-08-01T14:11:00Z</dcterms:created>
  <dcterms:modified xsi:type="dcterms:W3CDTF">2026-08-01T08:44:40Z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A88845A64E5A41B2A97533D641973E82_12</vt:lpwstr>
  </property>
  <property fmtid="{D5CDD505-2E9C-101B-9397-08002B2CF9AE}" pid="3" name="KSOProductBuildVer">
    <vt:lpwstr>2057-12.2.0.23206</vt:lpwstr>
  </property>
</Properties>
</file>