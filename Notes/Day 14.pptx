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23"/>
          </a:solidFill>
        </p:spPr>
      </p:sp>
      <p:sp>
        <p:nvSpPr>
          <p:cNvPr id="3" name="Shape 1"/>
          <p:cNvSpPr/>
          <p:nvPr/>
        </p:nvSpPr>
        <p:spPr>
          <a:xfrm>
            <a:off x="822960" y="82296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005840"/>
            <a:ext cx="146304" cy="146304"/>
          </a:xfrm>
          <a:prstGeom prst="ellipse">
            <a:avLst/>
          </a:prstGeom>
          <a:solidFill>
            <a:srgbClr val="E05753"/>
          </a:solidFill>
        </p:spPr>
      </p:sp>
      <p:sp>
        <p:nvSpPr>
          <p:cNvPr id="5" name="Shape 3"/>
          <p:cNvSpPr/>
          <p:nvPr/>
        </p:nvSpPr>
        <p:spPr>
          <a:xfrm>
            <a:off x="1252728" y="1005840"/>
            <a:ext cx="146304" cy="146304"/>
          </a:xfrm>
          <a:prstGeom prst="ellipse">
            <a:avLst/>
          </a:prstGeom>
          <a:solidFill>
            <a:srgbClr val="F2C744"/>
          </a:solidFill>
        </p:spPr>
      </p:sp>
      <p:sp>
        <p:nvSpPr>
          <p:cNvPr id="6" name="Shape 4"/>
          <p:cNvSpPr/>
          <p:nvPr/>
        </p:nvSpPr>
        <p:spPr>
          <a:xfrm>
            <a:off x="1545336" y="1005840"/>
            <a:ext cx="146304" cy="146304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7" name="Text 5"/>
          <p:cNvSpPr/>
          <p:nvPr/>
        </p:nvSpPr>
        <p:spPr>
          <a:xfrm>
            <a:off x="1600200" y="96012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whoami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5486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9601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Linux Processes, Services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&amp; Process Management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5CC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commands, concepts &amp; interview Q&amp;A for SOC Analyst prep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63840" y="219456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242316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PID   TTY    TIME   CMD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92440" y="278892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CCD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1001  pts/0  00:00  bash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92440" y="3136392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CCD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1234  pts/0  00:02  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92440" y="3483864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CCD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2456  pts/1  00:11  firefox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92440" y="3831336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CCD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3312  pts/1  00:04  sshd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92440" y="4178808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CCD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4410  pts/0  00:00  cron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PROCESSES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a Process?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7772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</a:t>
            </a:r>
            <a:r>
              <a:rPr lang="en-US" sz="1800" b="1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</a:t>
            </a:r>
            <a:r>
              <a:rPr lang="en-US" sz="18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is a program that is currently running in Linux.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706624"/>
            <a:ext cx="128016" cy="128016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7" name="Text 5"/>
          <p:cNvSpPr/>
          <p:nvPr/>
        </p:nvSpPr>
        <p:spPr>
          <a:xfrm>
            <a:off x="777240" y="2542032"/>
            <a:ext cx="7498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82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Firefox is open  →  </a:t>
            </a:r>
            <a:r>
              <a:rPr lang="en-US" sz="14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Firefox process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483864"/>
            <a:ext cx="128016" cy="128016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9" name="Text 7"/>
          <p:cNvSpPr/>
          <p:nvPr/>
        </p:nvSpPr>
        <p:spPr>
          <a:xfrm>
            <a:off x="777240" y="3319272"/>
            <a:ext cx="7498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82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VS Code is running  →  </a:t>
            </a:r>
            <a:r>
              <a:rPr lang="en-US" sz="14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 Code process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4261104"/>
            <a:ext cx="128016" cy="128016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11" name="Text 9"/>
          <p:cNvSpPr/>
          <p:nvPr/>
        </p:nvSpPr>
        <p:spPr>
          <a:xfrm>
            <a:off x="777240" y="4096512"/>
            <a:ext cx="7498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82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The ls command was executed  →  </a:t>
            </a:r>
            <a:r>
              <a:rPr lang="en-US" sz="14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temporary process was created and ended as soon as the command completed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0" y="2011680"/>
            <a:ext cx="2377440" cy="2377440"/>
          </a:xfrm>
          <a:prstGeom prst="ellipse">
            <a:avLst/>
          </a:prstGeom>
          <a:solidFill>
            <a:srgbClr val="1B1F23"/>
          </a:solidFill>
        </p:spPr>
      </p:sp>
      <p:sp>
        <p:nvSpPr>
          <p:cNvPr id="13" name="Text 11"/>
          <p:cNvSpPr/>
          <p:nvPr/>
        </p:nvSpPr>
        <p:spPr>
          <a:xfrm>
            <a:off x="9144000" y="278892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C7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PID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778240" y="4572000"/>
            <a:ext cx="31089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process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identified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a unique ID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PROCESSES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Process vs Program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828800"/>
          <a:ext cx="11247120" cy="2011680"/>
        </p:xfrm>
        <a:graphic>
          <a:graphicData uri="http://schemas.openxmlformats.org/drawingml/2006/table">
            <a:tbl>
              <a:tblPr/>
              <a:tblGrid>
                <a:gridCol w="5623560"/>
                <a:gridCol w="562356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Program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Process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File stored on disk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Running program in memory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 running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Currently executing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Example: firefox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Firefox browser open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PROCESSES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Important Terms — PID &amp; PPID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4F5F6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03120"/>
            <a:ext cx="502920" cy="502920"/>
          </a:xfrm>
          <a:prstGeom prst="ellipse">
            <a:avLst/>
          </a:prstGeom>
          <a:solidFill>
            <a:srgbClr val="1B1F23"/>
          </a:solidFill>
        </p:spPr>
      </p:sp>
      <p:sp>
        <p:nvSpPr>
          <p:cNvPr id="7" name="Text 5"/>
          <p:cNvSpPr/>
          <p:nvPr/>
        </p:nvSpPr>
        <p:spPr>
          <a:xfrm>
            <a:off x="731520" y="21031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2121408"/>
            <a:ext cx="4206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PID (Process ID)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4846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running process has a unique Process ID (PID).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4846320" cy="1463040"/>
          </a:xfrm>
          <a:prstGeom prst="roundRect">
            <a:avLst>
              <a:gd name="adj" fmla="val 3750"/>
            </a:avLst>
          </a:prstGeom>
          <a:solidFill>
            <a:srgbClr val="1B1F23"/>
          </a:solidFill>
        </p:spPr>
      </p:sp>
      <p:sp>
        <p:nvSpPr>
          <p:cNvPr id="11" name="Text 9"/>
          <p:cNvSpPr/>
          <p:nvPr/>
        </p:nvSpPr>
        <p:spPr>
          <a:xfrm>
            <a:off x="914400" y="3456432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749040"/>
            <a:ext cx="4480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977640"/>
            <a:ext cx="44805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CD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PID   TTY    TIME   CMD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5CCD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1234  pts/0  00:00  bash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98348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Here, </a:t>
            </a:r>
            <a:r>
              <a:rPr lang="en-US" sz="13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1234</a:t>
            </a:r>
            <a:r>
              <a:rPr lang="en-US" sz="13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is the PID.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828800"/>
            <a:ext cx="5422392" cy="4114800"/>
          </a:xfrm>
          <a:prstGeom prst="roundRect">
            <a:avLst>
              <a:gd name="adj" fmla="val 1778"/>
            </a:avLst>
          </a:prstGeom>
          <a:solidFill>
            <a:srgbClr val="F4F5F6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2103120"/>
            <a:ext cx="502920" cy="502920"/>
          </a:xfrm>
          <a:prstGeom prst="ellipse">
            <a:avLst/>
          </a:prstGeom>
          <a:solidFill>
            <a:srgbClr val="1B1F23"/>
          </a:solidFill>
        </p:spPr>
      </p:sp>
      <p:sp>
        <p:nvSpPr>
          <p:cNvPr id="17" name="Text 15"/>
          <p:cNvSpPr/>
          <p:nvPr/>
        </p:nvSpPr>
        <p:spPr>
          <a:xfrm>
            <a:off x="6583680" y="21031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69480" y="2121408"/>
            <a:ext cx="4297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PPID (Parent Process ID)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2697480"/>
            <a:ext cx="4937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process that starts another process is called the Parent Process.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49440" y="347472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1B1F23"/>
          </a:solidFill>
        </p:spPr>
      </p:sp>
      <p:sp>
        <p:nvSpPr>
          <p:cNvPr id="21" name="Text 19"/>
          <p:cNvSpPr/>
          <p:nvPr/>
        </p:nvSpPr>
        <p:spPr>
          <a:xfrm>
            <a:off x="6949440" y="3474720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bash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413308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15400" y="35204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9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464040" y="347472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1B1F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64040" y="347472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82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64040" y="4133088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Child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PROCESSES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Viewing &amp; Monitoring Processes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566160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6" name="Text 4"/>
          <p:cNvSpPr/>
          <p:nvPr/>
        </p:nvSpPr>
        <p:spPr>
          <a:xfrm>
            <a:off x="685800" y="196596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Displays the running processes in the current terminal.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3566160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9" name="Text 7"/>
          <p:cNvSpPr/>
          <p:nvPr/>
        </p:nvSpPr>
        <p:spPr>
          <a:xfrm>
            <a:off x="4480560" y="196596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ps -e   /   ps aux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33172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Displays all running processes in the system.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685032" cy="1417320"/>
          </a:xfrm>
          <a:prstGeom prst="roundRect">
            <a:avLst>
              <a:gd name="adj" fmla="val 4516"/>
            </a:avLst>
          </a:prstGeom>
          <a:solidFill>
            <a:srgbClr val="1B1F23"/>
          </a:solidFill>
        </p:spPr>
      </p:sp>
      <p:sp>
        <p:nvSpPr>
          <p:cNvPr id="12" name="Text 10"/>
          <p:cNvSpPr/>
          <p:nvPr/>
        </p:nvSpPr>
        <p:spPr>
          <a:xfrm>
            <a:off x="8275320" y="1965960"/>
            <a:ext cx="322783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75320" y="2331720"/>
            <a:ext cx="322783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process monitoring — shows: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75320" y="2697480"/>
            <a:ext cx="32278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CPU usage · RAM usage · Running processes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Exit: q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1B1F23"/>
          </a:solidFill>
        </p:spPr>
      </p:sp>
      <p:sp>
        <p:nvSpPr>
          <p:cNvPr id="16" name="Text 14"/>
          <p:cNvSpPr/>
          <p:nvPr/>
        </p:nvSpPr>
        <p:spPr>
          <a:xfrm>
            <a:off x="685800" y="365760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htop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402336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process viewer (interactive).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438912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not installed: sudo apt install htop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Run: htop   Exit: q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3520440"/>
            <a:ext cx="368503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Live Monitoring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3886200"/>
            <a:ext cx="3685032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and htop both refresh continuously, giving a real-time view of CPU, RAM, and running processes — essential for spotting performance issues fast.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PROCESSES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Finding &amp; Killing Processes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394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Find a Process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394960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7" name="Text 5"/>
          <p:cNvSpPr/>
          <p:nvPr/>
        </p:nvSpPr>
        <p:spPr>
          <a:xfrm>
            <a:off x="685800" y="228600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pgrep firefox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2456  —  the PID of the Firefox process.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5394960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10" name="Text 8"/>
          <p:cNvSpPr/>
          <p:nvPr/>
        </p:nvSpPr>
        <p:spPr>
          <a:xfrm>
            <a:off x="685800" y="347472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pidof firefox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84048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Alternative way to find a process's PID.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9360" y="1783080"/>
            <a:ext cx="54223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Kill a Process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2148840"/>
            <a:ext cx="5422392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14" name="Text 12"/>
          <p:cNvSpPr/>
          <p:nvPr/>
        </p:nvSpPr>
        <p:spPr>
          <a:xfrm>
            <a:off x="6537960" y="2286000"/>
            <a:ext cx="49651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kill 2456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2651760"/>
            <a:ext cx="49651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Stop a process by its PID.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33756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17" name="Text 15"/>
          <p:cNvSpPr/>
          <p:nvPr/>
        </p:nvSpPr>
        <p:spPr>
          <a:xfrm>
            <a:off x="6537960" y="347472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kill -9 2456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840480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Force kill.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25712" y="333756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20" name="Text 18"/>
          <p:cNvSpPr/>
          <p:nvPr/>
        </p:nvSpPr>
        <p:spPr>
          <a:xfrm>
            <a:off x="9354312" y="347472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pkill firefox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54312" y="3840480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by name.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11274552" cy="1188720"/>
          </a:xfrm>
          <a:prstGeom prst="roundRect">
            <a:avLst>
              <a:gd name="adj" fmla="val 6154"/>
            </a:avLst>
          </a:prstGeom>
          <a:solidFill>
            <a:srgbClr val="F4F5F6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8006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 Process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51206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sleep 60 &amp;</a:t>
            </a: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run in background     </a:t>
            </a:r>
            <a:r>
              <a:rPr lang="en-US" sz="12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jobs</a:t>
            </a: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check background jobs     </a:t>
            </a:r>
            <a:r>
              <a:rPr lang="en-US" sz="12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fg</a:t>
            </a: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bring to foreground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PROCESSES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Process Tree, Priority &amp; States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394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Process Tree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394960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7" name="Text 5"/>
          <p:cNvSpPr/>
          <p:nvPr/>
        </p:nvSpPr>
        <p:spPr>
          <a:xfrm>
            <a:off x="685800" y="228600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pstree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Displays the parent-child relationship of processes.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5394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Nice Value (Priority)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11" name="Text 9"/>
          <p:cNvSpPr/>
          <p:nvPr/>
        </p:nvSpPr>
        <p:spPr>
          <a:xfrm>
            <a:off x="685800" y="388620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4251960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the current nice value.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08960" y="3749040"/>
            <a:ext cx="2743200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14" name="Text 12"/>
          <p:cNvSpPr/>
          <p:nvPr/>
        </p:nvSpPr>
        <p:spPr>
          <a:xfrm>
            <a:off x="3337560" y="388620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nice -n 10 cmd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37560" y="425196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a command with lower priority.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09360" y="1783080"/>
            <a:ext cx="54223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Process States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6309360" y="2148840"/>
          <a:ext cx="5422392" cy="2514600"/>
        </p:xfrm>
        <a:graphic>
          <a:graphicData uri="http://schemas.openxmlformats.org/drawingml/2006/table">
            <a:tbl>
              <a:tblPr/>
              <a:tblGrid>
                <a:gridCol w="1280160"/>
                <a:gridCol w="4142232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Meaning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R</a:t>
                      </a:r>
                      <a:endParaRPr lang="en-US" sz="13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Running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</a:t>
                      </a:r>
                      <a:endParaRPr lang="en-US" sz="13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Sleeping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T</a:t>
                      </a:r>
                      <a:endParaRPr lang="en-US" sz="13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Stopped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Z</a:t>
                      </a:r>
                      <a:endParaRPr lang="en-US" sz="13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Zombie (the process has ended but its entry still exists)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PROCESSES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Process Commands — Cheat Sheet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1783080"/>
          <a:ext cx="11247120" cy="4480560"/>
        </p:xfrm>
        <a:graphic>
          <a:graphicData uri="http://schemas.openxmlformats.org/drawingml/2006/table">
            <a:tbl>
              <a:tblPr/>
              <a:tblGrid>
                <a:gridCol w="4114800"/>
                <a:gridCol w="7132320"/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Command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Purpose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ps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Current terminal processes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ps -e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All running processes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ps aux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Detailed process list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top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Live monitoring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htop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Interactive process viewer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pgrep process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Find PID by process name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pidof process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Show Process ID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kill PID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Stop process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kill -9 PID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Force stop process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pkill process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Kill by process name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jobs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Show background jobs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fg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Bring a job to the foreground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pstree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Show process hierarchy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23"/>
          </a:solidFill>
        </p:spPr>
      </p:sp>
      <p:sp>
        <p:nvSpPr>
          <p:cNvPr id="3" name="Shape 1"/>
          <p:cNvSpPr/>
          <p:nvPr/>
        </p:nvSpPr>
        <p:spPr>
          <a:xfrm>
            <a:off x="457200" y="411480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4" name="Text 2"/>
          <p:cNvSpPr/>
          <p:nvPr/>
        </p:nvSpPr>
        <p:spPr>
          <a:xfrm>
            <a:off x="457200" y="411480"/>
            <a:ext cx="2834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PREP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Processes — Interview Questions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40680" cy="758952"/>
          </a:xfrm>
          <a:prstGeom prst="roundRect">
            <a:avLst>
              <a:gd name="adj" fmla="val 7229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56232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Q1.  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a process?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130552"/>
            <a:ext cx="50749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C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process is a program that is currently running.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79192"/>
            <a:ext cx="5440680" cy="758952"/>
          </a:xfrm>
          <a:prstGeom prst="roundRect">
            <a:avLst>
              <a:gd name="adj" fmla="val 7229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52344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Q2.  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a PID?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026664"/>
            <a:ext cx="50749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C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PID (Process ID) is the unique number assigned to every running process.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75304"/>
            <a:ext cx="5440680" cy="758952"/>
          </a:xfrm>
          <a:prstGeom prst="roundRect">
            <a:avLst>
              <a:gd name="adj" fmla="val 7229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48456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Q3.  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command is used to view all running processes?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922776"/>
            <a:ext cx="50749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CD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ps -e   or   ps aux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783080"/>
            <a:ext cx="5440680" cy="758952"/>
          </a:xfrm>
          <a:prstGeom prst="roundRect">
            <a:avLst>
              <a:gd name="adj" fmla="val 7229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856232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Q4.  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command is used for live process monitoring?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46520" y="2130552"/>
            <a:ext cx="50749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CD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top   or   htop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2679192"/>
            <a:ext cx="5440680" cy="758952"/>
          </a:xfrm>
          <a:prstGeom prst="roundRect">
            <a:avLst>
              <a:gd name="adj" fmla="val 7229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752344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Q5.  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 you terminate a process?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46520" y="3026664"/>
            <a:ext cx="50749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CD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kill PID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3575304"/>
            <a:ext cx="5440680" cy="758952"/>
          </a:xfrm>
          <a:prstGeom prst="roundRect">
            <a:avLst>
              <a:gd name="adj" fmla="val 7229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648456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Q6.  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 you forcefully terminate a process?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46520" y="3922776"/>
            <a:ext cx="50749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CD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kill -9 PID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PROCESSES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Processes —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01952"/>
            <a:ext cx="292608" cy="292608"/>
          </a:xfrm>
          <a:prstGeom prst="ellipse">
            <a:avLst/>
          </a:prstGeom>
          <a:solidFill>
            <a:srgbClr val="1B1F23"/>
          </a:solidFill>
        </p:spPr>
      </p:sp>
      <p:sp>
        <p:nvSpPr>
          <p:cNvPr id="6" name="Text 4"/>
          <p:cNvSpPr/>
          <p:nvPr/>
        </p:nvSpPr>
        <p:spPr>
          <a:xfrm>
            <a:off x="457200" y="190195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Process </a:t>
            </a:r>
            <a:r>
              <a:rPr lang="en-US" sz="13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Running program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79192"/>
            <a:ext cx="292608" cy="292608"/>
          </a:xfrm>
          <a:prstGeom prst="ellipse">
            <a:avLst/>
          </a:prstGeom>
          <a:solidFill>
            <a:srgbClr val="1B1F23"/>
          </a:solidFill>
        </p:spPr>
      </p:sp>
      <p:sp>
        <p:nvSpPr>
          <p:cNvPr id="9" name="Text 7"/>
          <p:cNvSpPr/>
          <p:nvPr/>
        </p:nvSpPr>
        <p:spPr>
          <a:xfrm>
            <a:off x="457200" y="267919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60604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PID </a:t>
            </a:r>
            <a:r>
              <a:rPr lang="en-US" sz="13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Unique Process ID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56432"/>
            <a:ext cx="292608" cy="292608"/>
          </a:xfrm>
          <a:prstGeom prst="ellipse">
            <a:avLst/>
          </a:prstGeom>
          <a:solidFill>
            <a:srgbClr val="1B1F23"/>
          </a:solidFill>
        </p:spPr>
      </p:sp>
      <p:sp>
        <p:nvSpPr>
          <p:cNvPr id="12" name="Text 10"/>
          <p:cNvSpPr/>
          <p:nvPr/>
        </p:nvSpPr>
        <p:spPr>
          <a:xfrm>
            <a:off x="457200" y="345643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38328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PPID </a:t>
            </a:r>
            <a:r>
              <a:rPr lang="en-US" sz="13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Parent Process ID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33672"/>
            <a:ext cx="292608" cy="292608"/>
          </a:xfrm>
          <a:prstGeom prst="ellipse">
            <a:avLst/>
          </a:prstGeom>
          <a:solidFill>
            <a:srgbClr val="1B1F23"/>
          </a:solidFill>
        </p:spPr>
      </p:sp>
      <p:sp>
        <p:nvSpPr>
          <p:cNvPr id="15" name="Text 13"/>
          <p:cNvSpPr/>
          <p:nvPr/>
        </p:nvSpPr>
        <p:spPr>
          <a:xfrm>
            <a:off x="457200" y="423367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416052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ps </a:t>
            </a:r>
            <a:r>
              <a:rPr lang="en-US" sz="13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Show processes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10912"/>
            <a:ext cx="292608" cy="292608"/>
          </a:xfrm>
          <a:prstGeom prst="ellipse">
            <a:avLst/>
          </a:prstGeom>
          <a:solidFill>
            <a:srgbClr val="1B1F23"/>
          </a:solidFill>
        </p:spPr>
      </p:sp>
      <p:sp>
        <p:nvSpPr>
          <p:cNvPr id="18" name="Text 16"/>
          <p:cNvSpPr/>
          <p:nvPr/>
        </p:nvSpPr>
        <p:spPr>
          <a:xfrm>
            <a:off x="457200" y="501091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93776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top / htop </a:t>
            </a:r>
            <a:r>
              <a:rPr lang="en-US" sz="13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Live monitoring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788152"/>
            <a:ext cx="292608" cy="292608"/>
          </a:xfrm>
          <a:prstGeom prst="ellipse">
            <a:avLst/>
          </a:prstGeom>
          <a:solidFill>
            <a:srgbClr val="1B1F23"/>
          </a:solidFill>
        </p:spPr>
      </p:sp>
      <p:sp>
        <p:nvSpPr>
          <p:cNvPr id="21" name="Text 19"/>
          <p:cNvSpPr/>
          <p:nvPr/>
        </p:nvSpPr>
        <p:spPr>
          <a:xfrm>
            <a:off x="457200" y="578815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571500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pgrep / pidof </a:t>
            </a:r>
            <a:r>
              <a:rPr lang="en-US" sz="13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Find a process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1901952"/>
            <a:ext cx="292608" cy="292608"/>
          </a:xfrm>
          <a:prstGeom prst="ellipse">
            <a:avLst/>
          </a:prstGeom>
          <a:solidFill>
            <a:srgbClr val="1B1F23"/>
          </a:solidFill>
        </p:spPr>
      </p:sp>
      <p:sp>
        <p:nvSpPr>
          <p:cNvPr id="24" name="Text 22"/>
          <p:cNvSpPr/>
          <p:nvPr/>
        </p:nvSpPr>
        <p:spPr>
          <a:xfrm>
            <a:off x="6263640" y="190195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182880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kill </a:t>
            </a:r>
            <a:r>
              <a:rPr lang="en-US" sz="13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Stop a process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2679192"/>
            <a:ext cx="292608" cy="292608"/>
          </a:xfrm>
          <a:prstGeom prst="ellipse">
            <a:avLst/>
          </a:prstGeom>
          <a:solidFill>
            <a:srgbClr val="1B1F23"/>
          </a:solidFill>
        </p:spPr>
      </p:sp>
      <p:sp>
        <p:nvSpPr>
          <p:cNvPr id="27" name="Text 25"/>
          <p:cNvSpPr/>
          <p:nvPr/>
        </p:nvSpPr>
        <p:spPr>
          <a:xfrm>
            <a:off x="6263640" y="267919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260604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kill -9 </a:t>
            </a:r>
            <a:r>
              <a:rPr lang="en-US" sz="13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Force stop a process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3456432"/>
            <a:ext cx="292608" cy="292608"/>
          </a:xfrm>
          <a:prstGeom prst="ellipse">
            <a:avLst/>
          </a:prstGeom>
          <a:solidFill>
            <a:srgbClr val="1B1F23"/>
          </a:solidFill>
        </p:spPr>
      </p:sp>
      <p:sp>
        <p:nvSpPr>
          <p:cNvPr id="30" name="Text 28"/>
          <p:cNvSpPr/>
          <p:nvPr/>
        </p:nvSpPr>
        <p:spPr>
          <a:xfrm>
            <a:off x="6263640" y="345643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338328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jobs </a:t>
            </a:r>
            <a:r>
              <a:rPr lang="en-US" sz="13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Show background jobs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63640" y="4233672"/>
            <a:ext cx="292608" cy="292608"/>
          </a:xfrm>
          <a:prstGeom prst="ellipse">
            <a:avLst/>
          </a:prstGeom>
          <a:solidFill>
            <a:srgbClr val="1B1F23"/>
          </a:solidFill>
        </p:spPr>
      </p:sp>
      <p:sp>
        <p:nvSpPr>
          <p:cNvPr id="33" name="Text 31"/>
          <p:cNvSpPr/>
          <p:nvPr/>
        </p:nvSpPr>
        <p:spPr>
          <a:xfrm>
            <a:off x="6263640" y="423367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75120" y="416052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fg </a:t>
            </a:r>
            <a:r>
              <a:rPr lang="en-US" sz="13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Bring a job to the foreground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5010912"/>
            <a:ext cx="292608" cy="292608"/>
          </a:xfrm>
          <a:prstGeom prst="ellipse">
            <a:avLst/>
          </a:prstGeom>
          <a:solidFill>
            <a:srgbClr val="1B1F23"/>
          </a:solidFill>
        </p:spPr>
      </p:sp>
      <p:sp>
        <p:nvSpPr>
          <p:cNvPr id="36" name="Text 34"/>
          <p:cNvSpPr/>
          <p:nvPr/>
        </p:nvSpPr>
        <p:spPr>
          <a:xfrm>
            <a:off x="6263640" y="501091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75120" y="493776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pstree </a:t>
            </a:r>
            <a:r>
              <a:rPr lang="en-US" sz="13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Show process hierarchy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SERVICES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a Service?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12471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</a:t>
            </a:r>
            <a:r>
              <a:rPr lang="en-US" sz="1600" b="1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</a:t>
            </a:r>
            <a:r>
              <a:rPr lang="en-US" sz="16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is a program that runs in the background and performs specific tasks for the operating system or users.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Services usually start automatically when the system boots and continue running until they are stopped.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401568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SSH Service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2286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Allows remote login.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9272" y="3246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3401568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Apache Service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02152" y="3794760"/>
            <a:ext cx="2286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Hosts websites.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3246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3401568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MySQL Service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64224" y="3794760"/>
            <a:ext cx="2286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Manages databases.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43416" y="3246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26296" y="3401568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Cron Service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226296" y="3794760"/>
            <a:ext cx="2286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scheduled tasks.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SERVICES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Service vs Process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7200" y="1828800"/>
          <a:ext cx="11247120" cy="2514600"/>
        </p:xfrm>
        <a:graphic>
          <a:graphicData uri="http://schemas.openxmlformats.org/drawingml/2006/table">
            <a:tbl>
              <a:tblPr/>
              <a:tblGrid>
                <a:gridCol w="5623560"/>
                <a:gridCol w="562356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Service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Process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Runs in the background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Any running program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Usually starts at boot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Can start anytime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Provides a system function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Performs a specific task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Example: SSH, Apache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Example: Firefox, ls, VS Code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SERVICES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a Daemon?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7315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</a:t>
            </a:r>
            <a:r>
              <a:rPr lang="en-US" sz="1800" b="1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daemon</a:t>
            </a:r>
            <a:r>
              <a:rPr lang="en-US" sz="18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is a background process that provides a service.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Linux service names end with 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</a:t>
            </a:r>
            <a:r>
              <a:rPr lang="en-US" sz="18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1B1F23"/>
          </a:solidFill>
        </p:spPr>
      </p:sp>
      <p:sp>
        <p:nvSpPr>
          <p:cNvPr id="7" name="Text 5"/>
          <p:cNvSpPr/>
          <p:nvPr/>
        </p:nvSpPr>
        <p:spPr>
          <a:xfrm>
            <a:off x="457200" y="320040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sshd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3200400"/>
            <a:ext cx="4572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SSH daemon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1B1F23"/>
          </a:solidFill>
        </p:spPr>
      </p:sp>
      <p:sp>
        <p:nvSpPr>
          <p:cNvPr id="10" name="Text 8"/>
          <p:cNvSpPr/>
          <p:nvPr/>
        </p:nvSpPr>
        <p:spPr>
          <a:xfrm>
            <a:off x="457200" y="397764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httpd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3977640"/>
            <a:ext cx="4572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 daemon (some distributions)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1B1F23"/>
          </a:solidFill>
        </p:spPr>
      </p:sp>
      <p:sp>
        <p:nvSpPr>
          <p:cNvPr id="13" name="Text 11"/>
          <p:cNvSpPr/>
          <p:nvPr/>
        </p:nvSpPr>
        <p:spPr>
          <a:xfrm>
            <a:off x="457200" y="475488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crond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4754880"/>
            <a:ext cx="4572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Cron daemon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SERVICES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Managing Services with systemctl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systemctl is used to manage services on Linux systems that use systemd.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1B1F23"/>
          </a:solidFill>
        </p:spPr>
      </p:sp>
      <p:sp>
        <p:nvSpPr>
          <p:cNvPr id="7" name="Text 5"/>
          <p:cNvSpPr/>
          <p:nvPr/>
        </p:nvSpPr>
        <p:spPr>
          <a:xfrm>
            <a:off x="685800" y="228600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systemctl status ssh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Shows: active/inactive, running/stopped, service info.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Example Output: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Active: active (running)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2148840"/>
            <a:ext cx="3657600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11" name="Text 9"/>
          <p:cNvSpPr/>
          <p:nvPr/>
        </p:nvSpPr>
        <p:spPr>
          <a:xfrm>
            <a:off x="4480560" y="228600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systemctl start ssh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265176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Starts the service immediately.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685032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14" name="Text 12"/>
          <p:cNvSpPr/>
          <p:nvPr/>
        </p:nvSpPr>
        <p:spPr>
          <a:xfrm>
            <a:off x="8275320" y="2286000"/>
            <a:ext cx="322783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systemctl stop ssh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2651760"/>
            <a:ext cx="322783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Stops the running service.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3657600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17" name="Text 15"/>
          <p:cNvSpPr/>
          <p:nvPr/>
        </p:nvSpPr>
        <p:spPr>
          <a:xfrm>
            <a:off x="685800" y="42976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systemctl restart ssh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466344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Stops and starts the service again. Useful after changing config files.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51960" y="4160520"/>
            <a:ext cx="3657600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20" name="Text 18"/>
          <p:cNvSpPr/>
          <p:nvPr/>
        </p:nvSpPr>
        <p:spPr>
          <a:xfrm>
            <a:off x="4480560" y="42976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systemctl reload ssh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480560" y="466344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Reloads config without fully restarting (only if the service supports reload).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SERVICES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systemctl — Enable, Disable &amp; Check State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6" name="Text 4"/>
          <p:cNvSpPr/>
          <p:nvPr/>
        </p:nvSpPr>
        <p:spPr>
          <a:xfrm>
            <a:off x="685800" y="19659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systemctl enable ssh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service will start automatically every time the system boots.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3657600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9" name="Text 7"/>
          <p:cNvSpPr/>
          <p:nvPr/>
        </p:nvSpPr>
        <p:spPr>
          <a:xfrm>
            <a:off x="4480560" y="19659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systemctl disable ssh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33172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service will not start automatically when the system boots.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685032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12" name="Text 10"/>
          <p:cNvSpPr/>
          <p:nvPr/>
        </p:nvSpPr>
        <p:spPr>
          <a:xfrm>
            <a:off x="8275320" y="1965960"/>
            <a:ext cx="322783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systemctl is-active ssh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75320" y="2331720"/>
            <a:ext cx="322783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Possible output: active / inactive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3566160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15" name="Text 13"/>
          <p:cNvSpPr/>
          <p:nvPr/>
        </p:nvSpPr>
        <p:spPr>
          <a:xfrm>
            <a:off x="685800" y="397764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systemctl is-enabled ssh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434340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Possible output: enabled / disabled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60520" y="3840480"/>
            <a:ext cx="3749040" cy="1417320"/>
          </a:xfrm>
          <a:prstGeom prst="roundRect">
            <a:avLst>
              <a:gd name="adj" fmla="val 4516"/>
            </a:avLst>
          </a:prstGeom>
          <a:solidFill>
            <a:srgbClr val="1B1F23"/>
          </a:solidFill>
        </p:spPr>
      </p:sp>
      <p:sp>
        <p:nvSpPr>
          <p:cNvPr id="18" name="Text 16"/>
          <p:cNvSpPr/>
          <p:nvPr/>
        </p:nvSpPr>
        <p:spPr>
          <a:xfrm>
            <a:off x="4389120" y="3977640"/>
            <a:ext cx="32918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systemctl list-units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--type=service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4663440"/>
            <a:ext cx="3291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Displays all loaded services.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46720" y="3840480"/>
            <a:ext cx="3685032" cy="1417320"/>
          </a:xfrm>
          <a:prstGeom prst="roundRect">
            <a:avLst>
              <a:gd name="adj" fmla="val 4516"/>
            </a:avLst>
          </a:prstGeom>
          <a:solidFill>
            <a:srgbClr val="1B1F23"/>
          </a:solidFill>
        </p:spPr>
      </p:sp>
      <p:sp>
        <p:nvSpPr>
          <p:cNvPr id="21" name="Text 19"/>
          <p:cNvSpPr/>
          <p:nvPr/>
        </p:nvSpPr>
        <p:spPr>
          <a:xfrm>
            <a:off x="8275320" y="3959352"/>
            <a:ext cx="32461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systemctl list-units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--type=service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--state=running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75320" y="4773168"/>
            <a:ext cx="3246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Displays only the running services.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SERVICES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Common Linux Services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457200" y="1828800"/>
          <a:ext cx="6400800" cy="352044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Service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Purpose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SSH</a:t>
                      </a:r>
                      <a:endParaRPr lang="en-US" sz="13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Remote login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Apache</a:t>
                      </a:r>
                      <a:endParaRPr lang="en-US" sz="13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Web server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Nginx</a:t>
                      </a:r>
                      <a:endParaRPr lang="en-US" sz="13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Web server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MySQL</a:t>
                      </a:r>
                      <a:endParaRPr lang="en-US" sz="13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Database server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Cron</a:t>
                      </a:r>
                      <a:endParaRPr lang="en-US" sz="13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Scheduled tasks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NetworkManager</a:t>
                      </a:r>
                      <a:endParaRPr lang="en-US" sz="13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Network management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828800"/>
            <a:ext cx="4507992" cy="3520440"/>
          </a:xfrm>
          <a:prstGeom prst="roundRect">
            <a:avLst>
              <a:gd name="adj" fmla="val 2078"/>
            </a:avLst>
          </a:prstGeom>
          <a:solidFill>
            <a:srgbClr val="1B1F23"/>
          </a:solidFill>
        </p:spPr>
      </p:sp>
      <p:sp>
        <p:nvSpPr>
          <p:cNvPr id="7" name="Text 4"/>
          <p:cNvSpPr/>
          <p:nvPr/>
        </p:nvSpPr>
        <p:spPr>
          <a:xfrm>
            <a:off x="7452360" y="201168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are Services Important?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52360" y="2514600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Manage networking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52360" y="2898648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Host websites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52360" y="3282696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Allow remote access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52360" y="3666744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Run databases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452360" y="4050792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Schedule automatic tasks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452360" y="4572000"/>
            <a:ext cx="4023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Without services, many system functions would not work.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SERVICES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Difference Between start and enable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457200" y="1828800"/>
          <a:ext cx="11247120" cy="1920240"/>
        </p:xfrm>
        <a:graphic>
          <a:graphicData uri="http://schemas.openxmlformats.org/drawingml/2006/table">
            <a:tbl>
              <a:tblPr/>
              <a:tblGrid>
                <a:gridCol w="4114800"/>
                <a:gridCol w="7132320"/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Command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Meaning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systemctl start ssh</a:t>
                      </a:r>
                      <a:endParaRPr lang="en-US" sz="13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Starts the service immediately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systemctl enable ssh</a:t>
                      </a:r>
                      <a:endParaRPr lang="en-US" sz="13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Starts the service automatically every time the system boots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4048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4F5F6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397764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start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4343400"/>
            <a:ext cx="49377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Turn the fan on now.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3840480"/>
            <a:ext cx="5422392" cy="1554480"/>
          </a:xfrm>
          <a:prstGeom prst="roundRect">
            <a:avLst>
              <a:gd name="adj" fmla="val 4706"/>
            </a:avLst>
          </a:prstGeom>
          <a:solidFill>
            <a:srgbClr val="F4F5F6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7960" y="397764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enable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37960" y="4343400"/>
            <a:ext cx="49377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Make the fan turn on automatically every time the computer starts.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SERVICES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Services — Cheat Sheet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457200" y="1783080"/>
          <a:ext cx="11247120" cy="4480560"/>
        </p:xfrm>
        <a:graphic>
          <a:graphicData uri="http://schemas.openxmlformats.org/drawingml/2006/table">
            <a:tbl>
              <a:tblPr/>
              <a:tblGrid>
                <a:gridCol w="5486400"/>
                <a:gridCol w="5760720"/>
              </a:tblGrid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Command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Purpose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systemctl status ssh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Check service status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sudo systemctl start ssh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Start a service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sudo systemctl stop ssh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Stop a service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sudo systemctl restart ssh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Restart a service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sudo systemctl reload ssh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Reload configuration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sudo systemctl enable ssh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Enable service at boot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sudo systemctl disable ssh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Disable service at boot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systemctl is-active ssh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Check if the service is running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systemctl is-enabled ssh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Check if the service is enabled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systemctl list-units --type=service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List all services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systemctl list-units --type=service --state=running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List running services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23"/>
          </a:solidFill>
        </p:spPr>
      </p:sp>
      <p:sp>
        <p:nvSpPr>
          <p:cNvPr id="3" name="Shape 1"/>
          <p:cNvSpPr/>
          <p:nvPr/>
        </p:nvSpPr>
        <p:spPr>
          <a:xfrm>
            <a:off x="457200" y="411480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4" name="Text 2"/>
          <p:cNvSpPr/>
          <p:nvPr/>
        </p:nvSpPr>
        <p:spPr>
          <a:xfrm>
            <a:off x="457200" y="411480"/>
            <a:ext cx="2834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PREP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Services — Interview Questions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40680" cy="758952"/>
          </a:xfrm>
          <a:prstGeom prst="roundRect">
            <a:avLst>
              <a:gd name="adj" fmla="val 7229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56232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Q1.  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a Linux service?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130552"/>
            <a:ext cx="50749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C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background program that provides system or network functionality and often starts automatically when the system boots.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79192"/>
            <a:ext cx="5440680" cy="758952"/>
          </a:xfrm>
          <a:prstGeom prst="roundRect">
            <a:avLst>
              <a:gd name="adj" fmla="val 7229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52344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Q2.  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a daemon?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026664"/>
            <a:ext cx="50749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C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background process that runs continuously to provide a service.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75304"/>
            <a:ext cx="5440680" cy="758952"/>
          </a:xfrm>
          <a:prstGeom prst="roundRect">
            <a:avLst>
              <a:gd name="adj" fmla="val 7229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48456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Q3.  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command checks the status of a service?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922776"/>
            <a:ext cx="50749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CD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systemctl status ssh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471416"/>
            <a:ext cx="5440680" cy="758952"/>
          </a:xfrm>
          <a:prstGeom prst="roundRect">
            <a:avLst>
              <a:gd name="adj" fmla="val 7229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544568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Q4.  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 you start a service?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4818888"/>
            <a:ext cx="50749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CD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systemctl start ssh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1783080"/>
            <a:ext cx="5440680" cy="758952"/>
          </a:xfrm>
          <a:prstGeom prst="roundRect">
            <a:avLst>
              <a:gd name="adj" fmla="val 7229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856232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Q5.  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 you stop a service?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46520" y="2130552"/>
            <a:ext cx="50749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CD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systemctl stop ssh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2679192"/>
            <a:ext cx="5440680" cy="758952"/>
          </a:xfrm>
          <a:prstGeom prst="roundRect">
            <a:avLst>
              <a:gd name="adj" fmla="val 7229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752344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Q6.  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Difference between start and enable?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46520" y="3026664"/>
            <a:ext cx="50749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C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 starts the service immediately; enable configures it to start automatically at boot.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3575304"/>
            <a:ext cx="5440680" cy="758952"/>
          </a:xfrm>
          <a:prstGeom prst="roundRect">
            <a:avLst>
              <a:gd name="adj" fmla="val 7229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648456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Q7.  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 you list all services?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3922776"/>
            <a:ext cx="50749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CD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systemctl list-units --type=service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SERVICES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Services —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01952"/>
            <a:ext cx="292608" cy="292608"/>
          </a:xfrm>
          <a:prstGeom prst="ellipse">
            <a:avLst/>
          </a:prstGeom>
          <a:solidFill>
            <a:srgbClr val="1B1F23"/>
          </a:solidFill>
        </p:spPr>
      </p:sp>
      <p:sp>
        <p:nvSpPr>
          <p:cNvPr id="6" name="Text 4"/>
          <p:cNvSpPr/>
          <p:nvPr/>
        </p:nvSpPr>
        <p:spPr>
          <a:xfrm>
            <a:off x="457200" y="190195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Service </a:t>
            </a:r>
            <a:r>
              <a:rPr lang="en-US" sz="13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A background program that provides system functionality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79192"/>
            <a:ext cx="292608" cy="292608"/>
          </a:xfrm>
          <a:prstGeom prst="ellipse">
            <a:avLst/>
          </a:prstGeom>
          <a:solidFill>
            <a:srgbClr val="1B1F23"/>
          </a:solidFill>
        </p:spPr>
      </p:sp>
      <p:sp>
        <p:nvSpPr>
          <p:cNvPr id="9" name="Text 7"/>
          <p:cNvSpPr/>
          <p:nvPr/>
        </p:nvSpPr>
        <p:spPr>
          <a:xfrm>
            <a:off x="457200" y="267919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60604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Daemon </a:t>
            </a:r>
            <a:r>
              <a:rPr lang="en-US" sz="13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A background process that runs a service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56432"/>
            <a:ext cx="292608" cy="292608"/>
          </a:xfrm>
          <a:prstGeom prst="ellipse">
            <a:avLst/>
          </a:prstGeom>
          <a:solidFill>
            <a:srgbClr val="1B1F23"/>
          </a:solidFill>
        </p:spPr>
      </p:sp>
      <p:sp>
        <p:nvSpPr>
          <p:cNvPr id="12" name="Text 10"/>
          <p:cNvSpPr/>
          <p:nvPr/>
        </p:nvSpPr>
        <p:spPr>
          <a:xfrm>
            <a:off x="457200" y="345643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38328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systemctl </a:t>
            </a:r>
            <a:r>
              <a:rPr lang="en-US" sz="13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Command used to manage services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901952"/>
            <a:ext cx="292608" cy="292608"/>
          </a:xfrm>
          <a:prstGeom prst="ellipse">
            <a:avLst/>
          </a:prstGeom>
          <a:solidFill>
            <a:srgbClr val="1B1F23"/>
          </a:solidFill>
        </p:spPr>
      </p:sp>
      <p:sp>
        <p:nvSpPr>
          <p:cNvPr id="15" name="Text 13"/>
          <p:cNvSpPr/>
          <p:nvPr/>
        </p:nvSpPr>
        <p:spPr>
          <a:xfrm>
            <a:off x="6263640" y="190195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182880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start / stop / restart / reload </a:t>
            </a:r>
            <a:r>
              <a:rPr lang="en-US" sz="13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Commands used to control a running service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79192"/>
            <a:ext cx="292608" cy="292608"/>
          </a:xfrm>
          <a:prstGeom prst="ellipse">
            <a:avLst/>
          </a:prstGeom>
          <a:solidFill>
            <a:srgbClr val="1B1F23"/>
          </a:solidFill>
        </p:spPr>
      </p:sp>
      <p:sp>
        <p:nvSpPr>
          <p:cNvPr id="18" name="Text 16"/>
          <p:cNvSpPr/>
          <p:nvPr/>
        </p:nvSpPr>
        <p:spPr>
          <a:xfrm>
            <a:off x="6263640" y="267919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260604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enable / disable </a:t>
            </a:r>
            <a:r>
              <a:rPr lang="en-US" sz="13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Commands used to control whether a service starts automatically at boot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456432"/>
            <a:ext cx="292608" cy="292608"/>
          </a:xfrm>
          <a:prstGeom prst="ellipse">
            <a:avLst/>
          </a:prstGeom>
          <a:solidFill>
            <a:srgbClr val="1B1F23"/>
          </a:solidFill>
        </p:spPr>
      </p:sp>
      <p:sp>
        <p:nvSpPr>
          <p:cNvPr id="21" name="Text 19"/>
          <p:cNvSpPr/>
          <p:nvPr/>
        </p:nvSpPr>
        <p:spPr>
          <a:xfrm>
            <a:off x="6263640" y="345643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338328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E5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status, is-active, is-enabled </a:t>
            </a:r>
            <a:r>
              <a:rPr lang="en-US" sz="13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Commands used to check the current state of a service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MANAGEMENT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Process Management?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623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Management</a:t>
            </a:r>
            <a:r>
              <a:rPr lang="en-US" sz="160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means monitoring, controlling, and managing running processes in Linux.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5394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allows you to: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View running processes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172968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Find a process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3557016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Start or stop a process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941064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Change process priority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325112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Run processes in the background or foreground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Monitor CPU and RAM usage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737360"/>
            <a:ext cx="5422392" cy="4297680"/>
          </a:xfrm>
          <a:prstGeom prst="roundRect">
            <a:avLst>
              <a:gd name="adj" fmla="val 1702"/>
            </a:avLst>
          </a:prstGeom>
          <a:solidFill>
            <a:srgbClr val="1B1F23"/>
          </a:solidFill>
        </p:spPr>
      </p:sp>
      <p:sp>
        <p:nvSpPr>
          <p:cNvPr id="14" name="Text 12"/>
          <p:cNvSpPr/>
          <p:nvPr/>
        </p:nvSpPr>
        <p:spPr>
          <a:xfrm>
            <a:off x="6537960" y="192024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is it Important?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233172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Linux administrator or SOC Analyst uses process management to: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288036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Identify high CPU or RAM usage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333756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Stop unresponsive programs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379476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Monitor suspicious processes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425196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Improve system performance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470916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Troubleshoot issues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MANAGEMENT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Monitoring &amp; Finding Processes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566160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6" name="Text 4"/>
          <p:cNvSpPr/>
          <p:nvPr/>
        </p:nvSpPr>
        <p:spPr>
          <a:xfrm>
            <a:off x="685800" y="196596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Displays the processes running in the current terminal.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60520" y="1828800"/>
            <a:ext cx="3566160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9" name="Text 7"/>
          <p:cNvSpPr/>
          <p:nvPr/>
        </p:nvSpPr>
        <p:spPr>
          <a:xfrm>
            <a:off x="4389120" y="196596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ps -e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89120" y="233172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Displays all running processes.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63840" y="1828800"/>
            <a:ext cx="3867912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12" name="Text 10"/>
          <p:cNvSpPr/>
          <p:nvPr/>
        </p:nvSpPr>
        <p:spPr>
          <a:xfrm>
            <a:off x="8092440" y="1965960"/>
            <a:ext cx="341071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ps aux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92440" y="2331720"/>
            <a:ext cx="341071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Shows: User, PID, CPU usage, Memory usage, Command.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1B1F23"/>
          </a:solidFill>
        </p:spPr>
      </p:sp>
      <p:sp>
        <p:nvSpPr>
          <p:cNvPr id="15" name="Text 13"/>
          <p:cNvSpPr/>
          <p:nvPr/>
        </p:nvSpPr>
        <p:spPr>
          <a:xfrm>
            <a:off x="685800" y="365760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402336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Displays: running processes, CPU usage, memory usage, system load.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438912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Exit: q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60520" y="352044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1B1F23"/>
          </a:solidFill>
        </p:spPr>
      </p:sp>
      <p:sp>
        <p:nvSpPr>
          <p:cNvPr id="19" name="Text 17"/>
          <p:cNvSpPr/>
          <p:nvPr/>
        </p:nvSpPr>
        <p:spPr>
          <a:xfrm>
            <a:off x="4389120" y="365760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htop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89120" y="402336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Colorful, easy navigation, search processes, kill interactively.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89120" y="438912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not installed: sudo apt install htop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63840" y="3520440"/>
            <a:ext cx="1783080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23" name="Text 21"/>
          <p:cNvSpPr/>
          <p:nvPr/>
        </p:nvSpPr>
        <p:spPr>
          <a:xfrm>
            <a:off x="8092440" y="3657600"/>
            <a:ext cx="1325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pgrep firefox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92440" y="4023360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2456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765792" y="3520440"/>
            <a:ext cx="1965960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26" name="Text 24"/>
          <p:cNvSpPr/>
          <p:nvPr/>
        </p:nvSpPr>
        <p:spPr>
          <a:xfrm>
            <a:off x="9994392" y="3657600"/>
            <a:ext cx="1508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pidof firefox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94392" y="4023360"/>
            <a:ext cx="1508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Alternative.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MANAGEMENT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Controlling Processes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1B1F23"/>
          </a:solidFill>
        </p:spPr>
      </p:sp>
      <p:sp>
        <p:nvSpPr>
          <p:cNvPr id="6" name="Text 4"/>
          <p:cNvSpPr/>
          <p:nvPr/>
        </p:nvSpPr>
        <p:spPr>
          <a:xfrm>
            <a:off x="685800" y="196596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kill PID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Stop a process using its PID.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Example: kill 2456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60520" y="182880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1B1F23"/>
          </a:solidFill>
        </p:spPr>
      </p:sp>
      <p:sp>
        <p:nvSpPr>
          <p:cNvPr id="10" name="Text 8"/>
          <p:cNvSpPr/>
          <p:nvPr/>
        </p:nvSpPr>
        <p:spPr>
          <a:xfrm>
            <a:off x="4389120" y="196596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kill -9 PID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0" y="233172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Force kill.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89120" y="269748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Example: kill -9 2456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1828800"/>
            <a:ext cx="3867912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14" name="Text 12"/>
          <p:cNvSpPr/>
          <p:nvPr/>
        </p:nvSpPr>
        <p:spPr>
          <a:xfrm>
            <a:off x="8092440" y="1965960"/>
            <a:ext cx="341071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pkill firefox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92440" y="2331720"/>
            <a:ext cx="341071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Kill by process name.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3566160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17" name="Text 15"/>
          <p:cNvSpPr/>
          <p:nvPr/>
        </p:nvSpPr>
        <p:spPr>
          <a:xfrm>
            <a:off x="685800" y="365760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sleep 60 &amp;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402336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&amp; symbol runs the process in the background.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60520" y="3520440"/>
            <a:ext cx="3566160" cy="1005840"/>
          </a:xfrm>
          <a:prstGeom prst="roundRect">
            <a:avLst>
              <a:gd name="adj" fmla="val 6364"/>
            </a:avLst>
          </a:prstGeom>
          <a:solidFill>
            <a:srgbClr val="1B1F23"/>
          </a:solidFill>
        </p:spPr>
      </p:sp>
      <p:sp>
        <p:nvSpPr>
          <p:cNvPr id="20" name="Text 18"/>
          <p:cNvSpPr/>
          <p:nvPr/>
        </p:nvSpPr>
        <p:spPr>
          <a:xfrm>
            <a:off x="4389120" y="365760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jobs   /   fg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389120" y="402336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background jobs; bring one to the foreground.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863840" y="3520440"/>
            <a:ext cx="3867912" cy="1417320"/>
          </a:xfrm>
          <a:prstGeom prst="roundRect">
            <a:avLst>
              <a:gd name="adj" fmla="val 4516"/>
            </a:avLst>
          </a:prstGeom>
          <a:solidFill>
            <a:srgbClr val="1B1F23"/>
          </a:solidFill>
        </p:spPr>
      </p:sp>
      <p:sp>
        <p:nvSpPr>
          <p:cNvPr id="23" name="Text 21"/>
          <p:cNvSpPr/>
          <p:nvPr/>
        </p:nvSpPr>
        <p:spPr>
          <a:xfrm>
            <a:off x="8092440" y="3657600"/>
            <a:ext cx="341071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nice -n 10 cmd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92440" y="4023360"/>
            <a:ext cx="341071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E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 a process with lower priority.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92440" y="4389120"/>
            <a:ext cx="34107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sudo renice 5 PID — change priority of an existing process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MANAGEMENT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Process Signals &amp; States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Process Signals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457200" y="2148840"/>
          <a:ext cx="5422392" cy="251460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2587752"/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Signal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Number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Purpose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SIGTERM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15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Gracefully terminate a process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SIGKILL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9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Forcefully terminate a process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SIGSTOP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19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Pause a process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SIGCONT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18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Resume a paused process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783080"/>
            <a:ext cx="54223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Process States</a:t>
            </a:r>
            <a:endParaRPr lang="en-US" sz="16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/>
        </p:nvGraphicFramePr>
        <p:xfrm>
          <a:off x="6309360" y="2148840"/>
          <a:ext cx="5422392" cy="2514600"/>
        </p:xfrm>
        <a:graphic>
          <a:graphicData uri="http://schemas.openxmlformats.org/drawingml/2006/table">
            <a:tbl>
              <a:tblPr/>
              <a:tblGrid>
                <a:gridCol w="1371600"/>
                <a:gridCol w="4050792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Meaning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R</a:t>
                      </a:r>
                      <a:endParaRPr lang="en-US" sz="13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Running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</a:t>
                      </a:r>
                      <a:endParaRPr lang="en-US" sz="13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Sleeping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T</a:t>
                      </a:r>
                      <a:endParaRPr lang="en-US" sz="13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Stopped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Z</a:t>
                      </a:r>
                      <a:endParaRPr lang="en-US" sz="13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Zombie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23"/>
          </a:solidFill>
        </p:spPr>
      </p:sp>
      <p:sp>
        <p:nvSpPr>
          <p:cNvPr id="3" name="Shape 1"/>
          <p:cNvSpPr/>
          <p:nvPr/>
        </p:nvSpPr>
        <p:spPr>
          <a:xfrm>
            <a:off x="457200" y="41148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4" name="Text 2"/>
          <p:cNvSpPr/>
          <p:nvPr/>
        </p:nvSpPr>
        <p:spPr>
          <a:xfrm>
            <a:off x="457200" y="41148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Process Management Workflow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67512" y="32004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262B31"/>
          </a:solidFill>
          <a:ln w="15875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364992"/>
            <a:ext cx="1746504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Starts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33472" y="3794760"/>
            <a:ext cx="25603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89504" y="32004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262B31"/>
          </a:solidFill>
          <a:ln w="15875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3364992"/>
            <a:ext cx="1746504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99232" y="4114800"/>
            <a:ext cx="1746504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ps, top, htop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55464" y="3794760"/>
            <a:ext cx="25603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111496" y="32004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262B31"/>
          </a:solidFill>
          <a:ln w="15875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3364992"/>
            <a:ext cx="1746504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Process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21224" y="4114800"/>
            <a:ext cx="1746504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pgrep, pidof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77456" y="3794760"/>
            <a:ext cx="25603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33488" y="32004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262B31"/>
          </a:solidFill>
          <a:ln w="15875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43216" y="3364992"/>
            <a:ext cx="1746504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43216" y="4114800"/>
            <a:ext cx="1746504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kill, pkill, nice, renice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299448" y="3794760"/>
            <a:ext cx="25603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555480" y="32004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262B31"/>
          </a:solidFill>
          <a:ln w="15875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65208" y="3364992"/>
            <a:ext cx="1746504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 / Foreground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65208" y="4114800"/>
            <a:ext cx="1746504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jobs, fg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MANAGEMENT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Process Management — Cheat Sheet</a:t>
            </a:r>
            <a:endParaRPr lang="en-US" sz="3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/>
        </p:nvGraphicFramePr>
        <p:xfrm>
          <a:off x="457200" y="1783080"/>
          <a:ext cx="11247120" cy="4480560"/>
        </p:xfrm>
        <a:graphic>
          <a:graphicData uri="http://schemas.openxmlformats.org/drawingml/2006/table">
            <a:tbl>
              <a:tblPr/>
              <a:tblGrid>
                <a:gridCol w="4114800"/>
                <a:gridCol w="7132320"/>
              </a:tblGrid>
              <a:tr h="280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Command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Purpose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ps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Current terminal processes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ps -e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All processes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ps aux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Detailed process information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top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Live monitoring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htop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Interactive process viewer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pgrep process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Find PID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pidof process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Show Process ID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kill PID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Stop a process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kill -9 PID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Force stop a process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pkill process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Kill by process name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jobs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Show background jobs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fg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Bring a background job to the foreground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pstree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Show process hierarchy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nice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Start a process with a specified priority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9E56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renice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8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Change the priority of an existing process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23"/>
          </a:solidFill>
        </p:spPr>
      </p:sp>
      <p:sp>
        <p:nvSpPr>
          <p:cNvPr id="3" name="Shape 1"/>
          <p:cNvSpPr/>
          <p:nvPr/>
        </p:nvSpPr>
        <p:spPr>
          <a:xfrm>
            <a:off x="457200" y="411480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2ECC71"/>
          </a:solidFill>
        </p:spPr>
      </p:sp>
      <p:sp>
        <p:nvSpPr>
          <p:cNvPr id="4" name="Text 2"/>
          <p:cNvSpPr/>
          <p:nvPr/>
        </p:nvSpPr>
        <p:spPr>
          <a:xfrm>
            <a:off x="457200" y="411480"/>
            <a:ext cx="2834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PREP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Process Management — Interview Questions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40680" cy="758952"/>
          </a:xfrm>
          <a:prstGeom prst="roundRect">
            <a:avLst>
              <a:gd name="adj" fmla="val 7229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56232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Q1.  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Process Management?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130552"/>
            <a:ext cx="50749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C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task of monitoring, controlling, and managing running processes in Linux.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79192"/>
            <a:ext cx="5440680" cy="758952"/>
          </a:xfrm>
          <a:prstGeom prst="roundRect">
            <a:avLst>
              <a:gd name="adj" fmla="val 7229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52344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Q2.  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command shows all running processes?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026664"/>
            <a:ext cx="50749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CD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ps -e   or   ps aux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75304"/>
            <a:ext cx="5440680" cy="758952"/>
          </a:xfrm>
          <a:prstGeom prst="roundRect">
            <a:avLst>
              <a:gd name="adj" fmla="val 7229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48456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Q3.  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command monitors processes in real time?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922776"/>
            <a:ext cx="50749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CD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top   or   htop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471416"/>
            <a:ext cx="5440680" cy="758952"/>
          </a:xfrm>
          <a:prstGeom prst="roundRect">
            <a:avLst>
              <a:gd name="adj" fmla="val 7229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544568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Q4.  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 you terminate a process?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4818888"/>
            <a:ext cx="50749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CD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kill PID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1783080"/>
            <a:ext cx="5440680" cy="758952"/>
          </a:xfrm>
          <a:prstGeom prst="roundRect">
            <a:avLst>
              <a:gd name="adj" fmla="val 7229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856232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Q5.  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 you forcefully terminate a process?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46520" y="2130552"/>
            <a:ext cx="50749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CD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kill -9 PID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2679192"/>
            <a:ext cx="5440680" cy="758952"/>
          </a:xfrm>
          <a:prstGeom prst="roundRect">
            <a:avLst>
              <a:gd name="adj" fmla="val 7229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752344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Q6.  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command shows background jobs?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46520" y="3026664"/>
            <a:ext cx="50749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CD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jobs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3575304"/>
            <a:ext cx="5440680" cy="758952"/>
          </a:xfrm>
          <a:prstGeom prst="roundRect">
            <a:avLst>
              <a:gd name="adj" fmla="val 7229"/>
            </a:avLst>
          </a:prstGeom>
          <a:solidFill>
            <a:srgbClr val="262B31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648456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Q7.  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 you bring a background process to the foreground?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3922776"/>
            <a:ext cx="50749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CD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23"/>
          </a:solidFill>
        </p:spPr>
      </p:sp>
      <p:sp>
        <p:nvSpPr>
          <p:cNvPr id="3" name="Text 1"/>
          <p:cNvSpPr/>
          <p:nvPr/>
        </p:nvSpPr>
        <p:spPr>
          <a:xfrm>
            <a:off x="457200" y="54864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99616"/>
            <a:ext cx="201168" cy="201168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5" name="Text 3"/>
          <p:cNvSpPr/>
          <p:nvPr/>
        </p:nvSpPr>
        <p:spPr>
          <a:xfrm>
            <a:off x="914400" y="1408176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Management  </a:t>
            </a:r>
            <a:r>
              <a:rPr lang="en-US" sz="1200" dirty="0">
                <a:solidFill>
                  <a:srgbClr val="8B949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→ Monitoring and controlling running processes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201168" cy="201168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7" name="Text 5"/>
          <p:cNvSpPr/>
          <p:nvPr/>
        </p:nvSpPr>
        <p:spPr>
          <a:xfrm>
            <a:off x="914400" y="1847088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 </a:t>
            </a:r>
            <a:r>
              <a:rPr lang="en-US" sz="1200" dirty="0">
                <a:solidFill>
                  <a:srgbClr val="8B949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→ ps, top, htop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201168" cy="201168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9" name="Text 7"/>
          <p:cNvSpPr/>
          <p:nvPr/>
        </p:nvSpPr>
        <p:spPr>
          <a:xfrm>
            <a:off x="914400" y="2286000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 </a:t>
            </a:r>
            <a:r>
              <a:rPr lang="en-US" sz="1200" dirty="0">
                <a:solidFill>
                  <a:srgbClr val="8B949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→ pgrep, pidof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201168" cy="201168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11" name="Text 9"/>
          <p:cNvSpPr/>
          <p:nvPr/>
        </p:nvSpPr>
        <p:spPr>
          <a:xfrm>
            <a:off x="914400" y="2724912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Stop  </a:t>
            </a:r>
            <a:r>
              <a:rPr lang="en-US" sz="1200" dirty="0">
                <a:solidFill>
                  <a:srgbClr val="8B949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→ kill, kill -9, pkill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55264"/>
            <a:ext cx="201168" cy="201168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13" name="Text 11"/>
          <p:cNvSpPr/>
          <p:nvPr/>
        </p:nvSpPr>
        <p:spPr>
          <a:xfrm>
            <a:off x="914400" y="3163824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Background/Foreground  </a:t>
            </a:r>
            <a:r>
              <a:rPr lang="en-US" sz="1200" dirty="0">
                <a:solidFill>
                  <a:srgbClr val="8B949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→ jobs, fg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94176"/>
            <a:ext cx="201168" cy="201168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15" name="Text 13"/>
          <p:cNvSpPr/>
          <p:nvPr/>
        </p:nvSpPr>
        <p:spPr>
          <a:xfrm>
            <a:off x="914400" y="3602736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Priority  </a:t>
            </a:r>
            <a:r>
              <a:rPr lang="en-US" sz="1200" dirty="0">
                <a:solidFill>
                  <a:srgbClr val="8B949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→ nice, renice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33088"/>
            <a:ext cx="201168" cy="201168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17" name="Text 15"/>
          <p:cNvSpPr/>
          <p:nvPr/>
        </p:nvSpPr>
        <p:spPr>
          <a:xfrm>
            <a:off x="914400" y="4041648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Hierarchy  </a:t>
            </a:r>
            <a:r>
              <a:rPr lang="en-US" sz="1200" dirty="0">
                <a:solidFill>
                  <a:srgbClr val="8B949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→ pstree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63840" y="1463040"/>
            <a:ext cx="3867912" cy="4206240"/>
          </a:xfrm>
          <a:prstGeom prst="roundRect">
            <a:avLst>
              <a:gd name="adj" fmla="val 1891"/>
            </a:avLst>
          </a:prstGeom>
          <a:solidFill>
            <a:srgbClr val="262B3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169164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 GitHub Upload Structure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92440" y="224028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1. Linux Processes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92440" y="274320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2. Process Management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92440" y="324612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3. Linux Services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92440" y="3931920"/>
            <a:ext cx="3383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 structure if you're uploading Day 14 to GitHub.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5943600"/>
            <a:ext cx="7132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Suitable for your Day 14 GitHub Linux Guide and SOC Analyst interview preparation.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14 — Linux Processes, Services &amp; Process Management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12420</Words>
  <Application>WPS Presentation</Application>
  <PresentationFormat>On-screen Show (16:9)</PresentationFormat>
  <Paragraphs>1072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Arial</vt:lpstr>
      <vt:lpstr>SimSun</vt:lpstr>
      <vt:lpstr>Wingdings</vt:lpstr>
      <vt:lpstr>Courier New</vt:lpstr>
      <vt:lpstr>Courier New</vt:lpstr>
      <vt:lpstr>Courier New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hamida majeed</cp:lastModifiedBy>
  <cp:revision>2</cp:revision>
  <dcterms:created xsi:type="dcterms:W3CDTF">2026-08-08T12:58:00Z</dcterms:created>
  <dcterms:modified xsi:type="dcterms:W3CDTF">2026-08-28T13:56:42Z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20CB58CBB3264919B4709F752349BC17_13</vt:lpwstr>
  </property>
  <property fmtid="{D5CDD505-2E9C-101B-9397-08002B2CF9AE}" pid="3" name="KSOProductBuildVer">
    <vt:lpwstr>2057-12.2.0.23206</vt:lpwstr>
  </property>
</Properties>
</file>