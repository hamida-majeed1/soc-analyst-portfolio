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1295C"/>
          </a:solidFill>
          <a:ln/>
        </p:spPr>
      </p:sp>
      <p:sp>
        <p:nvSpPr>
          <p:cNvPr id="3" name="Shape 1"/>
          <p:cNvSpPr/>
          <p:nvPr/>
        </p:nvSpPr>
        <p:spPr>
          <a:xfrm>
            <a:off x="9326880" y="-1463040"/>
            <a:ext cx="4572000" cy="4572000"/>
          </a:xfrm>
          <a:prstGeom prst="ellipse">
            <a:avLst/>
          </a:prstGeom>
          <a:solidFill>
            <a:srgbClr val="065A82">
              <a:alpha val="60000"/>
            </a:srgbClr>
          </a:solidFill>
          <a:ln/>
        </p:spPr>
      </p:sp>
      <p:sp>
        <p:nvSpPr>
          <p:cNvPr id="4" name="Shape 2"/>
          <p:cNvSpPr/>
          <p:nvPr/>
        </p:nvSpPr>
        <p:spPr>
          <a:xfrm>
            <a:off x="-1463040" y="4754880"/>
            <a:ext cx="3657600" cy="3657600"/>
          </a:xfrm>
          <a:prstGeom prst="ellipse">
            <a:avLst/>
          </a:prstGeom>
          <a:solidFill>
            <a:srgbClr val="1C7293">
              <a:alpha val="45000"/>
            </a:srgbClr>
          </a:solidFill>
          <a:ln/>
        </p:spPr>
      </p:sp>
      <p:sp>
        <p:nvSpPr>
          <p:cNvPr id="5" name="Text 3"/>
          <p:cNvSpPr/>
          <p:nvPr/>
        </p:nvSpPr>
        <p:spPr>
          <a:xfrm>
            <a:off x="822960" y="2148840"/>
            <a:ext cx="7315200" cy="365760"/>
          </a:xfrm>
          <a:prstGeom prst="rect">
            <a:avLst/>
          </a:prstGeom>
          <a:noFill/>
          <a:ln/>
        </p:spPr>
        <p:txBody>
          <a:bodyPr wrap="square" rtlCol="0" anchor="ctr"/>
          <a:lstStyle/>
          <a:p>
            <a:pPr indent="0" marL="0">
              <a:buNone/>
            </a:pPr>
            <a:r>
              <a:rPr lang="en-US" sz="1300" b="1" spc="300" kern="0" dirty="0">
                <a:solidFill>
                  <a:srgbClr val="3FC1C9"/>
                </a:solidFill>
                <a:latin typeface="Calibri" pitchFamily="34" charset="0"/>
                <a:ea typeface="Calibri" pitchFamily="34" charset="-122"/>
                <a:cs typeface="Calibri" pitchFamily="34" charset="-120"/>
              </a:rPr>
              <a:t>DAY 08–11  ·  NETWORKING NOTES</a:t>
            </a:r>
            <a:endParaRPr lang="en-US" sz="1300" dirty="0"/>
          </a:p>
        </p:txBody>
      </p:sp>
      <p:sp>
        <p:nvSpPr>
          <p:cNvPr id="6" name="Text 4"/>
          <p:cNvSpPr/>
          <p:nvPr/>
        </p:nvSpPr>
        <p:spPr>
          <a:xfrm>
            <a:off x="777240" y="2514600"/>
            <a:ext cx="9875520" cy="137160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Core Networking Concepts</a:t>
            </a:r>
            <a:endParaRPr lang="en-US" sz="5400" dirty="0"/>
          </a:p>
        </p:txBody>
      </p:sp>
      <p:sp>
        <p:nvSpPr>
          <p:cNvPr id="7" name="Text 5"/>
          <p:cNvSpPr/>
          <p:nvPr/>
        </p:nvSpPr>
        <p:spPr>
          <a:xfrm>
            <a:off x="822960" y="3977640"/>
            <a:ext cx="8686800" cy="822960"/>
          </a:xfrm>
          <a:prstGeom prst="rect">
            <a:avLst/>
          </a:prstGeom>
          <a:noFill/>
          <a:ln/>
        </p:spPr>
        <p:txBody>
          <a:bodyPr wrap="square" rtlCol="0" anchor="ctr"/>
          <a:lstStyle/>
          <a:p>
            <a:pPr indent="0" marL="0">
              <a:buNone/>
            </a:pPr>
            <a:r>
              <a:rPr lang="en-US" sz="1600" i="1" dirty="0">
                <a:solidFill>
                  <a:srgbClr val="CBD9E8"/>
                </a:solidFill>
                <a:latin typeface="Calibri" pitchFamily="34" charset="0"/>
                <a:ea typeface="Calibri" pitchFamily="34" charset="-122"/>
                <a:cs typeface="Calibri" pitchFamily="34" charset="-120"/>
              </a:rPr>
              <a:t>DNS · DHCP · NAT · Gateway — how devices find each other, get addressed, and reach the Internet.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7315200" cy="320040"/>
          </a:xfrm>
          <a:prstGeom prst="rect">
            <a:avLst/>
          </a:prstGeom>
          <a:noFill/>
          <a:ln/>
        </p:spPr>
        <p:txBody>
          <a:bodyPr wrap="square"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DAY 08  ·  DNS</a:t>
            </a:r>
            <a:endParaRPr lang="en-US" sz="1100" dirty="0"/>
          </a:p>
        </p:txBody>
      </p:sp>
      <p:sp>
        <p:nvSpPr>
          <p:cNvPr id="3" name="Text 1"/>
          <p:cNvSpPr/>
          <p:nvPr/>
        </p:nvSpPr>
        <p:spPr>
          <a:xfrm>
            <a:off x="457200" y="594360"/>
            <a:ext cx="9144000" cy="54864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What is it &amp; Why it matters</a:t>
            </a:r>
            <a:endParaRPr lang="en-US" sz="3000" dirty="0"/>
          </a:p>
        </p:txBody>
      </p:sp>
      <p:sp>
        <p:nvSpPr>
          <p:cNvPr id="4" name="Shape 2"/>
          <p:cNvSpPr/>
          <p:nvPr/>
        </p:nvSpPr>
        <p:spPr>
          <a:xfrm>
            <a:off x="457200" y="1417320"/>
            <a:ext cx="5212080" cy="4709160"/>
          </a:xfrm>
          <a:prstGeom prst="roundRect">
            <a:avLst>
              <a:gd name="adj" fmla="val 1553"/>
            </a:avLst>
          </a:prstGeom>
          <a:solidFill>
            <a:srgbClr val="EAF4F8"/>
          </a:solidFill>
          <a:ln/>
        </p:spPr>
      </p:sp>
      <p:sp>
        <p:nvSpPr>
          <p:cNvPr id="5" name="Text 3"/>
          <p:cNvSpPr/>
          <p:nvPr/>
        </p:nvSpPr>
        <p:spPr>
          <a:xfrm>
            <a:off x="731520" y="1645920"/>
            <a:ext cx="4663440" cy="365760"/>
          </a:xfrm>
          <a:prstGeom prst="rect">
            <a:avLst/>
          </a:prstGeom>
          <a:noFill/>
          <a:ln/>
        </p:spPr>
        <p:txBody>
          <a:bodyPr wrap="square" rtlCol="0" anchor="ctr"/>
          <a:lstStyle/>
          <a:p>
            <a:pPr indent="0" marL="0">
              <a:buNone/>
            </a:pPr>
            <a:r>
              <a:rPr lang="en-US" sz="1300" b="1" spc="100" kern="0" dirty="0">
                <a:solidFill>
                  <a:srgbClr val="1C7293"/>
                </a:solidFill>
                <a:latin typeface="Calibri" pitchFamily="34" charset="0"/>
                <a:ea typeface="Calibri" pitchFamily="34" charset="-122"/>
                <a:cs typeface="Calibri" pitchFamily="34" charset="-120"/>
              </a:rPr>
              <a:t>Definition</a:t>
            </a:r>
            <a:endParaRPr lang="en-US" sz="1300" dirty="0"/>
          </a:p>
        </p:txBody>
      </p:sp>
      <p:sp>
        <p:nvSpPr>
          <p:cNvPr id="6" name="Text 4"/>
          <p:cNvSpPr/>
          <p:nvPr/>
        </p:nvSpPr>
        <p:spPr>
          <a:xfrm>
            <a:off x="731520" y="2057400"/>
            <a:ext cx="4663440" cy="3840480"/>
          </a:xfrm>
          <a:prstGeom prst="rect">
            <a:avLst/>
          </a:prstGeom>
          <a:noFill/>
          <a:ln/>
        </p:spPr>
        <p:txBody>
          <a:bodyPr wrap="square" rtlCol="0" anchor="t"/>
          <a:lstStyle/>
          <a:p>
            <a:pPr indent="0" marL="0">
              <a:lnSpc>
                <a:spcPct val="125000"/>
              </a:lnSpc>
              <a:buNone/>
            </a:pPr>
            <a:r>
              <a:rPr lang="en-US" sz="1550" dirty="0">
                <a:solidFill>
                  <a:srgbClr val="1B1B1B"/>
                </a:solidFill>
                <a:latin typeface="Calibri" pitchFamily="34" charset="0"/>
                <a:ea typeface="Calibri" pitchFamily="34" charset="-122"/>
                <a:cs typeface="Calibri" pitchFamily="34" charset="-120"/>
              </a:rPr>
              <a:t>DNS (Domain Name System) is the phonebook of the Internet. It translates domain names (like google.com) into IP addresses (like 142.250.190.78) so computers can communicate with each other.</a:t>
            </a:r>
            <a:endParaRPr lang="en-US" sz="1550" dirty="0"/>
          </a:p>
        </p:txBody>
      </p:sp>
      <p:sp>
        <p:nvSpPr>
          <p:cNvPr id="7" name="Text 5"/>
          <p:cNvSpPr/>
          <p:nvPr/>
        </p:nvSpPr>
        <p:spPr>
          <a:xfrm>
            <a:off x="6035040" y="1463040"/>
            <a:ext cx="5486400" cy="365760"/>
          </a:xfrm>
          <a:prstGeom prst="rect">
            <a:avLst/>
          </a:prstGeom>
          <a:noFill/>
          <a:ln/>
        </p:spPr>
        <p:txBody>
          <a:bodyPr wrap="square" rtlCol="0" anchor="ctr"/>
          <a:lstStyle/>
          <a:p>
            <a:pPr indent="0" marL="0">
              <a:buNone/>
            </a:pPr>
            <a:r>
              <a:rPr lang="en-US" sz="1300" b="1" spc="100" kern="0" dirty="0">
                <a:solidFill>
                  <a:srgbClr val="1C7293"/>
                </a:solidFill>
                <a:latin typeface="Calibri" pitchFamily="34" charset="0"/>
                <a:ea typeface="Calibri" pitchFamily="34" charset="-122"/>
                <a:cs typeface="Calibri" pitchFamily="34" charset="-120"/>
              </a:rPr>
              <a:t>Why it's needed</a:t>
            </a:r>
            <a:endParaRPr lang="en-US" sz="1300" dirty="0"/>
          </a:p>
        </p:txBody>
      </p:sp>
      <p:sp>
        <p:nvSpPr>
          <p:cNvPr id="8" name="Shape 6"/>
          <p:cNvSpPr/>
          <p:nvPr/>
        </p:nvSpPr>
        <p:spPr>
          <a:xfrm>
            <a:off x="6035040" y="1984248"/>
            <a:ext cx="384048" cy="384048"/>
          </a:xfrm>
          <a:prstGeom prst="ellipse">
            <a:avLst/>
          </a:prstGeom>
          <a:solidFill>
            <a:srgbClr val="065A82"/>
          </a:solidFill>
          <a:ln/>
        </p:spPr>
      </p:sp>
      <p:sp>
        <p:nvSpPr>
          <p:cNvPr id="9" name="Text 7"/>
          <p:cNvSpPr/>
          <p:nvPr/>
        </p:nvSpPr>
        <p:spPr>
          <a:xfrm>
            <a:off x="6035040" y="1984248"/>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6583680" y="1920240"/>
            <a:ext cx="4937760" cy="548640"/>
          </a:xfrm>
          <a:prstGeom prst="rect">
            <a:avLst/>
          </a:prstGeom>
          <a:noFill/>
          <a:ln/>
        </p:spPr>
        <p:txBody>
          <a:bodyPr wrap="square" rtlCol="0" anchor="ctr"/>
          <a:lstStyle/>
          <a:p>
            <a:pPr indent="0" marL="0">
              <a:buNone/>
            </a:pPr>
            <a:r>
              <a:rPr lang="en-US" sz="1400" dirty="0">
                <a:solidFill>
                  <a:srgbClr val="1B1B1B"/>
                </a:solidFill>
                <a:latin typeface="Calibri" pitchFamily="34" charset="0"/>
                <a:ea typeface="Calibri" pitchFamily="34" charset="-122"/>
                <a:cs typeface="Calibri" pitchFamily="34" charset="-120"/>
              </a:rPr>
              <a:t>Humans remember names easily (google.com) — computers only understand IP addresses (142.250.190.78).</a:t>
            </a:r>
            <a:endParaRPr lang="en-US" sz="1400" dirty="0"/>
          </a:p>
        </p:txBody>
      </p:sp>
      <p:sp>
        <p:nvSpPr>
          <p:cNvPr id="11" name="Shape 9"/>
          <p:cNvSpPr/>
          <p:nvPr/>
        </p:nvSpPr>
        <p:spPr>
          <a:xfrm>
            <a:off x="6035040" y="2734056"/>
            <a:ext cx="384048" cy="384048"/>
          </a:xfrm>
          <a:prstGeom prst="ellipse">
            <a:avLst/>
          </a:prstGeom>
          <a:solidFill>
            <a:srgbClr val="065A82"/>
          </a:solidFill>
          <a:ln/>
        </p:spPr>
      </p:sp>
      <p:sp>
        <p:nvSpPr>
          <p:cNvPr id="12" name="Text 10"/>
          <p:cNvSpPr/>
          <p:nvPr/>
        </p:nvSpPr>
        <p:spPr>
          <a:xfrm>
            <a:off x="6035040" y="2734056"/>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6583680" y="2670048"/>
            <a:ext cx="4937760" cy="548640"/>
          </a:xfrm>
          <a:prstGeom prst="rect">
            <a:avLst/>
          </a:prstGeom>
          <a:noFill/>
          <a:ln/>
        </p:spPr>
        <p:txBody>
          <a:bodyPr wrap="square" rtlCol="0" anchor="ctr"/>
          <a:lstStyle/>
          <a:p>
            <a:pPr indent="0" marL="0">
              <a:buNone/>
            </a:pPr>
            <a:r>
              <a:rPr lang="en-US" sz="1400" dirty="0">
                <a:solidFill>
                  <a:srgbClr val="1B1B1B"/>
                </a:solidFill>
                <a:latin typeface="Calibri" pitchFamily="34" charset="0"/>
                <a:ea typeface="Calibri" pitchFamily="34" charset="-122"/>
                <a:cs typeface="Calibri" pitchFamily="34" charset="-120"/>
              </a:rPr>
              <a:t>DNS converts names into IP addresses automatically, every time you browse.</a:t>
            </a:r>
            <a:endParaRPr lang="en-US" sz="1400" dirty="0"/>
          </a:p>
        </p:txBody>
      </p:sp>
      <p:sp>
        <p:nvSpPr>
          <p:cNvPr id="14" name="Text 12"/>
          <p:cNvSpPr/>
          <p:nvPr/>
        </p:nvSpPr>
        <p:spPr>
          <a:xfrm>
            <a:off x="11521440" y="6446520"/>
            <a:ext cx="548640" cy="320040"/>
          </a:xfrm>
          <a:prstGeom prst="rect">
            <a:avLst/>
          </a:prstGeom>
          <a:noFill/>
          <a:ln/>
        </p:spPr>
        <p:txBody>
          <a:bodyPr wrap="square" rtlCol="0" anchor="ctr"/>
          <a:lstStyle/>
          <a:p>
            <a:pPr algn="r" indent="0" marL="0">
              <a:buNone/>
            </a:pPr>
            <a:r>
              <a:rPr lang="en-US" sz="1000" dirty="0">
                <a:solidFill>
                  <a:srgbClr val="A9B4BE"/>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7315200" cy="320040"/>
          </a:xfrm>
          <a:prstGeom prst="rect">
            <a:avLst/>
          </a:prstGeom>
          <a:noFill/>
          <a:ln/>
        </p:spPr>
        <p:txBody>
          <a:bodyPr wrap="square"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DAY 08  ·  DNS</a:t>
            </a:r>
            <a:endParaRPr lang="en-US" sz="1100" dirty="0"/>
          </a:p>
        </p:txBody>
      </p:sp>
      <p:sp>
        <p:nvSpPr>
          <p:cNvPr id="3" name="Text 1"/>
          <p:cNvSpPr/>
          <p:nvPr/>
        </p:nvSpPr>
        <p:spPr>
          <a:xfrm>
            <a:off x="457200" y="594360"/>
            <a:ext cx="9601200" cy="54864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How DNS Works</a:t>
            </a:r>
            <a:endParaRPr lang="en-US" sz="3000" dirty="0"/>
          </a:p>
        </p:txBody>
      </p:sp>
      <p:sp>
        <p:nvSpPr>
          <p:cNvPr id="4" name="Shape 2"/>
          <p:cNvSpPr/>
          <p:nvPr/>
        </p:nvSpPr>
        <p:spPr>
          <a:xfrm>
            <a:off x="548640" y="2834640"/>
            <a:ext cx="1524000" cy="1234440"/>
          </a:xfrm>
          <a:prstGeom prst="roundRect">
            <a:avLst>
              <a:gd name="adj" fmla="val 5185"/>
            </a:avLst>
          </a:prstGeom>
          <a:solidFill>
            <a:srgbClr val="065A82"/>
          </a:solidFill>
          <a:ln/>
        </p:spPr>
      </p:sp>
      <p:sp>
        <p:nvSpPr>
          <p:cNvPr id="5" name="Text 3"/>
          <p:cNvSpPr/>
          <p:nvPr/>
        </p:nvSpPr>
        <p:spPr>
          <a:xfrm>
            <a:off x="640080" y="2889504"/>
            <a:ext cx="457200" cy="274320"/>
          </a:xfrm>
          <a:prstGeom prst="rect">
            <a:avLst/>
          </a:prstGeom>
          <a:noFill/>
          <a:ln/>
        </p:spPr>
        <p:txBody>
          <a:bodyPr wrap="square" rtlCol="0" anchor="ctr"/>
          <a:lstStyle/>
          <a:p>
            <a:pPr indent="0" marL="0">
              <a:buNone/>
            </a:pPr>
            <a:r>
              <a:rPr lang="en-US" sz="1100" b="1" dirty="0">
                <a:solidFill>
                  <a:srgbClr val="3FC1C9"/>
                </a:solidFill>
                <a:latin typeface="Calibri" pitchFamily="34" charset="0"/>
                <a:ea typeface="Calibri" pitchFamily="34" charset="-122"/>
                <a:cs typeface="Calibri" pitchFamily="34" charset="-120"/>
              </a:rPr>
              <a:t>1</a:t>
            </a:r>
            <a:endParaRPr lang="en-US" sz="1100" dirty="0"/>
          </a:p>
        </p:txBody>
      </p:sp>
      <p:sp>
        <p:nvSpPr>
          <p:cNvPr id="6" name="Text 4"/>
          <p:cNvSpPr/>
          <p:nvPr/>
        </p:nvSpPr>
        <p:spPr>
          <a:xfrm>
            <a:off x="658368" y="3127248"/>
            <a:ext cx="1304544" cy="850392"/>
          </a:xfrm>
          <a:prstGeom prst="rect">
            <a:avLst/>
          </a:prstGeom>
          <a:noFill/>
          <a:ln/>
        </p:spPr>
        <p:txBody>
          <a:bodyPr wrap="square" rtlCol="0" anchor="t"/>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You type</a:t>
            </a:r>
            <a:endParaRPr lang="en-US" sz="1250" dirty="0"/>
          </a:p>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www.google.com</a:t>
            </a:r>
            <a:endParaRPr lang="en-US" sz="1250" dirty="0"/>
          </a:p>
        </p:txBody>
      </p:sp>
      <p:sp>
        <p:nvSpPr>
          <p:cNvPr id="7" name="Text 5"/>
          <p:cNvSpPr/>
          <p:nvPr/>
        </p:nvSpPr>
        <p:spPr>
          <a:xfrm>
            <a:off x="2072640" y="3177540"/>
            <a:ext cx="320040" cy="548640"/>
          </a:xfrm>
          <a:prstGeom prst="rect">
            <a:avLst/>
          </a:prstGeom>
          <a:noFill/>
          <a:ln/>
        </p:spPr>
        <p:txBody>
          <a:bodyPr wrap="square" rtlCol="0" anchor="ctr"/>
          <a:lstStyle/>
          <a:p>
            <a:pPr algn="ctr" indent="0" marL="0">
              <a:buNone/>
            </a:pPr>
            <a:r>
              <a:rPr lang="en-US" sz="2200" b="1" dirty="0">
                <a:solidFill>
                  <a:srgbClr val="1C7293"/>
                </a:solidFill>
                <a:latin typeface="Calibri" pitchFamily="34" charset="0"/>
                <a:ea typeface="Calibri" pitchFamily="34" charset="-122"/>
                <a:cs typeface="Calibri" pitchFamily="34" charset="-120"/>
              </a:rPr>
              <a:t>→</a:t>
            </a:r>
            <a:endParaRPr lang="en-US" sz="2200" dirty="0"/>
          </a:p>
        </p:txBody>
      </p:sp>
      <p:sp>
        <p:nvSpPr>
          <p:cNvPr id="8" name="Shape 6"/>
          <p:cNvSpPr/>
          <p:nvPr/>
        </p:nvSpPr>
        <p:spPr>
          <a:xfrm>
            <a:off x="2392680" y="2834640"/>
            <a:ext cx="1524000" cy="1234440"/>
          </a:xfrm>
          <a:prstGeom prst="roundRect">
            <a:avLst>
              <a:gd name="adj" fmla="val 5185"/>
            </a:avLst>
          </a:prstGeom>
          <a:solidFill>
            <a:srgbClr val="1C7293"/>
          </a:solidFill>
          <a:ln/>
        </p:spPr>
      </p:sp>
      <p:sp>
        <p:nvSpPr>
          <p:cNvPr id="9" name="Text 7"/>
          <p:cNvSpPr/>
          <p:nvPr/>
        </p:nvSpPr>
        <p:spPr>
          <a:xfrm>
            <a:off x="2484120" y="2889504"/>
            <a:ext cx="457200" cy="274320"/>
          </a:xfrm>
          <a:prstGeom prst="rect">
            <a:avLst/>
          </a:prstGeom>
          <a:noFill/>
          <a:ln/>
        </p:spPr>
        <p:txBody>
          <a:bodyPr wrap="square" rtlCol="0" anchor="ctr"/>
          <a:lstStyle/>
          <a:p>
            <a:pPr indent="0" marL="0">
              <a:buNone/>
            </a:pPr>
            <a:r>
              <a:rPr lang="en-US" sz="1100" b="1" dirty="0">
                <a:solidFill>
                  <a:srgbClr val="3FC1C9"/>
                </a:solidFill>
                <a:latin typeface="Calibri" pitchFamily="34" charset="0"/>
                <a:ea typeface="Calibri" pitchFamily="34" charset="-122"/>
                <a:cs typeface="Calibri" pitchFamily="34" charset="-120"/>
              </a:rPr>
              <a:t>2</a:t>
            </a:r>
            <a:endParaRPr lang="en-US" sz="1100" dirty="0"/>
          </a:p>
        </p:txBody>
      </p:sp>
      <p:sp>
        <p:nvSpPr>
          <p:cNvPr id="10" name="Text 8"/>
          <p:cNvSpPr/>
          <p:nvPr/>
        </p:nvSpPr>
        <p:spPr>
          <a:xfrm>
            <a:off x="2502408" y="3127248"/>
            <a:ext cx="1304544" cy="850392"/>
          </a:xfrm>
          <a:prstGeom prst="rect">
            <a:avLst/>
          </a:prstGeom>
          <a:noFill/>
          <a:ln/>
        </p:spPr>
        <p:txBody>
          <a:bodyPr wrap="square" rtlCol="0" anchor="t"/>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DNS Resolver</a:t>
            </a:r>
            <a:endParaRPr lang="en-US" sz="1250" dirty="0"/>
          </a:p>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(your computer)</a:t>
            </a:r>
            <a:endParaRPr lang="en-US" sz="1250" dirty="0"/>
          </a:p>
        </p:txBody>
      </p:sp>
      <p:sp>
        <p:nvSpPr>
          <p:cNvPr id="11" name="Text 9"/>
          <p:cNvSpPr/>
          <p:nvPr/>
        </p:nvSpPr>
        <p:spPr>
          <a:xfrm>
            <a:off x="3916680" y="3177540"/>
            <a:ext cx="320040" cy="548640"/>
          </a:xfrm>
          <a:prstGeom prst="rect">
            <a:avLst/>
          </a:prstGeom>
          <a:noFill/>
          <a:ln/>
        </p:spPr>
        <p:txBody>
          <a:bodyPr wrap="square" rtlCol="0" anchor="ctr"/>
          <a:lstStyle/>
          <a:p>
            <a:pPr algn="ctr" indent="0" marL="0">
              <a:buNone/>
            </a:pPr>
            <a:r>
              <a:rPr lang="en-US" sz="2200" b="1" dirty="0">
                <a:solidFill>
                  <a:srgbClr val="1C7293"/>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4236720" y="2834640"/>
            <a:ext cx="1524000" cy="1234440"/>
          </a:xfrm>
          <a:prstGeom prst="roundRect">
            <a:avLst>
              <a:gd name="adj" fmla="val 5185"/>
            </a:avLst>
          </a:prstGeom>
          <a:solidFill>
            <a:srgbClr val="065A82"/>
          </a:solidFill>
          <a:ln/>
        </p:spPr>
      </p:sp>
      <p:sp>
        <p:nvSpPr>
          <p:cNvPr id="13" name="Text 11"/>
          <p:cNvSpPr/>
          <p:nvPr/>
        </p:nvSpPr>
        <p:spPr>
          <a:xfrm>
            <a:off x="4328160" y="2889504"/>
            <a:ext cx="457200" cy="274320"/>
          </a:xfrm>
          <a:prstGeom prst="rect">
            <a:avLst/>
          </a:prstGeom>
          <a:noFill/>
          <a:ln/>
        </p:spPr>
        <p:txBody>
          <a:bodyPr wrap="square" rtlCol="0" anchor="ctr"/>
          <a:lstStyle/>
          <a:p>
            <a:pPr indent="0" marL="0">
              <a:buNone/>
            </a:pPr>
            <a:r>
              <a:rPr lang="en-US" sz="1100" b="1" dirty="0">
                <a:solidFill>
                  <a:srgbClr val="3FC1C9"/>
                </a:solidFill>
                <a:latin typeface="Calibri" pitchFamily="34" charset="0"/>
                <a:ea typeface="Calibri" pitchFamily="34" charset="-122"/>
                <a:cs typeface="Calibri" pitchFamily="34" charset="-120"/>
              </a:rPr>
              <a:t>3</a:t>
            </a:r>
            <a:endParaRPr lang="en-US" sz="1100" dirty="0"/>
          </a:p>
        </p:txBody>
      </p:sp>
      <p:sp>
        <p:nvSpPr>
          <p:cNvPr id="14" name="Text 12"/>
          <p:cNvSpPr/>
          <p:nvPr/>
        </p:nvSpPr>
        <p:spPr>
          <a:xfrm>
            <a:off x="4346448" y="3127248"/>
            <a:ext cx="1304544" cy="850392"/>
          </a:xfrm>
          <a:prstGeom prst="rect">
            <a:avLst/>
          </a:prstGeom>
          <a:noFill/>
          <a:ln/>
        </p:spPr>
        <p:txBody>
          <a:bodyPr wrap="square" rtlCol="0" anchor="t"/>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Root DNS</a:t>
            </a:r>
            <a:endParaRPr lang="en-US" sz="1250" dirty="0"/>
          </a:p>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Server</a:t>
            </a:r>
            <a:endParaRPr lang="en-US" sz="1250" dirty="0"/>
          </a:p>
        </p:txBody>
      </p:sp>
      <p:sp>
        <p:nvSpPr>
          <p:cNvPr id="15" name="Text 13"/>
          <p:cNvSpPr/>
          <p:nvPr/>
        </p:nvSpPr>
        <p:spPr>
          <a:xfrm>
            <a:off x="5760720" y="3177540"/>
            <a:ext cx="320040" cy="548640"/>
          </a:xfrm>
          <a:prstGeom prst="rect">
            <a:avLst/>
          </a:prstGeom>
          <a:noFill/>
          <a:ln/>
        </p:spPr>
        <p:txBody>
          <a:bodyPr wrap="square" rtlCol="0" anchor="ctr"/>
          <a:lstStyle/>
          <a:p>
            <a:pPr algn="ctr" indent="0" marL="0">
              <a:buNone/>
            </a:pPr>
            <a:r>
              <a:rPr lang="en-US" sz="2200" b="1" dirty="0">
                <a:solidFill>
                  <a:srgbClr val="1C7293"/>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6080760" y="2834640"/>
            <a:ext cx="1524000" cy="1234440"/>
          </a:xfrm>
          <a:prstGeom prst="roundRect">
            <a:avLst>
              <a:gd name="adj" fmla="val 5185"/>
            </a:avLst>
          </a:prstGeom>
          <a:solidFill>
            <a:srgbClr val="1C7293"/>
          </a:solidFill>
          <a:ln/>
        </p:spPr>
      </p:sp>
      <p:sp>
        <p:nvSpPr>
          <p:cNvPr id="17" name="Text 15"/>
          <p:cNvSpPr/>
          <p:nvPr/>
        </p:nvSpPr>
        <p:spPr>
          <a:xfrm>
            <a:off x="6172200" y="2889504"/>
            <a:ext cx="457200" cy="274320"/>
          </a:xfrm>
          <a:prstGeom prst="rect">
            <a:avLst/>
          </a:prstGeom>
          <a:noFill/>
          <a:ln/>
        </p:spPr>
        <p:txBody>
          <a:bodyPr wrap="square" rtlCol="0" anchor="ctr"/>
          <a:lstStyle/>
          <a:p>
            <a:pPr indent="0" marL="0">
              <a:buNone/>
            </a:pPr>
            <a:r>
              <a:rPr lang="en-US" sz="1100" b="1" dirty="0">
                <a:solidFill>
                  <a:srgbClr val="3FC1C9"/>
                </a:solidFill>
                <a:latin typeface="Calibri" pitchFamily="34" charset="0"/>
                <a:ea typeface="Calibri" pitchFamily="34" charset="-122"/>
                <a:cs typeface="Calibri" pitchFamily="34" charset="-120"/>
              </a:rPr>
              <a:t>4</a:t>
            </a:r>
            <a:endParaRPr lang="en-US" sz="1100" dirty="0"/>
          </a:p>
        </p:txBody>
      </p:sp>
      <p:sp>
        <p:nvSpPr>
          <p:cNvPr id="18" name="Text 16"/>
          <p:cNvSpPr/>
          <p:nvPr/>
        </p:nvSpPr>
        <p:spPr>
          <a:xfrm>
            <a:off x="6190488" y="3127248"/>
            <a:ext cx="1304544" cy="850392"/>
          </a:xfrm>
          <a:prstGeom prst="rect">
            <a:avLst/>
          </a:prstGeom>
          <a:noFill/>
          <a:ln/>
        </p:spPr>
        <p:txBody>
          <a:bodyPr wrap="square" rtlCol="0" anchor="t"/>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TLD Server</a:t>
            </a:r>
            <a:endParaRPr lang="en-US" sz="1250" dirty="0"/>
          </a:p>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(.com)</a:t>
            </a:r>
            <a:endParaRPr lang="en-US" sz="1250" dirty="0"/>
          </a:p>
        </p:txBody>
      </p:sp>
      <p:sp>
        <p:nvSpPr>
          <p:cNvPr id="19" name="Text 17"/>
          <p:cNvSpPr/>
          <p:nvPr/>
        </p:nvSpPr>
        <p:spPr>
          <a:xfrm>
            <a:off x="7604760" y="3177540"/>
            <a:ext cx="320040" cy="548640"/>
          </a:xfrm>
          <a:prstGeom prst="rect">
            <a:avLst/>
          </a:prstGeom>
          <a:noFill/>
          <a:ln/>
        </p:spPr>
        <p:txBody>
          <a:bodyPr wrap="square" rtlCol="0" anchor="ctr"/>
          <a:lstStyle/>
          <a:p>
            <a:pPr algn="ctr" indent="0" marL="0">
              <a:buNone/>
            </a:pPr>
            <a:r>
              <a:rPr lang="en-US" sz="2200" b="1" dirty="0">
                <a:solidFill>
                  <a:srgbClr val="1C7293"/>
                </a:solidFill>
                <a:latin typeface="Calibri" pitchFamily="34" charset="0"/>
                <a:ea typeface="Calibri" pitchFamily="34" charset="-122"/>
                <a:cs typeface="Calibri" pitchFamily="34" charset="-120"/>
              </a:rPr>
              <a:t>→</a:t>
            </a:r>
            <a:endParaRPr lang="en-US" sz="2200" dirty="0"/>
          </a:p>
        </p:txBody>
      </p:sp>
      <p:sp>
        <p:nvSpPr>
          <p:cNvPr id="20" name="Shape 18"/>
          <p:cNvSpPr/>
          <p:nvPr/>
        </p:nvSpPr>
        <p:spPr>
          <a:xfrm>
            <a:off x="7924800" y="2834640"/>
            <a:ext cx="1524000" cy="1234440"/>
          </a:xfrm>
          <a:prstGeom prst="roundRect">
            <a:avLst>
              <a:gd name="adj" fmla="val 5185"/>
            </a:avLst>
          </a:prstGeom>
          <a:solidFill>
            <a:srgbClr val="065A82"/>
          </a:solidFill>
          <a:ln/>
        </p:spPr>
      </p:sp>
      <p:sp>
        <p:nvSpPr>
          <p:cNvPr id="21" name="Text 19"/>
          <p:cNvSpPr/>
          <p:nvPr/>
        </p:nvSpPr>
        <p:spPr>
          <a:xfrm>
            <a:off x="8016240" y="2889504"/>
            <a:ext cx="457200" cy="274320"/>
          </a:xfrm>
          <a:prstGeom prst="rect">
            <a:avLst/>
          </a:prstGeom>
          <a:noFill/>
          <a:ln/>
        </p:spPr>
        <p:txBody>
          <a:bodyPr wrap="square" rtlCol="0" anchor="ctr"/>
          <a:lstStyle/>
          <a:p>
            <a:pPr indent="0" marL="0">
              <a:buNone/>
            </a:pPr>
            <a:r>
              <a:rPr lang="en-US" sz="1100" b="1" dirty="0">
                <a:solidFill>
                  <a:srgbClr val="3FC1C9"/>
                </a:solidFill>
                <a:latin typeface="Calibri" pitchFamily="34" charset="0"/>
                <a:ea typeface="Calibri" pitchFamily="34" charset="-122"/>
                <a:cs typeface="Calibri" pitchFamily="34" charset="-120"/>
              </a:rPr>
              <a:t>5</a:t>
            </a:r>
            <a:endParaRPr lang="en-US" sz="1100" dirty="0"/>
          </a:p>
        </p:txBody>
      </p:sp>
      <p:sp>
        <p:nvSpPr>
          <p:cNvPr id="22" name="Text 20"/>
          <p:cNvSpPr/>
          <p:nvPr/>
        </p:nvSpPr>
        <p:spPr>
          <a:xfrm>
            <a:off x="8034528" y="3127248"/>
            <a:ext cx="1304544" cy="850392"/>
          </a:xfrm>
          <a:prstGeom prst="rect">
            <a:avLst/>
          </a:prstGeom>
          <a:noFill/>
          <a:ln/>
        </p:spPr>
        <p:txBody>
          <a:bodyPr wrap="square" rtlCol="0" anchor="t"/>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Authoritative</a:t>
            </a:r>
            <a:endParaRPr lang="en-US" sz="1250" dirty="0"/>
          </a:p>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DNS Server</a:t>
            </a:r>
            <a:endParaRPr lang="en-US" sz="1250" dirty="0"/>
          </a:p>
        </p:txBody>
      </p:sp>
      <p:sp>
        <p:nvSpPr>
          <p:cNvPr id="23" name="Text 21"/>
          <p:cNvSpPr/>
          <p:nvPr/>
        </p:nvSpPr>
        <p:spPr>
          <a:xfrm>
            <a:off x="9448800" y="3177540"/>
            <a:ext cx="320040" cy="548640"/>
          </a:xfrm>
          <a:prstGeom prst="rect">
            <a:avLst/>
          </a:prstGeom>
          <a:noFill/>
          <a:ln/>
        </p:spPr>
        <p:txBody>
          <a:bodyPr wrap="square" rtlCol="0" anchor="ctr"/>
          <a:lstStyle/>
          <a:p>
            <a:pPr algn="ctr" indent="0" marL="0">
              <a:buNone/>
            </a:pPr>
            <a:r>
              <a:rPr lang="en-US" sz="2200" b="1" dirty="0">
                <a:solidFill>
                  <a:srgbClr val="1C7293"/>
                </a:solidFill>
                <a:latin typeface="Calibri" pitchFamily="34" charset="0"/>
                <a:ea typeface="Calibri" pitchFamily="34" charset="-122"/>
                <a:cs typeface="Calibri" pitchFamily="34" charset="-120"/>
              </a:rPr>
              <a:t>→</a:t>
            </a:r>
            <a:endParaRPr lang="en-US" sz="2200" dirty="0"/>
          </a:p>
        </p:txBody>
      </p:sp>
      <p:sp>
        <p:nvSpPr>
          <p:cNvPr id="24" name="Shape 22"/>
          <p:cNvSpPr/>
          <p:nvPr/>
        </p:nvSpPr>
        <p:spPr>
          <a:xfrm>
            <a:off x="9768840" y="2834640"/>
            <a:ext cx="1524000" cy="1234440"/>
          </a:xfrm>
          <a:prstGeom prst="roundRect">
            <a:avLst>
              <a:gd name="adj" fmla="val 5185"/>
            </a:avLst>
          </a:prstGeom>
          <a:solidFill>
            <a:srgbClr val="1C7293"/>
          </a:solidFill>
          <a:ln/>
        </p:spPr>
      </p:sp>
      <p:sp>
        <p:nvSpPr>
          <p:cNvPr id="25" name="Text 23"/>
          <p:cNvSpPr/>
          <p:nvPr/>
        </p:nvSpPr>
        <p:spPr>
          <a:xfrm>
            <a:off x="9860280" y="2889504"/>
            <a:ext cx="457200" cy="274320"/>
          </a:xfrm>
          <a:prstGeom prst="rect">
            <a:avLst/>
          </a:prstGeom>
          <a:noFill/>
          <a:ln/>
        </p:spPr>
        <p:txBody>
          <a:bodyPr wrap="square" rtlCol="0" anchor="ctr"/>
          <a:lstStyle/>
          <a:p>
            <a:pPr indent="0" marL="0">
              <a:buNone/>
            </a:pPr>
            <a:r>
              <a:rPr lang="en-US" sz="1100" b="1" dirty="0">
                <a:solidFill>
                  <a:srgbClr val="3FC1C9"/>
                </a:solidFill>
                <a:latin typeface="Calibri" pitchFamily="34" charset="0"/>
                <a:ea typeface="Calibri" pitchFamily="34" charset="-122"/>
                <a:cs typeface="Calibri" pitchFamily="34" charset="-120"/>
              </a:rPr>
              <a:t>6</a:t>
            </a:r>
            <a:endParaRPr lang="en-US" sz="1100" dirty="0"/>
          </a:p>
        </p:txBody>
      </p:sp>
      <p:sp>
        <p:nvSpPr>
          <p:cNvPr id="26" name="Text 24"/>
          <p:cNvSpPr/>
          <p:nvPr/>
        </p:nvSpPr>
        <p:spPr>
          <a:xfrm>
            <a:off x="9878568" y="3127248"/>
            <a:ext cx="1304544" cy="850392"/>
          </a:xfrm>
          <a:prstGeom prst="rect">
            <a:avLst/>
          </a:prstGeom>
          <a:noFill/>
          <a:ln/>
        </p:spPr>
        <p:txBody>
          <a:bodyPr wrap="square" rtlCol="0" anchor="t"/>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Browser opens</a:t>
            </a:r>
            <a:endParaRPr lang="en-US" sz="1250" dirty="0"/>
          </a:p>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Google (142.250.190.78)</a:t>
            </a:r>
            <a:endParaRPr lang="en-US" sz="1250" dirty="0"/>
          </a:p>
        </p:txBody>
      </p:sp>
      <p:sp>
        <p:nvSpPr>
          <p:cNvPr id="27" name="Text 25"/>
          <p:cNvSpPr/>
          <p:nvPr/>
        </p:nvSpPr>
        <p:spPr>
          <a:xfrm>
            <a:off x="548640" y="4526280"/>
            <a:ext cx="11064240" cy="1463040"/>
          </a:xfrm>
          <a:prstGeom prst="rect">
            <a:avLst/>
          </a:prstGeom>
          <a:noFill/>
          <a:ln/>
        </p:spPr>
        <p:txBody>
          <a:bodyPr wrap="square" rtlCol="0" anchor="t"/>
          <a:lstStyle/>
          <a:p>
            <a:pPr indent="0" marL="0">
              <a:lnSpc>
                <a:spcPct val="130000"/>
              </a:lnSpc>
              <a:buNone/>
            </a:pPr>
            <a:r>
              <a:rPr lang="en-US" sz="1450" dirty="0">
                <a:solidFill>
                  <a:srgbClr val="1B1B1B"/>
                </a:solidFill>
                <a:latin typeface="Calibri" pitchFamily="34" charset="0"/>
                <a:ea typeface="Calibri" pitchFamily="34" charset="-122"/>
                <a:cs typeface="Calibri" pitchFamily="34" charset="-120"/>
              </a:rPr>
              <a:t>Resolution flow: the resolver checks its cache first; if not found, it asks the Root Server → the Root Server points to the .com TLD server → the TLD server points to Google's Authoritative Server → the Authoritative Server returns the IP → the browser connects.</a:t>
            </a:r>
            <a:endParaRPr lang="en-US" sz="1450" dirty="0"/>
          </a:p>
        </p:txBody>
      </p:sp>
      <p:sp>
        <p:nvSpPr>
          <p:cNvPr id="28" name="Text 26"/>
          <p:cNvSpPr/>
          <p:nvPr/>
        </p:nvSpPr>
        <p:spPr>
          <a:xfrm>
            <a:off x="11521440" y="6446520"/>
            <a:ext cx="548640" cy="320040"/>
          </a:xfrm>
          <a:prstGeom prst="rect">
            <a:avLst/>
          </a:prstGeom>
          <a:noFill/>
          <a:ln/>
        </p:spPr>
        <p:txBody>
          <a:bodyPr wrap="square" rtlCol="0" anchor="ctr"/>
          <a:lstStyle/>
          <a:p>
            <a:pPr algn="r" indent="0" marL="0">
              <a:buNone/>
            </a:pPr>
            <a:r>
              <a:rPr lang="en-US" sz="1000" dirty="0">
                <a:solidFill>
                  <a:srgbClr val="A9B4BE"/>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7315200" cy="320040"/>
          </a:xfrm>
          <a:prstGeom prst="rect">
            <a:avLst/>
          </a:prstGeom>
          <a:noFill/>
          <a:ln/>
        </p:spPr>
        <p:txBody>
          <a:bodyPr wrap="square"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DAY 08  ·  DNS</a:t>
            </a:r>
            <a:endParaRPr lang="en-US" sz="1100" dirty="0"/>
          </a:p>
        </p:txBody>
      </p:sp>
      <p:sp>
        <p:nvSpPr>
          <p:cNvPr id="3" name="Text 1"/>
          <p:cNvSpPr/>
          <p:nvPr/>
        </p:nvSpPr>
        <p:spPr>
          <a:xfrm>
            <a:off x="457200" y="594360"/>
            <a:ext cx="9601200" cy="54864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Types of DNS Servers</a:t>
            </a:r>
            <a:endParaRPr lang="en-US" sz="3000" dirty="0"/>
          </a:p>
        </p:txBody>
      </p:sp>
      <p:sp>
        <p:nvSpPr>
          <p:cNvPr id="4" name="Shape 2"/>
          <p:cNvSpPr/>
          <p:nvPr/>
        </p:nvSpPr>
        <p:spPr>
          <a:xfrm>
            <a:off x="502920" y="1463040"/>
            <a:ext cx="5417820" cy="2377440"/>
          </a:xfrm>
          <a:prstGeom prst="roundRect">
            <a:avLst>
              <a:gd name="adj" fmla="val 3077"/>
            </a:avLst>
          </a:prstGeom>
          <a:solidFill>
            <a:srgbClr val="EAF4F8"/>
          </a:solidFill>
          <a:ln w="12700">
            <a:solidFill>
              <a:srgbClr val="D5E4EE"/>
            </a:solidFill>
            <a:prstDash val="solid"/>
          </a:ln>
        </p:spPr>
      </p:sp>
      <p:sp>
        <p:nvSpPr>
          <p:cNvPr id="5" name="Shape 3"/>
          <p:cNvSpPr/>
          <p:nvPr/>
        </p:nvSpPr>
        <p:spPr>
          <a:xfrm>
            <a:off x="502920" y="1463040"/>
            <a:ext cx="5417820" cy="548640"/>
          </a:xfrm>
          <a:prstGeom prst="rect">
            <a:avLst/>
          </a:prstGeom>
          <a:solidFill>
            <a:srgbClr val="065A82"/>
          </a:solidFill>
          <a:ln/>
        </p:spPr>
      </p:sp>
      <p:sp>
        <p:nvSpPr>
          <p:cNvPr id="6" name="Text 4"/>
          <p:cNvSpPr/>
          <p:nvPr/>
        </p:nvSpPr>
        <p:spPr>
          <a:xfrm>
            <a:off x="640080" y="1463040"/>
            <a:ext cx="5143500" cy="54864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1. Recursive Resolver</a:t>
            </a:r>
            <a:endParaRPr lang="en-US" sz="1350" dirty="0"/>
          </a:p>
        </p:txBody>
      </p:sp>
      <p:sp>
        <p:nvSpPr>
          <p:cNvPr id="7" name="Text 5"/>
          <p:cNvSpPr/>
          <p:nvPr/>
        </p:nvSpPr>
        <p:spPr>
          <a:xfrm>
            <a:off x="685800" y="2148840"/>
            <a:ext cx="5052060" cy="1554480"/>
          </a:xfrm>
          <a:prstGeom prst="rect">
            <a:avLst/>
          </a:prstGeom>
          <a:noFill/>
          <a:ln/>
        </p:spPr>
        <p:txBody>
          <a:bodyPr wrap="square" rtlCol="0" anchor="t"/>
          <a:lstStyle/>
          <a:p>
            <a:pPr marL="342900" indent="-342900">
              <a:spcAft>
                <a:spcPts val="600"/>
              </a:spcAft>
              <a:buSzPct val="100000"/>
              <a:buChar char="•"/>
            </a:pPr>
            <a:r>
              <a:rPr lang="en-US" sz="1250" dirty="0">
                <a:solidFill>
                  <a:srgbClr val="1B1B1B"/>
                </a:solidFill>
                <a:latin typeface="Calibri" pitchFamily="34" charset="0"/>
                <a:ea typeface="Calibri" pitchFamily="34" charset="-122"/>
                <a:cs typeface="Calibri" pitchFamily="34" charset="-120"/>
              </a:rPr>
              <a:t>Receives your DNS request</a:t>
            </a:r>
            <a:endParaRPr lang="en-US" sz="1250" dirty="0"/>
          </a:p>
          <a:p>
            <a:pPr marL="342900" indent="-342900">
              <a:spcAft>
                <a:spcPts val="600"/>
              </a:spcAft>
              <a:buSzPct val="100000"/>
              <a:buChar char="•"/>
            </a:pPr>
            <a:r>
              <a:rPr lang="en-US" sz="1250" dirty="0">
                <a:solidFill>
                  <a:srgbClr val="1B1B1B"/>
                </a:solidFill>
                <a:latin typeface="Calibri" pitchFamily="34" charset="0"/>
                <a:ea typeface="Calibri" pitchFamily="34" charset="-122"/>
                <a:cs typeface="Calibri" pitchFamily="34" charset="-120"/>
              </a:rPr>
              <a:t>Finds the IP address for you</a:t>
            </a:r>
            <a:endParaRPr lang="en-US" sz="1250" dirty="0"/>
          </a:p>
          <a:p>
            <a:pPr marL="342900" indent="-342900">
              <a:spcAft>
                <a:spcPts val="600"/>
              </a:spcAft>
              <a:buSzPct val="100000"/>
              <a:buChar char="•"/>
            </a:pPr>
            <a:r>
              <a:rPr lang="en-US" sz="1250" dirty="0">
                <a:solidFill>
                  <a:srgbClr val="1B1B1B"/>
                </a:solidFill>
                <a:latin typeface="Calibri" pitchFamily="34" charset="0"/>
                <a:ea typeface="Calibri" pitchFamily="34" charset="-122"/>
                <a:cs typeface="Calibri" pitchFamily="34" charset="-120"/>
              </a:rPr>
              <a:t>Usually provided by ISP or public DNS (Google DNS, Cloudflare DNS)</a:t>
            </a:r>
            <a:endParaRPr lang="en-US" sz="1250" dirty="0"/>
          </a:p>
        </p:txBody>
      </p:sp>
      <p:sp>
        <p:nvSpPr>
          <p:cNvPr id="8" name="Shape 6"/>
          <p:cNvSpPr/>
          <p:nvPr/>
        </p:nvSpPr>
        <p:spPr>
          <a:xfrm>
            <a:off x="6240780" y="1463040"/>
            <a:ext cx="5417820" cy="2377440"/>
          </a:xfrm>
          <a:prstGeom prst="roundRect">
            <a:avLst>
              <a:gd name="adj" fmla="val 3077"/>
            </a:avLst>
          </a:prstGeom>
          <a:solidFill>
            <a:srgbClr val="EAF4F8"/>
          </a:solidFill>
          <a:ln w="12700">
            <a:solidFill>
              <a:srgbClr val="D5E4EE"/>
            </a:solidFill>
            <a:prstDash val="solid"/>
          </a:ln>
        </p:spPr>
      </p:sp>
      <p:sp>
        <p:nvSpPr>
          <p:cNvPr id="9" name="Shape 7"/>
          <p:cNvSpPr/>
          <p:nvPr/>
        </p:nvSpPr>
        <p:spPr>
          <a:xfrm>
            <a:off x="6240780" y="1463040"/>
            <a:ext cx="5417820" cy="548640"/>
          </a:xfrm>
          <a:prstGeom prst="rect">
            <a:avLst/>
          </a:prstGeom>
          <a:solidFill>
            <a:srgbClr val="065A82"/>
          </a:solidFill>
          <a:ln/>
        </p:spPr>
      </p:sp>
      <p:sp>
        <p:nvSpPr>
          <p:cNvPr id="10" name="Text 8"/>
          <p:cNvSpPr/>
          <p:nvPr/>
        </p:nvSpPr>
        <p:spPr>
          <a:xfrm>
            <a:off x="6377940" y="1463040"/>
            <a:ext cx="5143500" cy="54864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2. Root DNS Server</a:t>
            </a:r>
            <a:endParaRPr lang="en-US" sz="1350" dirty="0"/>
          </a:p>
        </p:txBody>
      </p:sp>
      <p:sp>
        <p:nvSpPr>
          <p:cNvPr id="11" name="Text 9"/>
          <p:cNvSpPr/>
          <p:nvPr/>
        </p:nvSpPr>
        <p:spPr>
          <a:xfrm>
            <a:off x="6423660" y="2148840"/>
            <a:ext cx="5052060" cy="1554480"/>
          </a:xfrm>
          <a:prstGeom prst="rect">
            <a:avLst/>
          </a:prstGeom>
          <a:noFill/>
          <a:ln/>
        </p:spPr>
        <p:txBody>
          <a:bodyPr wrap="square" rtlCol="0" anchor="t"/>
          <a:lstStyle/>
          <a:p>
            <a:pPr marL="342900" indent="-342900">
              <a:spcAft>
                <a:spcPts val="600"/>
              </a:spcAft>
              <a:buSzPct val="100000"/>
              <a:buChar char="•"/>
            </a:pPr>
            <a:r>
              <a:rPr lang="en-US" sz="1250" dirty="0">
                <a:solidFill>
                  <a:srgbClr val="1B1B1B"/>
                </a:solidFill>
                <a:latin typeface="Calibri" pitchFamily="34" charset="0"/>
                <a:ea typeface="Calibri" pitchFamily="34" charset="-122"/>
                <a:cs typeface="Calibri" pitchFamily="34" charset="-120"/>
              </a:rPr>
              <a:t>Top level of the DNS hierarchy</a:t>
            </a:r>
            <a:endParaRPr lang="en-US" sz="1250" dirty="0"/>
          </a:p>
          <a:p>
            <a:pPr marL="342900" indent="-342900">
              <a:spcAft>
                <a:spcPts val="600"/>
              </a:spcAft>
              <a:buSzPct val="100000"/>
              <a:buChar char="•"/>
            </a:pPr>
            <a:r>
              <a:rPr lang="en-US" sz="1250" dirty="0">
                <a:solidFill>
                  <a:srgbClr val="1B1B1B"/>
                </a:solidFill>
                <a:latin typeface="Calibri" pitchFamily="34" charset="0"/>
                <a:ea typeface="Calibri" pitchFamily="34" charset="-122"/>
                <a:cs typeface="Calibri" pitchFamily="34" charset="-120"/>
              </a:rPr>
              <a:t>Directs queries to the correct TLD server</a:t>
            </a:r>
            <a:endParaRPr lang="en-US" sz="1250" dirty="0"/>
          </a:p>
          <a:p>
            <a:pPr marL="342900" indent="-342900">
              <a:spcAft>
                <a:spcPts val="600"/>
              </a:spcAft>
              <a:buSzPct val="100000"/>
              <a:buChar char="•"/>
            </a:pPr>
            <a:r>
              <a:rPr lang="en-US" sz="1250" dirty="0">
                <a:solidFill>
                  <a:srgbClr val="1B1B1B"/>
                </a:solidFill>
                <a:latin typeface="Calibri" pitchFamily="34" charset="0"/>
                <a:ea typeface="Calibri" pitchFamily="34" charset="-122"/>
                <a:cs typeface="Calibri" pitchFamily="34" charset="-120"/>
              </a:rPr>
              <a:t>13 logical Root Server systems worldwide</a:t>
            </a:r>
            <a:endParaRPr lang="en-US" sz="1250" dirty="0"/>
          </a:p>
        </p:txBody>
      </p:sp>
      <p:sp>
        <p:nvSpPr>
          <p:cNvPr id="12" name="Shape 10"/>
          <p:cNvSpPr/>
          <p:nvPr/>
        </p:nvSpPr>
        <p:spPr>
          <a:xfrm>
            <a:off x="502920" y="4160520"/>
            <a:ext cx="5417820" cy="2377440"/>
          </a:xfrm>
          <a:prstGeom prst="roundRect">
            <a:avLst>
              <a:gd name="adj" fmla="val 3077"/>
            </a:avLst>
          </a:prstGeom>
          <a:solidFill>
            <a:srgbClr val="EAF4F8"/>
          </a:solidFill>
          <a:ln w="12700">
            <a:solidFill>
              <a:srgbClr val="D5E4EE"/>
            </a:solidFill>
            <a:prstDash val="solid"/>
          </a:ln>
        </p:spPr>
      </p:sp>
      <p:sp>
        <p:nvSpPr>
          <p:cNvPr id="13" name="Shape 11"/>
          <p:cNvSpPr/>
          <p:nvPr/>
        </p:nvSpPr>
        <p:spPr>
          <a:xfrm>
            <a:off x="502920" y="4160520"/>
            <a:ext cx="5417820" cy="548640"/>
          </a:xfrm>
          <a:prstGeom prst="rect">
            <a:avLst/>
          </a:prstGeom>
          <a:solidFill>
            <a:srgbClr val="065A82"/>
          </a:solidFill>
          <a:ln/>
        </p:spPr>
      </p:sp>
      <p:sp>
        <p:nvSpPr>
          <p:cNvPr id="14" name="Text 12"/>
          <p:cNvSpPr/>
          <p:nvPr/>
        </p:nvSpPr>
        <p:spPr>
          <a:xfrm>
            <a:off x="640080" y="4160520"/>
            <a:ext cx="5143500" cy="54864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3. TLD Server</a:t>
            </a:r>
            <a:endParaRPr lang="en-US" sz="1350" dirty="0"/>
          </a:p>
        </p:txBody>
      </p:sp>
      <p:sp>
        <p:nvSpPr>
          <p:cNvPr id="15" name="Text 13"/>
          <p:cNvSpPr/>
          <p:nvPr/>
        </p:nvSpPr>
        <p:spPr>
          <a:xfrm>
            <a:off x="685800" y="4846320"/>
            <a:ext cx="5052060" cy="1554480"/>
          </a:xfrm>
          <a:prstGeom prst="rect">
            <a:avLst/>
          </a:prstGeom>
          <a:noFill/>
          <a:ln/>
        </p:spPr>
        <p:txBody>
          <a:bodyPr wrap="square" rtlCol="0" anchor="t"/>
          <a:lstStyle/>
          <a:p>
            <a:pPr marL="342900" indent="-342900">
              <a:spcAft>
                <a:spcPts val="600"/>
              </a:spcAft>
              <a:buSzPct val="100000"/>
              <a:buChar char="•"/>
            </a:pPr>
            <a:r>
              <a:rPr lang="en-US" sz="1250" dirty="0">
                <a:solidFill>
                  <a:srgbClr val="1B1B1B"/>
                </a:solidFill>
                <a:latin typeface="Calibri" pitchFamily="34" charset="0"/>
                <a:ea typeface="Calibri" pitchFamily="34" charset="-122"/>
                <a:cs typeface="Calibri" pitchFamily="34" charset="-120"/>
              </a:rPr>
              <a:t>Handles domain extensions: .com, .org, .net, .edu, .pk</a:t>
            </a:r>
            <a:endParaRPr lang="en-US" sz="1250" dirty="0"/>
          </a:p>
          <a:p>
            <a:pPr marL="342900" indent="-342900">
              <a:spcAft>
                <a:spcPts val="600"/>
              </a:spcAft>
              <a:buSzPct val="100000"/>
              <a:buChar char="•"/>
            </a:pPr>
            <a:r>
              <a:rPr lang="en-US" sz="1250" dirty="0">
                <a:solidFill>
                  <a:srgbClr val="1B1B1B"/>
                </a:solidFill>
                <a:latin typeface="Calibri" pitchFamily="34" charset="0"/>
                <a:ea typeface="Calibri" pitchFamily="34" charset="-122"/>
                <a:cs typeface="Calibri" pitchFamily="34" charset="-120"/>
              </a:rPr>
              <a:t>Knows where the authoritative server is</a:t>
            </a:r>
            <a:endParaRPr lang="en-US" sz="1250" dirty="0"/>
          </a:p>
        </p:txBody>
      </p:sp>
      <p:sp>
        <p:nvSpPr>
          <p:cNvPr id="16" name="Shape 14"/>
          <p:cNvSpPr/>
          <p:nvPr/>
        </p:nvSpPr>
        <p:spPr>
          <a:xfrm>
            <a:off x="6240780" y="4160520"/>
            <a:ext cx="5417820" cy="2377440"/>
          </a:xfrm>
          <a:prstGeom prst="roundRect">
            <a:avLst>
              <a:gd name="adj" fmla="val 3077"/>
            </a:avLst>
          </a:prstGeom>
          <a:solidFill>
            <a:srgbClr val="EAF4F8"/>
          </a:solidFill>
          <a:ln w="12700">
            <a:solidFill>
              <a:srgbClr val="D5E4EE"/>
            </a:solidFill>
            <a:prstDash val="solid"/>
          </a:ln>
        </p:spPr>
      </p:sp>
      <p:sp>
        <p:nvSpPr>
          <p:cNvPr id="17" name="Shape 15"/>
          <p:cNvSpPr/>
          <p:nvPr/>
        </p:nvSpPr>
        <p:spPr>
          <a:xfrm>
            <a:off x="6240780" y="4160520"/>
            <a:ext cx="5417820" cy="548640"/>
          </a:xfrm>
          <a:prstGeom prst="rect">
            <a:avLst/>
          </a:prstGeom>
          <a:solidFill>
            <a:srgbClr val="065A82"/>
          </a:solidFill>
          <a:ln/>
        </p:spPr>
      </p:sp>
      <p:sp>
        <p:nvSpPr>
          <p:cNvPr id="18" name="Text 16"/>
          <p:cNvSpPr/>
          <p:nvPr/>
        </p:nvSpPr>
        <p:spPr>
          <a:xfrm>
            <a:off x="6377940" y="4160520"/>
            <a:ext cx="5143500" cy="54864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4. Authoritative Server</a:t>
            </a:r>
            <a:endParaRPr lang="en-US" sz="1350" dirty="0"/>
          </a:p>
        </p:txBody>
      </p:sp>
      <p:sp>
        <p:nvSpPr>
          <p:cNvPr id="19" name="Text 17"/>
          <p:cNvSpPr/>
          <p:nvPr/>
        </p:nvSpPr>
        <p:spPr>
          <a:xfrm>
            <a:off x="6423660" y="4846320"/>
            <a:ext cx="5052060" cy="1554480"/>
          </a:xfrm>
          <a:prstGeom prst="rect">
            <a:avLst/>
          </a:prstGeom>
          <a:noFill/>
          <a:ln/>
        </p:spPr>
        <p:txBody>
          <a:bodyPr wrap="square" rtlCol="0" anchor="t"/>
          <a:lstStyle/>
          <a:p>
            <a:pPr marL="342900" indent="-342900">
              <a:spcAft>
                <a:spcPts val="600"/>
              </a:spcAft>
              <a:buSzPct val="100000"/>
              <a:buChar char="•"/>
            </a:pPr>
            <a:r>
              <a:rPr lang="en-US" sz="1250" dirty="0">
                <a:solidFill>
                  <a:srgbClr val="1B1B1B"/>
                </a:solidFill>
                <a:latin typeface="Calibri" pitchFamily="34" charset="0"/>
                <a:ea typeface="Calibri" pitchFamily="34" charset="-122"/>
                <a:cs typeface="Calibri" pitchFamily="34" charset="-120"/>
              </a:rPr>
              <a:t>Stores the actual DNS records</a:t>
            </a:r>
            <a:endParaRPr lang="en-US" sz="1250" dirty="0"/>
          </a:p>
          <a:p>
            <a:pPr marL="342900" indent="-342900">
              <a:spcAft>
                <a:spcPts val="600"/>
              </a:spcAft>
              <a:buSzPct val="100000"/>
              <a:buChar char="•"/>
            </a:pPr>
            <a:r>
              <a:rPr lang="en-US" sz="1250" dirty="0">
                <a:solidFill>
                  <a:srgbClr val="1B1B1B"/>
                </a:solidFill>
                <a:latin typeface="Calibri" pitchFamily="34" charset="0"/>
                <a:ea typeface="Calibri" pitchFamily="34" charset="-122"/>
                <a:cs typeface="Calibri" pitchFamily="34" charset="-120"/>
              </a:rPr>
              <a:t>Returns the correct IP address</a:t>
            </a:r>
            <a:endParaRPr lang="en-US" sz="1250" dirty="0"/>
          </a:p>
        </p:txBody>
      </p:sp>
      <p:sp>
        <p:nvSpPr>
          <p:cNvPr id="20" name="Text 18"/>
          <p:cNvSpPr/>
          <p:nvPr/>
        </p:nvSpPr>
        <p:spPr>
          <a:xfrm>
            <a:off x="11521440" y="6446520"/>
            <a:ext cx="548640" cy="320040"/>
          </a:xfrm>
          <a:prstGeom prst="rect">
            <a:avLst/>
          </a:prstGeom>
          <a:noFill/>
          <a:ln/>
        </p:spPr>
        <p:txBody>
          <a:bodyPr wrap="square" rtlCol="0" anchor="ctr"/>
          <a:lstStyle/>
          <a:p>
            <a:pPr algn="r" indent="0" marL="0">
              <a:buNone/>
            </a:pPr>
            <a:r>
              <a:rPr lang="en-US" sz="1000" dirty="0">
                <a:solidFill>
                  <a:srgbClr val="A9B4BE"/>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7315200" cy="320040"/>
          </a:xfrm>
          <a:prstGeom prst="rect">
            <a:avLst/>
          </a:prstGeom>
          <a:noFill/>
          <a:ln/>
        </p:spPr>
        <p:txBody>
          <a:bodyPr wrap="square"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DAY 08  ·  DNS</a:t>
            </a:r>
            <a:endParaRPr lang="en-US" sz="1100" dirty="0"/>
          </a:p>
        </p:txBody>
      </p:sp>
      <p:sp>
        <p:nvSpPr>
          <p:cNvPr id="3" name="Text 1"/>
          <p:cNvSpPr/>
          <p:nvPr/>
        </p:nvSpPr>
        <p:spPr>
          <a:xfrm>
            <a:off x="457200" y="594360"/>
            <a:ext cx="9601200" cy="54864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DNS Records &amp; Port</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508760"/>
          <a:ext cx="6949440" cy="914400"/>
        </p:xfrm>
        <a:graphic>
          <a:graphicData uri="http://schemas.openxmlformats.org/drawingml/2006/table">
            <a:tbl>
              <a:tblPr/>
              <a:tblGrid>
                <a:gridCol w="3474720"/>
                <a:gridCol w="3474720"/>
              </a:tblGrid>
              <a:tr h="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Record</a:t>
                      </a:r>
                      <a:endParaRPr lang="en-US" sz="130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065A82"/>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Purpose</a:t>
                      </a:r>
                      <a:endParaRPr lang="en-US" sz="130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065A82"/>
                    </a:solidFill>
                  </a:tcPr>
                </a:tc>
              </a:tr>
              <a:tr h="0">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A</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Maps domain → IPv4</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AAAA</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EAF4F8"/>
                    </a:solidFill>
                  </a:tcPr>
                </a:tc>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Maps domain → IPv6</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EAF4F8"/>
                    </a:solidFill>
                  </a:tcPr>
                </a:tc>
              </a:tr>
              <a:tr h="0">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CNAME</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Alias of another domain</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MX</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EAF4F8"/>
                    </a:solidFill>
                  </a:tcPr>
                </a:tc>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Mail server</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EAF4F8"/>
                    </a:solidFill>
                  </a:tcPr>
                </a:tc>
              </a:tr>
              <a:tr h="0">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NS</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Name server</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TXT</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EAF4F8"/>
                    </a:solidFill>
                  </a:tcPr>
                </a:tc>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Text info (SPF, verification)</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EAF4F8"/>
                    </a:solidFill>
                  </a:tcPr>
                </a:tc>
              </a:tr>
              <a:tr h="0">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PTR</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Reverse DNS (IP → Domain)</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SOA</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EAF4F8"/>
                    </a:solidFill>
                  </a:tcPr>
                </a:tc>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Start of Authority</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EAF4F8"/>
                    </a:solidFill>
                  </a:tcPr>
                </a:tc>
              </a:tr>
            </a:tbl>
          </a:graphicData>
        </a:graphic>
      </p:graphicFrame>
      <p:sp>
        <p:nvSpPr>
          <p:cNvPr id="5" name="Shape 2"/>
          <p:cNvSpPr/>
          <p:nvPr/>
        </p:nvSpPr>
        <p:spPr>
          <a:xfrm>
            <a:off x="7726680" y="1508760"/>
            <a:ext cx="3931920" cy="4617720"/>
          </a:xfrm>
          <a:prstGeom prst="roundRect">
            <a:avLst>
              <a:gd name="adj" fmla="val 1860"/>
            </a:avLst>
          </a:prstGeom>
          <a:solidFill>
            <a:srgbClr val="21295C"/>
          </a:solidFill>
          <a:ln/>
        </p:spPr>
      </p:sp>
      <p:sp>
        <p:nvSpPr>
          <p:cNvPr id="6" name="Text 3"/>
          <p:cNvSpPr/>
          <p:nvPr/>
        </p:nvSpPr>
        <p:spPr>
          <a:xfrm>
            <a:off x="8001000" y="1737360"/>
            <a:ext cx="3383280" cy="365760"/>
          </a:xfrm>
          <a:prstGeom prst="rect">
            <a:avLst/>
          </a:prstGeom>
          <a:noFill/>
          <a:ln/>
        </p:spPr>
        <p:txBody>
          <a:bodyPr wrap="square" rtlCol="0" anchor="ctr"/>
          <a:lstStyle/>
          <a:p>
            <a:pPr indent="0" marL="0">
              <a:buNone/>
            </a:pPr>
            <a:r>
              <a:rPr lang="en-US" sz="1300" b="1" spc="100" kern="0" dirty="0">
                <a:solidFill>
                  <a:srgbClr val="3FC1C9"/>
                </a:solidFill>
                <a:latin typeface="Calibri" pitchFamily="34" charset="0"/>
                <a:ea typeface="Calibri" pitchFamily="34" charset="-122"/>
                <a:cs typeface="Calibri" pitchFamily="34" charset="-120"/>
              </a:rPr>
              <a:t>COMMANDS &amp; PORT</a:t>
            </a:r>
            <a:endParaRPr lang="en-US" sz="1300" dirty="0"/>
          </a:p>
        </p:txBody>
      </p:sp>
      <p:sp>
        <p:nvSpPr>
          <p:cNvPr id="7" name="Text 4"/>
          <p:cNvSpPr/>
          <p:nvPr/>
        </p:nvSpPr>
        <p:spPr>
          <a:xfrm>
            <a:off x="8001000" y="2194560"/>
            <a:ext cx="3383280" cy="3749040"/>
          </a:xfrm>
          <a:prstGeom prst="rect">
            <a:avLst/>
          </a:prstGeom>
          <a:noFill/>
          <a:ln/>
        </p:spPr>
        <p:txBody>
          <a:bodyPr wrap="square" rtlCol="0" anchor="t"/>
          <a:lstStyle/>
          <a:p>
            <a:pPr indent="0" marL="0">
              <a:spcAft>
                <a:spcPts val="200"/>
              </a:spcAft>
              <a:buNone/>
            </a:pPr>
            <a:r>
              <a:rPr lang="en-US" sz="1200" dirty="0">
                <a:solidFill>
                  <a:srgbClr val="CBD9E8"/>
                </a:solidFill>
              </a:rPr>
              <a:t>Default port:</a:t>
            </a:r>
            <a:endParaRPr lang="en-US" sz="1200" dirty="0"/>
          </a:p>
          <a:p>
            <a:pPr indent="0" marL="0">
              <a:spcAft>
                <a:spcPts val="1400"/>
              </a:spcAft>
              <a:buNone/>
            </a:pPr>
            <a:r>
              <a:rPr lang="en-US" sz="1350" dirty="0">
                <a:solidFill>
                  <a:srgbClr val="3FC1C9"/>
                </a:solidFill>
                <a:latin typeface="Consolas" pitchFamily="34" charset="0"/>
                <a:ea typeface="Consolas" pitchFamily="34" charset="-122"/>
                <a:cs typeface="Consolas" pitchFamily="34" charset="-120"/>
              </a:rPr>
              <a:t>53 (UDP + TCP)</a:t>
            </a:r>
            <a:endParaRPr lang="en-US" sz="1200" dirty="0"/>
          </a:p>
          <a:p>
            <a:pPr indent="0" marL="0">
              <a:spcAft>
                <a:spcPts val="200"/>
              </a:spcAft>
              <a:buNone/>
            </a:pPr>
            <a:r>
              <a:rPr lang="en-US" sz="1200" dirty="0">
                <a:solidFill>
                  <a:srgbClr val="CBD9E8"/>
                </a:solidFill>
              </a:rPr>
              <a:t>Windows — flush cache:</a:t>
            </a:r>
            <a:endParaRPr lang="en-US" sz="1200" dirty="0"/>
          </a:p>
          <a:p>
            <a:pPr indent="0" marL="0">
              <a:spcAft>
                <a:spcPts val="1400"/>
              </a:spcAft>
              <a:buNone/>
            </a:pPr>
            <a:r>
              <a:rPr lang="en-US" sz="1350" dirty="0">
                <a:solidFill>
                  <a:srgbClr val="3FC1C9"/>
                </a:solidFill>
                <a:latin typeface="Consolas" pitchFamily="34" charset="0"/>
                <a:ea typeface="Consolas" pitchFamily="34" charset="-122"/>
                <a:cs typeface="Consolas" pitchFamily="34" charset="-120"/>
              </a:rPr>
              <a:t>ipconfig /flushdns</a:t>
            </a:r>
            <a:endParaRPr lang="en-US" sz="1200" dirty="0"/>
          </a:p>
          <a:p>
            <a:pPr indent="0" marL="0">
              <a:spcAft>
                <a:spcPts val="200"/>
              </a:spcAft>
              <a:buNone/>
            </a:pPr>
            <a:r>
              <a:rPr lang="en-US" sz="1200" dirty="0">
                <a:solidFill>
                  <a:srgbClr val="CBD9E8"/>
                </a:solidFill>
              </a:rPr>
              <a:t>Lookup records:</a:t>
            </a:r>
            <a:endParaRPr lang="en-US" sz="1200" dirty="0"/>
          </a:p>
          <a:p>
            <a:pPr indent="0" marL="0">
              <a:spcAft>
                <a:spcPts val="1400"/>
              </a:spcAft>
              <a:buNone/>
            </a:pPr>
            <a:r>
              <a:rPr lang="en-US" sz="1350" dirty="0">
                <a:solidFill>
                  <a:srgbClr val="3FC1C9"/>
                </a:solidFill>
                <a:latin typeface="Consolas" pitchFamily="34" charset="0"/>
                <a:ea typeface="Consolas" pitchFamily="34" charset="-122"/>
                <a:cs typeface="Consolas" pitchFamily="34" charset="-120"/>
              </a:rPr>
              <a:t>nslookup google.com</a:t>
            </a:r>
            <a:endParaRPr lang="en-US" sz="1200" dirty="0"/>
          </a:p>
          <a:p>
            <a:pPr indent="0" marL="0">
              <a:spcAft>
                <a:spcPts val="200"/>
              </a:spcAft>
              <a:buNone/>
            </a:pPr>
            <a:r>
              <a:rPr lang="en-US" sz="1200" dirty="0">
                <a:solidFill>
                  <a:srgbClr val="CBD9E8"/>
                </a:solidFill>
              </a:rPr>
              <a:t>Linux — alt. lookup:</a:t>
            </a:r>
            <a:endParaRPr lang="en-US" sz="1200" dirty="0"/>
          </a:p>
          <a:p>
            <a:pPr indent="0" marL="0">
              <a:spcAft>
                <a:spcPts val="1400"/>
              </a:spcAft>
              <a:buNone/>
            </a:pPr>
            <a:r>
              <a:rPr lang="en-US" sz="1350" dirty="0">
                <a:solidFill>
                  <a:srgbClr val="3FC1C9"/>
                </a:solidFill>
                <a:latin typeface="Consolas" pitchFamily="34" charset="0"/>
                <a:ea typeface="Consolas" pitchFamily="34" charset="-122"/>
                <a:cs typeface="Consolas" pitchFamily="34" charset="-120"/>
              </a:rPr>
              <a:t>dig google.com</a:t>
            </a:r>
            <a:endParaRPr lang="en-US" sz="1200" dirty="0"/>
          </a:p>
        </p:txBody>
      </p:sp>
      <p:sp>
        <p:nvSpPr>
          <p:cNvPr id="8" name="Text 5"/>
          <p:cNvSpPr/>
          <p:nvPr/>
        </p:nvSpPr>
        <p:spPr>
          <a:xfrm>
            <a:off x="11521440" y="6446520"/>
            <a:ext cx="548640" cy="320040"/>
          </a:xfrm>
          <a:prstGeom prst="rect">
            <a:avLst/>
          </a:prstGeom>
          <a:noFill/>
          <a:ln/>
        </p:spPr>
        <p:txBody>
          <a:bodyPr wrap="square" rtlCol="0" anchor="ctr"/>
          <a:lstStyle/>
          <a:p>
            <a:pPr algn="r" indent="0" marL="0">
              <a:buNone/>
            </a:pPr>
            <a:r>
              <a:rPr lang="en-US" sz="1000" dirty="0">
                <a:solidFill>
                  <a:srgbClr val="A9B4BE"/>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7315200" cy="320040"/>
          </a:xfrm>
          <a:prstGeom prst="rect">
            <a:avLst/>
          </a:prstGeom>
          <a:noFill/>
          <a:ln/>
        </p:spPr>
        <p:txBody>
          <a:bodyPr wrap="square"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DAY 08  ·  DNS</a:t>
            </a:r>
            <a:endParaRPr lang="en-US" sz="1100" dirty="0"/>
          </a:p>
        </p:txBody>
      </p:sp>
      <p:sp>
        <p:nvSpPr>
          <p:cNvPr id="3" name="Text 1"/>
          <p:cNvSpPr/>
          <p:nvPr/>
        </p:nvSpPr>
        <p:spPr>
          <a:xfrm>
            <a:off x="457200" y="594360"/>
            <a:ext cx="9601200" cy="54864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Security &amp; Quick Revision</a:t>
            </a:r>
            <a:endParaRPr lang="en-US" sz="3000" dirty="0"/>
          </a:p>
        </p:txBody>
      </p:sp>
      <p:sp>
        <p:nvSpPr>
          <p:cNvPr id="4" name="Shape 2"/>
          <p:cNvSpPr/>
          <p:nvPr/>
        </p:nvSpPr>
        <p:spPr>
          <a:xfrm>
            <a:off x="502920" y="1508760"/>
            <a:ext cx="5394960" cy="4617720"/>
          </a:xfrm>
          <a:prstGeom prst="roundRect">
            <a:avLst>
              <a:gd name="adj" fmla="val 1584"/>
            </a:avLst>
          </a:prstGeom>
          <a:solidFill>
            <a:srgbClr val="21295C"/>
          </a:solidFill>
          <a:ln/>
        </p:spPr>
      </p:sp>
      <p:sp>
        <p:nvSpPr>
          <p:cNvPr id="5" name="Text 3"/>
          <p:cNvSpPr/>
          <p:nvPr/>
        </p:nvSpPr>
        <p:spPr>
          <a:xfrm>
            <a:off x="777240" y="1737360"/>
            <a:ext cx="4846320" cy="365760"/>
          </a:xfrm>
          <a:prstGeom prst="rect">
            <a:avLst/>
          </a:prstGeom>
          <a:noFill/>
          <a:ln/>
        </p:spPr>
        <p:txBody>
          <a:bodyPr wrap="square" rtlCol="0" anchor="ctr"/>
          <a:lstStyle/>
          <a:p>
            <a:pPr indent="0" marL="0">
              <a:buNone/>
            </a:pPr>
            <a:r>
              <a:rPr lang="en-US" sz="1400" b="1" spc="100" kern="0" dirty="0">
                <a:solidFill>
                  <a:srgbClr val="3FC1C9"/>
                </a:solidFill>
                <a:latin typeface="Calibri" pitchFamily="34" charset="0"/>
                <a:ea typeface="Calibri" pitchFamily="34" charset="-122"/>
                <a:cs typeface="Calibri" pitchFamily="34" charset="-120"/>
              </a:rPr>
              <a:t>DNS IN CYBERSECURITY</a:t>
            </a:r>
            <a:endParaRPr lang="en-US" sz="1400" dirty="0"/>
          </a:p>
        </p:txBody>
      </p:sp>
      <p:sp>
        <p:nvSpPr>
          <p:cNvPr id="6" name="Text 4"/>
          <p:cNvSpPr/>
          <p:nvPr/>
        </p:nvSpPr>
        <p:spPr>
          <a:xfrm>
            <a:off x="822960" y="2194560"/>
            <a:ext cx="4846320" cy="3749040"/>
          </a:xfrm>
          <a:prstGeom prst="rect">
            <a:avLst/>
          </a:prstGeom>
          <a:noFill/>
          <a:ln/>
        </p:spPr>
        <p:txBody>
          <a:bodyPr wrap="square" rtlCol="0" anchor="t"/>
          <a:lstStyle/>
          <a:p>
            <a:pPr marL="342900" indent="-342900">
              <a:spcAft>
                <a:spcPts val="1000"/>
              </a:spcAft>
              <a:buSzPct val="100000"/>
              <a:buChar char="•"/>
            </a:pPr>
            <a:r>
              <a:rPr lang="en-US" sz="1350" dirty="0">
                <a:solidFill>
                  <a:srgbClr val="E7EEF5"/>
                </a:solidFill>
              </a:rPr>
              <a:t>Attackers abuse DNS via: DNS Spoofing, DNS Cache Poisoning, DNS Tunneling, DNS Amplification DDoS Attacks</a:t>
            </a:r>
            <a:endParaRPr lang="en-US" sz="1350" dirty="0"/>
          </a:p>
          <a:p>
            <a:pPr marL="342900" indent="-342900">
              <a:spcAft>
                <a:spcPts val="1000"/>
              </a:spcAft>
              <a:buSzPct val="100000"/>
              <a:buChar char="•"/>
            </a:pPr>
            <a:r>
              <a:rPr lang="en-US" sz="1350" dirty="0">
                <a:solidFill>
                  <a:srgbClr val="E7EEF5"/>
                </a:solidFill>
              </a:rPr>
              <a:t>Blue Team analysts monitor DNS logs to detect suspicious domains and malware communication</a:t>
            </a:r>
            <a:endParaRPr lang="en-US" sz="1350" dirty="0"/>
          </a:p>
        </p:txBody>
      </p:sp>
      <p:sp>
        <p:nvSpPr>
          <p:cNvPr id="7" name="Text 5"/>
          <p:cNvSpPr/>
          <p:nvPr/>
        </p:nvSpPr>
        <p:spPr>
          <a:xfrm>
            <a:off x="6263640" y="1737360"/>
            <a:ext cx="5394960" cy="365760"/>
          </a:xfrm>
          <a:prstGeom prst="rect">
            <a:avLst/>
          </a:prstGeom>
          <a:noFill/>
          <a:ln/>
        </p:spPr>
        <p:txBody>
          <a:bodyPr wrap="square" rtlCol="0" anchor="ctr"/>
          <a:lstStyle/>
          <a:p>
            <a:pPr indent="0" marL="0">
              <a:buNone/>
            </a:pPr>
            <a:r>
              <a:rPr lang="en-US" sz="1400" b="1" spc="100" kern="0" dirty="0">
                <a:solidFill>
                  <a:srgbClr val="1C7293"/>
                </a:solidFill>
                <a:latin typeface="Calibri" pitchFamily="34" charset="0"/>
                <a:ea typeface="Calibri" pitchFamily="34" charset="-122"/>
                <a:cs typeface="Calibri" pitchFamily="34" charset="-120"/>
              </a:rPr>
              <a:t>QUICK REVISION</a:t>
            </a:r>
            <a:endParaRPr lang="en-US" sz="1400" dirty="0"/>
          </a:p>
        </p:txBody>
      </p:sp>
      <p:sp>
        <p:nvSpPr>
          <p:cNvPr id="8" name="Text 6"/>
          <p:cNvSpPr/>
          <p:nvPr/>
        </p:nvSpPr>
        <p:spPr>
          <a:xfrm>
            <a:off x="6309360" y="2194560"/>
            <a:ext cx="5394960" cy="3931920"/>
          </a:xfrm>
          <a:prstGeom prst="rect">
            <a:avLst/>
          </a:prstGeom>
          <a:noFill/>
          <a:ln/>
        </p:spPr>
        <p:txBody>
          <a:bodyPr wrap="square" rtlCol="0" anchor="t"/>
          <a:lstStyle/>
          <a:p>
            <a:pPr marL="342900" indent="-342900">
              <a:spcAft>
                <a:spcPts val="900"/>
              </a:spcAft>
              <a:buSzPct val="100000"/>
              <a:buChar char="•"/>
            </a:pPr>
            <a:r>
              <a:rPr lang="en-US" sz="1350" dirty="0">
                <a:solidFill>
                  <a:srgbClr val="1B1B1B"/>
                </a:solidFill>
              </a:rPr>
              <a:t>DNS = Domain Name System</a:t>
            </a:r>
            <a:endParaRPr lang="en-US" sz="1350" dirty="0"/>
          </a:p>
          <a:p>
            <a:pPr marL="342900" indent="-342900">
              <a:spcAft>
                <a:spcPts val="900"/>
              </a:spcAft>
              <a:buSzPct val="100000"/>
              <a:buChar char="•"/>
            </a:pPr>
            <a:r>
              <a:rPr lang="en-US" sz="1350" dirty="0">
                <a:solidFill>
                  <a:srgbClr val="1B1B1B"/>
                </a:solidFill>
              </a:rPr>
              <a:t>Converts Domain Name → IP Address</a:t>
            </a:r>
            <a:endParaRPr lang="en-US" sz="1350" dirty="0"/>
          </a:p>
          <a:p>
            <a:pPr marL="342900" indent="-342900">
              <a:spcAft>
                <a:spcPts val="900"/>
              </a:spcAft>
              <a:buSzPct val="100000"/>
              <a:buChar char="•"/>
            </a:pPr>
            <a:r>
              <a:rPr lang="en-US" sz="1350" dirty="0">
                <a:solidFill>
                  <a:srgbClr val="1B1B1B"/>
                </a:solidFill>
              </a:rPr>
              <a:t>Default Port = 53</a:t>
            </a:r>
            <a:endParaRPr lang="en-US" sz="1350" dirty="0"/>
          </a:p>
          <a:p>
            <a:pPr marL="342900" indent="-342900">
              <a:spcAft>
                <a:spcPts val="900"/>
              </a:spcAft>
              <a:buSzPct val="100000"/>
              <a:buChar char="•"/>
            </a:pPr>
            <a:r>
              <a:rPr lang="en-US" sz="1350" dirty="0">
                <a:solidFill>
                  <a:srgbClr val="1B1B1B"/>
                </a:solidFill>
              </a:rPr>
              <a:t>Uses UDP (mostly) and TCP (some cases)</a:t>
            </a:r>
            <a:endParaRPr lang="en-US" sz="1350" dirty="0"/>
          </a:p>
          <a:p>
            <a:pPr marL="342900" indent="-342900">
              <a:spcAft>
                <a:spcPts val="900"/>
              </a:spcAft>
              <a:buSzPct val="100000"/>
              <a:buChar char="•"/>
            </a:pPr>
            <a:r>
              <a:rPr lang="en-US" sz="1350" dirty="0">
                <a:solidFill>
                  <a:srgbClr val="1B1B1B"/>
                </a:solidFill>
              </a:rPr>
              <a:t>4 server types: Recursive, Root, TLD, Authoritative</a:t>
            </a:r>
            <a:endParaRPr lang="en-US" sz="1350" dirty="0"/>
          </a:p>
          <a:p>
            <a:pPr marL="342900" indent="-342900">
              <a:spcAft>
                <a:spcPts val="900"/>
              </a:spcAft>
              <a:buSzPct val="100000"/>
              <a:buChar char="•"/>
            </a:pPr>
            <a:r>
              <a:rPr lang="en-US" sz="1350" dirty="0">
                <a:solidFill>
                  <a:srgbClr val="1B1B1B"/>
                </a:solidFill>
              </a:rPr>
              <a:t>8 common records: A, AAAA, CNAME, MX, NS, TXT, PTR, SOA</a:t>
            </a:r>
            <a:endParaRPr lang="en-US" sz="1350" dirty="0"/>
          </a:p>
        </p:txBody>
      </p:sp>
      <p:sp>
        <p:nvSpPr>
          <p:cNvPr id="9" name="Text 7"/>
          <p:cNvSpPr/>
          <p:nvPr/>
        </p:nvSpPr>
        <p:spPr>
          <a:xfrm>
            <a:off x="11521440" y="6446520"/>
            <a:ext cx="548640" cy="320040"/>
          </a:xfrm>
          <a:prstGeom prst="rect">
            <a:avLst/>
          </a:prstGeom>
          <a:noFill/>
          <a:ln/>
        </p:spPr>
        <p:txBody>
          <a:bodyPr wrap="square" rtlCol="0" anchor="ctr"/>
          <a:lstStyle/>
          <a:p>
            <a:pPr algn="r" indent="0" marL="0">
              <a:buNone/>
            </a:pPr>
            <a:r>
              <a:rPr lang="en-US" sz="1000" dirty="0">
                <a:solidFill>
                  <a:srgbClr val="A9B4BE"/>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7315200" cy="320040"/>
          </a:xfrm>
          <a:prstGeom prst="rect">
            <a:avLst/>
          </a:prstGeom>
          <a:noFill/>
          <a:ln/>
        </p:spPr>
        <p:txBody>
          <a:bodyPr wrap="square"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DAY 09  ·  DHCP</a:t>
            </a:r>
            <a:endParaRPr lang="en-US" sz="1100" dirty="0"/>
          </a:p>
        </p:txBody>
      </p:sp>
      <p:sp>
        <p:nvSpPr>
          <p:cNvPr id="3" name="Text 1"/>
          <p:cNvSpPr/>
          <p:nvPr/>
        </p:nvSpPr>
        <p:spPr>
          <a:xfrm>
            <a:off x="457200" y="594360"/>
            <a:ext cx="9144000" cy="54864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What is it &amp; Why it matters</a:t>
            </a:r>
            <a:endParaRPr lang="en-US" sz="3000" dirty="0"/>
          </a:p>
        </p:txBody>
      </p:sp>
      <p:sp>
        <p:nvSpPr>
          <p:cNvPr id="4" name="Shape 2"/>
          <p:cNvSpPr/>
          <p:nvPr/>
        </p:nvSpPr>
        <p:spPr>
          <a:xfrm>
            <a:off x="457200" y="1417320"/>
            <a:ext cx="5212080" cy="4709160"/>
          </a:xfrm>
          <a:prstGeom prst="roundRect">
            <a:avLst>
              <a:gd name="adj" fmla="val 1553"/>
            </a:avLst>
          </a:prstGeom>
          <a:solidFill>
            <a:srgbClr val="EAF4F8"/>
          </a:solidFill>
          <a:ln/>
        </p:spPr>
      </p:sp>
      <p:sp>
        <p:nvSpPr>
          <p:cNvPr id="5" name="Text 3"/>
          <p:cNvSpPr/>
          <p:nvPr/>
        </p:nvSpPr>
        <p:spPr>
          <a:xfrm>
            <a:off x="731520" y="1645920"/>
            <a:ext cx="4663440" cy="365760"/>
          </a:xfrm>
          <a:prstGeom prst="rect">
            <a:avLst/>
          </a:prstGeom>
          <a:noFill/>
          <a:ln/>
        </p:spPr>
        <p:txBody>
          <a:bodyPr wrap="square" rtlCol="0" anchor="ctr"/>
          <a:lstStyle/>
          <a:p>
            <a:pPr indent="0" marL="0">
              <a:buNone/>
            </a:pPr>
            <a:r>
              <a:rPr lang="en-US" sz="1300" b="1" spc="100" kern="0" dirty="0">
                <a:solidFill>
                  <a:srgbClr val="1C7293"/>
                </a:solidFill>
                <a:latin typeface="Calibri" pitchFamily="34" charset="0"/>
                <a:ea typeface="Calibri" pitchFamily="34" charset="-122"/>
                <a:cs typeface="Calibri" pitchFamily="34" charset="-120"/>
              </a:rPr>
              <a:t>Definition</a:t>
            </a:r>
            <a:endParaRPr lang="en-US" sz="1300" dirty="0"/>
          </a:p>
        </p:txBody>
      </p:sp>
      <p:sp>
        <p:nvSpPr>
          <p:cNvPr id="6" name="Text 4"/>
          <p:cNvSpPr/>
          <p:nvPr/>
        </p:nvSpPr>
        <p:spPr>
          <a:xfrm>
            <a:off x="731520" y="2057400"/>
            <a:ext cx="4663440" cy="3840480"/>
          </a:xfrm>
          <a:prstGeom prst="rect">
            <a:avLst/>
          </a:prstGeom>
          <a:noFill/>
          <a:ln/>
        </p:spPr>
        <p:txBody>
          <a:bodyPr wrap="square" rtlCol="0" anchor="t"/>
          <a:lstStyle/>
          <a:p>
            <a:pPr indent="0" marL="0">
              <a:lnSpc>
                <a:spcPct val="125000"/>
              </a:lnSpc>
              <a:buNone/>
            </a:pPr>
            <a:r>
              <a:rPr lang="en-US" sz="1550" dirty="0">
                <a:solidFill>
                  <a:srgbClr val="1B1B1B"/>
                </a:solidFill>
                <a:latin typeface="Calibri" pitchFamily="34" charset="0"/>
                <a:ea typeface="Calibri" pitchFamily="34" charset="-122"/>
                <a:cs typeface="Calibri" pitchFamily="34" charset="-120"/>
              </a:rPr>
              <a:t>DHCP (Dynamic Host Configuration Protocol) is a network protocol that automatically assigns IP addresses and other network settings to devices when they join a network.</a:t>
            </a:r>
            <a:endParaRPr lang="en-US" sz="1550" dirty="0"/>
          </a:p>
        </p:txBody>
      </p:sp>
      <p:sp>
        <p:nvSpPr>
          <p:cNvPr id="7" name="Text 5"/>
          <p:cNvSpPr/>
          <p:nvPr/>
        </p:nvSpPr>
        <p:spPr>
          <a:xfrm>
            <a:off x="6035040" y="1463040"/>
            <a:ext cx="5486400" cy="365760"/>
          </a:xfrm>
          <a:prstGeom prst="rect">
            <a:avLst/>
          </a:prstGeom>
          <a:noFill/>
          <a:ln/>
        </p:spPr>
        <p:txBody>
          <a:bodyPr wrap="square" rtlCol="0" anchor="ctr"/>
          <a:lstStyle/>
          <a:p>
            <a:pPr indent="0" marL="0">
              <a:buNone/>
            </a:pPr>
            <a:r>
              <a:rPr lang="en-US" sz="1300" b="1" spc="100" kern="0" dirty="0">
                <a:solidFill>
                  <a:srgbClr val="1C7293"/>
                </a:solidFill>
                <a:latin typeface="Calibri" pitchFamily="34" charset="0"/>
                <a:ea typeface="Calibri" pitchFamily="34" charset="-122"/>
                <a:cs typeface="Calibri" pitchFamily="34" charset="-120"/>
              </a:rPr>
              <a:t>Why it's needed</a:t>
            </a:r>
            <a:endParaRPr lang="en-US" sz="1300" dirty="0"/>
          </a:p>
        </p:txBody>
      </p:sp>
      <p:sp>
        <p:nvSpPr>
          <p:cNvPr id="8" name="Shape 6"/>
          <p:cNvSpPr/>
          <p:nvPr/>
        </p:nvSpPr>
        <p:spPr>
          <a:xfrm>
            <a:off x="6035040" y="1984248"/>
            <a:ext cx="384048" cy="384048"/>
          </a:xfrm>
          <a:prstGeom prst="ellipse">
            <a:avLst/>
          </a:prstGeom>
          <a:solidFill>
            <a:srgbClr val="065A82"/>
          </a:solidFill>
          <a:ln/>
        </p:spPr>
      </p:sp>
      <p:sp>
        <p:nvSpPr>
          <p:cNvPr id="9" name="Text 7"/>
          <p:cNvSpPr/>
          <p:nvPr/>
        </p:nvSpPr>
        <p:spPr>
          <a:xfrm>
            <a:off x="6035040" y="1984248"/>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6583680" y="1920240"/>
            <a:ext cx="4937760" cy="548640"/>
          </a:xfrm>
          <a:prstGeom prst="rect">
            <a:avLst/>
          </a:prstGeom>
          <a:noFill/>
          <a:ln/>
        </p:spPr>
        <p:txBody>
          <a:bodyPr wrap="square" rtlCol="0" anchor="ctr"/>
          <a:lstStyle/>
          <a:p>
            <a:pPr indent="0" marL="0">
              <a:buNone/>
            </a:pPr>
            <a:r>
              <a:rPr lang="en-US" sz="1400" dirty="0">
                <a:solidFill>
                  <a:srgbClr val="1B1B1B"/>
                </a:solidFill>
                <a:latin typeface="Calibri" pitchFamily="34" charset="0"/>
                <a:ea typeface="Calibri" pitchFamily="34" charset="-122"/>
                <a:cs typeface="Calibri" pitchFamily="34" charset="-120"/>
              </a:rPr>
              <a:t>Without DHCP, every device's IP, subnet mask, gateway and DNS server must be entered manually.</a:t>
            </a:r>
            <a:endParaRPr lang="en-US" sz="1400" dirty="0"/>
          </a:p>
        </p:txBody>
      </p:sp>
      <p:sp>
        <p:nvSpPr>
          <p:cNvPr id="11" name="Shape 9"/>
          <p:cNvSpPr/>
          <p:nvPr/>
        </p:nvSpPr>
        <p:spPr>
          <a:xfrm>
            <a:off x="6035040" y="2734056"/>
            <a:ext cx="384048" cy="384048"/>
          </a:xfrm>
          <a:prstGeom prst="ellipse">
            <a:avLst/>
          </a:prstGeom>
          <a:solidFill>
            <a:srgbClr val="065A82"/>
          </a:solidFill>
          <a:ln/>
        </p:spPr>
      </p:sp>
      <p:sp>
        <p:nvSpPr>
          <p:cNvPr id="12" name="Text 10"/>
          <p:cNvSpPr/>
          <p:nvPr/>
        </p:nvSpPr>
        <p:spPr>
          <a:xfrm>
            <a:off x="6035040" y="2734056"/>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6583680" y="2670048"/>
            <a:ext cx="4937760" cy="548640"/>
          </a:xfrm>
          <a:prstGeom prst="rect">
            <a:avLst/>
          </a:prstGeom>
          <a:noFill/>
          <a:ln/>
        </p:spPr>
        <p:txBody>
          <a:bodyPr wrap="square" rtlCol="0" anchor="ctr"/>
          <a:lstStyle/>
          <a:p>
            <a:pPr indent="0" marL="0">
              <a:buNone/>
            </a:pPr>
            <a:r>
              <a:rPr lang="en-US" sz="1400" dirty="0">
                <a:solidFill>
                  <a:srgbClr val="1B1B1B"/>
                </a:solidFill>
                <a:latin typeface="Calibri" pitchFamily="34" charset="0"/>
                <a:ea typeface="Calibri" pitchFamily="34" charset="-122"/>
                <a:cs typeface="Calibri" pitchFamily="34" charset="-120"/>
              </a:rPr>
              <a:t>In a company with 500 computers, manual setup means more errors, duplicate IPs, and wasted time.</a:t>
            </a:r>
            <a:endParaRPr lang="en-US" sz="1400" dirty="0"/>
          </a:p>
        </p:txBody>
      </p:sp>
      <p:sp>
        <p:nvSpPr>
          <p:cNvPr id="14" name="Shape 12"/>
          <p:cNvSpPr/>
          <p:nvPr/>
        </p:nvSpPr>
        <p:spPr>
          <a:xfrm>
            <a:off x="6035040" y="3483864"/>
            <a:ext cx="384048" cy="384048"/>
          </a:xfrm>
          <a:prstGeom prst="ellipse">
            <a:avLst/>
          </a:prstGeom>
          <a:solidFill>
            <a:srgbClr val="065A82"/>
          </a:solidFill>
          <a:ln/>
        </p:spPr>
      </p:sp>
      <p:sp>
        <p:nvSpPr>
          <p:cNvPr id="15" name="Text 13"/>
          <p:cNvSpPr/>
          <p:nvPr/>
        </p:nvSpPr>
        <p:spPr>
          <a:xfrm>
            <a:off x="6035040" y="3483864"/>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p:nvPr/>
        </p:nvSpPr>
        <p:spPr>
          <a:xfrm>
            <a:off x="6583680" y="3419856"/>
            <a:ext cx="4937760" cy="548640"/>
          </a:xfrm>
          <a:prstGeom prst="rect">
            <a:avLst/>
          </a:prstGeom>
          <a:noFill/>
          <a:ln/>
        </p:spPr>
        <p:txBody>
          <a:bodyPr wrap="square" rtlCol="0" anchor="ctr"/>
          <a:lstStyle/>
          <a:p>
            <a:pPr indent="0" marL="0">
              <a:buNone/>
            </a:pPr>
            <a:r>
              <a:rPr lang="en-US" sz="1400" dirty="0">
                <a:solidFill>
                  <a:srgbClr val="1B1B1B"/>
                </a:solidFill>
                <a:latin typeface="Calibri" pitchFamily="34" charset="0"/>
                <a:ea typeface="Calibri" pitchFamily="34" charset="-122"/>
                <a:cs typeface="Calibri" pitchFamily="34" charset="-120"/>
              </a:rPr>
              <a:t>DHCP gives faster setup, easier management, and fewer configuration errors.</a:t>
            </a:r>
            <a:endParaRPr lang="en-US" sz="1400" dirty="0"/>
          </a:p>
        </p:txBody>
      </p:sp>
      <p:sp>
        <p:nvSpPr>
          <p:cNvPr id="17" name="Text 15"/>
          <p:cNvSpPr/>
          <p:nvPr/>
        </p:nvSpPr>
        <p:spPr>
          <a:xfrm>
            <a:off x="11521440" y="6446520"/>
            <a:ext cx="548640" cy="320040"/>
          </a:xfrm>
          <a:prstGeom prst="rect">
            <a:avLst/>
          </a:prstGeom>
          <a:noFill/>
          <a:ln/>
        </p:spPr>
        <p:txBody>
          <a:bodyPr wrap="square" rtlCol="0" anchor="ctr"/>
          <a:lstStyle/>
          <a:p>
            <a:pPr algn="r" indent="0" marL="0">
              <a:buNone/>
            </a:pPr>
            <a:r>
              <a:rPr lang="en-US" sz="1000" dirty="0">
                <a:solidFill>
                  <a:srgbClr val="A9B4BE"/>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7315200" cy="320040"/>
          </a:xfrm>
          <a:prstGeom prst="rect">
            <a:avLst/>
          </a:prstGeom>
          <a:noFill/>
          <a:ln/>
        </p:spPr>
        <p:txBody>
          <a:bodyPr wrap="square"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DAY 09  ·  DHCP</a:t>
            </a:r>
            <a:endParaRPr lang="en-US" sz="1100" dirty="0"/>
          </a:p>
        </p:txBody>
      </p:sp>
      <p:sp>
        <p:nvSpPr>
          <p:cNvPr id="3" name="Text 1"/>
          <p:cNvSpPr/>
          <p:nvPr/>
        </p:nvSpPr>
        <p:spPr>
          <a:xfrm>
            <a:off x="457200" y="594360"/>
            <a:ext cx="9601200" cy="54864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DHCP Process — DORA</a:t>
            </a:r>
            <a:endParaRPr lang="en-US" sz="3000" dirty="0"/>
          </a:p>
        </p:txBody>
      </p:sp>
      <p:sp>
        <p:nvSpPr>
          <p:cNvPr id="4" name="Shape 2"/>
          <p:cNvSpPr/>
          <p:nvPr/>
        </p:nvSpPr>
        <p:spPr>
          <a:xfrm>
            <a:off x="548640" y="2834640"/>
            <a:ext cx="2446020" cy="1234440"/>
          </a:xfrm>
          <a:prstGeom prst="roundRect">
            <a:avLst>
              <a:gd name="adj" fmla="val 5185"/>
            </a:avLst>
          </a:prstGeom>
          <a:solidFill>
            <a:srgbClr val="065A82"/>
          </a:solidFill>
          <a:ln/>
        </p:spPr>
      </p:sp>
      <p:sp>
        <p:nvSpPr>
          <p:cNvPr id="5" name="Text 3"/>
          <p:cNvSpPr/>
          <p:nvPr/>
        </p:nvSpPr>
        <p:spPr>
          <a:xfrm>
            <a:off x="640080" y="2889504"/>
            <a:ext cx="457200" cy="274320"/>
          </a:xfrm>
          <a:prstGeom prst="rect">
            <a:avLst/>
          </a:prstGeom>
          <a:noFill/>
          <a:ln/>
        </p:spPr>
        <p:txBody>
          <a:bodyPr wrap="square" rtlCol="0" anchor="ctr"/>
          <a:lstStyle/>
          <a:p>
            <a:pPr indent="0" marL="0">
              <a:buNone/>
            </a:pPr>
            <a:r>
              <a:rPr lang="en-US" sz="1100" b="1" dirty="0">
                <a:solidFill>
                  <a:srgbClr val="3FC1C9"/>
                </a:solidFill>
                <a:latin typeface="Calibri" pitchFamily="34" charset="0"/>
                <a:ea typeface="Calibri" pitchFamily="34" charset="-122"/>
                <a:cs typeface="Calibri" pitchFamily="34" charset="-120"/>
              </a:rPr>
              <a:t>1</a:t>
            </a:r>
            <a:endParaRPr lang="en-US" sz="1100" dirty="0"/>
          </a:p>
        </p:txBody>
      </p:sp>
      <p:sp>
        <p:nvSpPr>
          <p:cNvPr id="6" name="Text 4"/>
          <p:cNvSpPr/>
          <p:nvPr/>
        </p:nvSpPr>
        <p:spPr>
          <a:xfrm>
            <a:off x="658368" y="3127248"/>
            <a:ext cx="2226564" cy="850392"/>
          </a:xfrm>
          <a:prstGeom prst="rect">
            <a:avLst/>
          </a:prstGeom>
          <a:noFill/>
          <a:ln/>
        </p:spPr>
        <p:txBody>
          <a:bodyPr wrap="square" rtlCol="0" anchor="t"/>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1. Discover</a:t>
            </a:r>
            <a:endParaRPr lang="en-US" sz="1250" dirty="0"/>
          </a:p>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Client broadcasts:</a:t>
            </a:r>
            <a:endParaRPr lang="en-US" sz="1250" dirty="0"/>
          </a:p>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"Is there any DHCP Server?"</a:t>
            </a:r>
            <a:endParaRPr lang="en-US" sz="1250" dirty="0"/>
          </a:p>
        </p:txBody>
      </p:sp>
      <p:sp>
        <p:nvSpPr>
          <p:cNvPr id="7" name="Text 5"/>
          <p:cNvSpPr/>
          <p:nvPr/>
        </p:nvSpPr>
        <p:spPr>
          <a:xfrm>
            <a:off x="2994660" y="3177540"/>
            <a:ext cx="320040" cy="548640"/>
          </a:xfrm>
          <a:prstGeom prst="rect">
            <a:avLst/>
          </a:prstGeom>
          <a:noFill/>
          <a:ln/>
        </p:spPr>
        <p:txBody>
          <a:bodyPr wrap="square" rtlCol="0" anchor="ctr"/>
          <a:lstStyle/>
          <a:p>
            <a:pPr algn="ctr" indent="0" marL="0">
              <a:buNone/>
            </a:pPr>
            <a:r>
              <a:rPr lang="en-US" sz="2200" b="1" dirty="0">
                <a:solidFill>
                  <a:srgbClr val="1C7293"/>
                </a:solidFill>
                <a:latin typeface="Calibri" pitchFamily="34" charset="0"/>
                <a:ea typeface="Calibri" pitchFamily="34" charset="-122"/>
                <a:cs typeface="Calibri" pitchFamily="34" charset="-120"/>
              </a:rPr>
              <a:t>→</a:t>
            </a:r>
            <a:endParaRPr lang="en-US" sz="2200" dirty="0"/>
          </a:p>
        </p:txBody>
      </p:sp>
      <p:sp>
        <p:nvSpPr>
          <p:cNvPr id="8" name="Shape 6"/>
          <p:cNvSpPr/>
          <p:nvPr/>
        </p:nvSpPr>
        <p:spPr>
          <a:xfrm>
            <a:off x="3314700" y="2834640"/>
            <a:ext cx="2446020" cy="1234440"/>
          </a:xfrm>
          <a:prstGeom prst="roundRect">
            <a:avLst>
              <a:gd name="adj" fmla="val 5185"/>
            </a:avLst>
          </a:prstGeom>
          <a:solidFill>
            <a:srgbClr val="1C7293"/>
          </a:solidFill>
          <a:ln/>
        </p:spPr>
      </p:sp>
      <p:sp>
        <p:nvSpPr>
          <p:cNvPr id="9" name="Text 7"/>
          <p:cNvSpPr/>
          <p:nvPr/>
        </p:nvSpPr>
        <p:spPr>
          <a:xfrm>
            <a:off x="3406140" y="2889504"/>
            <a:ext cx="457200" cy="274320"/>
          </a:xfrm>
          <a:prstGeom prst="rect">
            <a:avLst/>
          </a:prstGeom>
          <a:noFill/>
          <a:ln/>
        </p:spPr>
        <p:txBody>
          <a:bodyPr wrap="square" rtlCol="0" anchor="ctr"/>
          <a:lstStyle/>
          <a:p>
            <a:pPr indent="0" marL="0">
              <a:buNone/>
            </a:pPr>
            <a:r>
              <a:rPr lang="en-US" sz="1100" b="1" dirty="0">
                <a:solidFill>
                  <a:srgbClr val="3FC1C9"/>
                </a:solidFill>
                <a:latin typeface="Calibri" pitchFamily="34" charset="0"/>
                <a:ea typeface="Calibri" pitchFamily="34" charset="-122"/>
                <a:cs typeface="Calibri" pitchFamily="34" charset="-120"/>
              </a:rPr>
              <a:t>2</a:t>
            </a:r>
            <a:endParaRPr lang="en-US" sz="1100" dirty="0"/>
          </a:p>
        </p:txBody>
      </p:sp>
      <p:sp>
        <p:nvSpPr>
          <p:cNvPr id="10" name="Text 8"/>
          <p:cNvSpPr/>
          <p:nvPr/>
        </p:nvSpPr>
        <p:spPr>
          <a:xfrm>
            <a:off x="3424428" y="3127248"/>
            <a:ext cx="2226564" cy="850392"/>
          </a:xfrm>
          <a:prstGeom prst="rect">
            <a:avLst/>
          </a:prstGeom>
          <a:noFill/>
          <a:ln/>
        </p:spPr>
        <p:txBody>
          <a:bodyPr wrap="square" rtlCol="0" anchor="t"/>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2. Offer</a:t>
            </a:r>
            <a:endParaRPr lang="en-US" sz="1250" dirty="0"/>
          </a:p>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Server replies:</a:t>
            </a:r>
            <a:endParaRPr lang="en-US" sz="1250" dirty="0"/>
          </a:p>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"I can give you 192.168.1.100"</a:t>
            </a:r>
            <a:endParaRPr lang="en-US" sz="1250" dirty="0"/>
          </a:p>
        </p:txBody>
      </p:sp>
      <p:sp>
        <p:nvSpPr>
          <p:cNvPr id="11" name="Text 9"/>
          <p:cNvSpPr/>
          <p:nvPr/>
        </p:nvSpPr>
        <p:spPr>
          <a:xfrm>
            <a:off x="5760720" y="3177540"/>
            <a:ext cx="320040" cy="548640"/>
          </a:xfrm>
          <a:prstGeom prst="rect">
            <a:avLst/>
          </a:prstGeom>
          <a:noFill/>
          <a:ln/>
        </p:spPr>
        <p:txBody>
          <a:bodyPr wrap="square" rtlCol="0" anchor="ctr"/>
          <a:lstStyle/>
          <a:p>
            <a:pPr algn="ctr" indent="0" marL="0">
              <a:buNone/>
            </a:pPr>
            <a:r>
              <a:rPr lang="en-US" sz="2200" b="1" dirty="0">
                <a:solidFill>
                  <a:srgbClr val="1C7293"/>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6080760" y="2834640"/>
            <a:ext cx="2446020" cy="1234440"/>
          </a:xfrm>
          <a:prstGeom prst="roundRect">
            <a:avLst>
              <a:gd name="adj" fmla="val 5185"/>
            </a:avLst>
          </a:prstGeom>
          <a:solidFill>
            <a:srgbClr val="065A82"/>
          </a:solidFill>
          <a:ln/>
        </p:spPr>
      </p:sp>
      <p:sp>
        <p:nvSpPr>
          <p:cNvPr id="13" name="Text 11"/>
          <p:cNvSpPr/>
          <p:nvPr/>
        </p:nvSpPr>
        <p:spPr>
          <a:xfrm>
            <a:off x="6172200" y="2889504"/>
            <a:ext cx="457200" cy="274320"/>
          </a:xfrm>
          <a:prstGeom prst="rect">
            <a:avLst/>
          </a:prstGeom>
          <a:noFill/>
          <a:ln/>
        </p:spPr>
        <p:txBody>
          <a:bodyPr wrap="square" rtlCol="0" anchor="ctr"/>
          <a:lstStyle/>
          <a:p>
            <a:pPr indent="0" marL="0">
              <a:buNone/>
            </a:pPr>
            <a:r>
              <a:rPr lang="en-US" sz="1100" b="1" dirty="0">
                <a:solidFill>
                  <a:srgbClr val="3FC1C9"/>
                </a:solidFill>
                <a:latin typeface="Calibri" pitchFamily="34" charset="0"/>
                <a:ea typeface="Calibri" pitchFamily="34" charset="-122"/>
                <a:cs typeface="Calibri" pitchFamily="34" charset="-120"/>
              </a:rPr>
              <a:t>3</a:t>
            </a:r>
            <a:endParaRPr lang="en-US" sz="1100" dirty="0"/>
          </a:p>
        </p:txBody>
      </p:sp>
      <p:sp>
        <p:nvSpPr>
          <p:cNvPr id="14" name="Text 12"/>
          <p:cNvSpPr/>
          <p:nvPr/>
        </p:nvSpPr>
        <p:spPr>
          <a:xfrm>
            <a:off x="6190488" y="3127248"/>
            <a:ext cx="2226564" cy="850392"/>
          </a:xfrm>
          <a:prstGeom prst="rect">
            <a:avLst/>
          </a:prstGeom>
          <a:noFill/>
          <a:ln/>
        </p:spPr>
        <p:txBody>
          <a:bodyPr wrap="square" rtlCol="0" anchor="t"/>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3. Request</a:t>
            </a:r>
            <a:endParaRPr lang="en-US" sz="1250" dirty="0"/>
          </a:p>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Client responds:</a:t>
            </a:r>
            <a:endParaRPr lang="en-US" sz="1250" dirty="0"/>
          </a:p>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"I accept that IP address"</a:t>
            </a:r>
            <a:endParaRPr lang="en-US" sz="1250" dirty="0"/>
          </a:p>
        </p:txBody>
      </p:sp>
      <p:sp>
        <p:nvSpPr>
          <p:cNvPr id="15" name="Text 13"/>
          <p:cNvSpPr/>
          <p:nvPr/>
        </p:nvSpPr>
        <p:spPr>
          <a:xfrm>
            <a:off x="8526780" y="3177540"/>
            <a:ext cx="320040" cy="548640"/>
          </a:xfrm>
          <a:prstGeom prst="rect">
            <a:avLst/>
          </a:prstGeom>
          <a:noFill/>
          <a:ln/>
        </p:spPr>
        <p:txBody>
          <a:bodyPr wrap="square" rtlCol="0" anchor="ctr"/>
          <a:lstStyle/>
          <a:p>
            <a:pPr algn="ctr" indent="0" marL="0">
              <a:buNone/>
            </a:pPr>
            <a:r>
              <a:rPr lang="en-US" sz="2200" b="1" dirty="0">
                <a:solidFill>
                  <a:srgbClr val="1C7293"/>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8846820" y="2834640"/>
            <a:ext cx="2446020" cy="1234440"/>
          </a:xfrm>
          <a:prstGeom prst="roundRect">
            <a:avLst>
              <a:gd name="adj" fmla="val 5185"/>
            </a:avLst>
          </a:prstGeom>
          <a:solidFill>
            <a:srgbClr val="1C7293"/>
          </a:solidFill>
          <a:ln/>
        </p:spPr>
      </p:sp>
      <p:sp>
        <p:nvSpPr>
          <p:cNvPr id="17" name="Text 15"/>
          <p:cNvSpPr/>
          <p:nvPr/>
        </p:nvSpPr>
        <p:spPr>
          <a:xfrm>
            <a:off x="8938260" y="2889504"/>
            <a:ext cx="457200" cy="274320"/>
          </a:xfrm>
          <a:prstGeom prst="rect">
            <a:avLst/>
          </a:prstGeom>
          <a:noFill/>
          <a:ln/>
        </p:spPr>
        <p:txBody>
          <a:bodyPr wrap="square" rtlCol="0" anchor="ctr"/>
          <a:lstStyle/>
          <a:p>
            <a:pPr indent="0" marL="0">
              <a:buNone/>
            </a:pPr>
            <a:r>
              <a:rPr lang="en-US" sz="1100" b="1" dirty="0">
                <a:solidFill>
                  <a:srgbClr val="3FC1C9"/>
                </a:solidFill>
                <a:latin typeface="Calibri" pitchFamily="34" charset="0"/>
                <a:ea typeface="Calibri" pitchFamily="34" charset="-122"/>
                <a:cs typeface="Calibri" pitchFamily="34" charset="-120"/>
              </a:rPr>
              <a:t>4</a:t>
            </a:r>
            <a:endParaRPr lang="en-US" sz="1100" dirty="0"/>
          </a:p>
        </p:txBody>
      </p:sp>
      <p:sp>
        <p:nvSpPr>
          <p:cNvPr id="18" name="Text 16"/>
          <p:cNvSpPr/>
          <p:nvPr/>
        </p:nvSpPr>
        <p:spPr>
          <a:xfrm>
            <a:off x="8956548" y="3127248"/>
            <a:ext cx="2226564" cy="850392"/>
          </a:xfrm>
          <a:prstGeom prst="rect">
            <a:avLst/>
          </a:prstGeom>
          <a:noFill/>
          <a:ln/>
        </p:spPr>
        <p:txBody>
          <a:bodyPr wrap="square" rtlCol="0" anchor="t"/>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4. Acknowledgment</a:t>
            </a:r>
            <a:endParaRPr lang="en-US" sz="1250" dirty="0"/>
          </a:p>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Server confirms:</a:t>
            </a:r>
            <a:endParaRPr lang="en-US" sz="1250" dirty="0"/>
          </a:p>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"IP assigned successfully"</a:t>
            </a:r>
            <a:endParaRPr lang="en-US" sz="1250" dirty="0"/>
          </a:p>
        </p:txBody>
      </p:sp>
      <p:sp>
        <p:nvSpPr>
          <p:cNvPr id="19" name="Text 17"/>
          <p:cNvSpPr/>
          <p:nvPr/>
        </p:nvSpPr>
        <p:spPr>
          <a:xfrm>
            <a:off x="548640" y="4526280"/>
            <a:ext cx="11064240" cy="1463040"/>
          </a:xfrm>
          <a:prstGeom prst="rect">
            <a:avLst/>
          </a:prstGeom>
          <a:noFill/>
          <a:ln/>
        </p:spPr>
        <p:txBody>
          <a:bodyPr wrap="square" rtlCol="0" anchor="t"/>
          <a:lstStyle/>
          <a:p>
            <a:pPr indent="0" marL="0">
              <a:lnSpc>
                <a:spcPct val="130000"/>
              </a:lnSpc>
              <a:buNone/>
            </a:pPr>
            <a:r>
              <a:rPr lang="en-US" sz="1450" dirty="0">
                <a:solidFill>
                  <a:srgbClr val="1B1B1B"/>
                </a:solidFill>
                <a:latin typeface="Calibri" pitchFamily="34" charset="0"/>
                <a:ea typeface="Calibri" pitchFamily="34" charset="-122"/>
                <a:cs typeface="Calibri" pitchFamily="34" charset="-120"/>
              </a:rPr>
              <a:t>After ACK, the client can communicate on the network. A DHCP-assigned IP is leased (e.g. 24 hours), not permanently owned — it renews automatically before the lease expires.</a:t>
            </a:r>
            <a:endParaRPr lang="en-US" sz="1450" dirty="0"/>
          </a:p>
        </p:txBody>
      </p:sp>
      <p:sp>
        <p:nvSpPr>
          <p:cNvPr id="20" name="Text 18"/>
          <p:cNvSpPr/>
          <p:nvPr/>
        </p:nvSpPr>
        <p:spPr>
          <a:xfrm>
            <a:off x="11521440" y="6446520"/>
            <a:ext cx="548640" cy="320040"/>
          </a:xfrm>
          <a:prstGeom prst="rect">
            <a:avLst/>
          </a:prstGeom>
          <a:noFill/>
          <a:ln/>
        </p:spPr>
        <p:txBody>
          <a:bodyPr wrap="square" rtlCol="0" anchor="ctr"/>
          <a:lstStyle/>
          <a:p>
            <a:pPr algn="r" indent="0" marL="0">
              <a:buNone/>
            </a:pPr>
            <a:r>
              <a:rPr lang="en-US" sz="1000" dirty="0">
                <a:solidFill>
                  <a:srgbClr val="A9B4BE"/>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7315200" cy="320040"/>
          </a:xfrm>
          <a:prstGeom prst="rect">
            <a:avLst/>
          </a:prstGeom>
          <a:noFill/>
          <a:ln/>
        </p:spPr>
        <p:txBody>
          <a:bodyPr wrap="square"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DAY 09  ·  DHCP</a:t>
            </a:r>
            <a:endParaRPr lang="en-US" sz="1100" dirty="0"/>
          </a:p>
        </p:txBody>
      </p:sp>
      <p:sp>
        <p:nvSpPr>
          <p:cNvPr id="3" name="Text 1"/>
          <p:cNvSpPr/>
          <p:nvPr/>
        </p:nvSpPr>
        <p:spPr>
          <a:xfrm>
            <a:off x="457200" y="594360"/>
            <a:ext cx="9601200" cy="54864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Components &amp; IP Types</a:t>
            </a:r>
            <a:endParaRPr lang="en-US" sz="3000" dirty="0"/>
          </a:p>
        </p:txBody>
      </p:sp>
      <p:sp>
        <p:nvSpPr>
          <p:cNvPr id="4" name="Shape 2"/>
          <p:cNvSpPr/>
          <p:nvPr/>
        </p:nvSpPr>
        <p:spPr>
          <a:xfrm>
            <a:off x="502920" y="1463040"/>
            <a:ext cx="3505200" cy="4297680"/>
          </a:xfrm>
          <a:prstGeom prst="roundRect">
            <a:avLst>
              <a:gd name="adj" fmla="val 2087"/>
            </a:avLst>
          </a:prstGeom>
          <a:solidFill>
            <a:srgbClr val="EAF4F8"/>
          </a:solidFill>
          <a:ln w="12700">
            <a:solidFill>
              <a:srgbClr val="D5E4EE"/>
            </a:solidFill>
            <a:prstDash val="solid"/>
          </a:ln>
        </p:spPr>
      </p:sp>
      <p:sp>
        <p:nvSpPr>
          <p:cNvPr id="5" name="Shape 3"/>
          <p:cNvSpPr/>
          <p:nvPr/>
        </p:nvSpPr>
        <p:spPr>
          <a:xfrm>
            <a:off x="502920" y="1463040"/>
            <a:ext cx="3505200" cy="548640"/>
          </a:xfrm>
          <a:prstGeom prst="rect">
            <a:avLst/>
          </a:prstGeom>
          <a:solidFill>
            <a:srgbClr val="065A82"/>
          </a:solidFill>
          <a:ln/>
        </p:spPr>
      </p:sp>
      <p:sp>
        <p:nvSpPr>
          <p:cNvPr id="6" name="Text 4"/>
          <p:cNvSpPr/>
          <p:nvPr/>
        </p:nvSpPr>
        <p:spPr>
          <a:xfrm>
            <a:off x="640080" y="1463040"/>
            <a:ext cx="3230880" cy="54864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DHCP Client</a:t>
            </a:r>
            <a:endParaRPr lang="en-US" sz="1350" dirty="0"/>
          </a:p>
        </p:txBody>
      </p:sp>
      <p:sp>
        <p:nvSpPr>
          <p:cNvPr id="7" name="Text 5"/>
          <p:cNvSpPr/>
          <p:nvPr/>
        </p:nvSpPr>
        <p:spPr>
          <a:xfrm>
            <a:off x="685800" y="2148840"/>
            <a:ext cx="3139440" cy="3474720"/>
          </a:xfrm>
          <a:prstGeom prst="rect">
            <a:avLst/>
          </a:prstGeom>
          <a:noFill/>
          <a:ln/>
        </p:spPr>
        <p:txBody>
          <a:bodyPr wrap="square" rtlCol="0" anchor="t"/>
          <a:lstStyle/>
          <a:p>
            <a:pPr marL="342900" indent="-342900">
              <a:spcAft>
                <a:spcPts val="600"/>
              </a:spcAft>
              <a:buSzPct val="100000"/>
              <a:buChar char="•"/>
            </a:pPr>
            <a:r>
              <a:rPr lang="en-US" sz="1250" dirty="0">
                <a:solidFill>
                  <a:srgbClr val="1B1B1B"/>
                </a:solidFill>
                <a:latin typeface="Calibri" pitchFamily="34" charset="0"/>
                <a:ea typeface="Calibri" pitchFamily="34" charset="-122"/>
                <a:cs typeface="Calibri" pitchFamily="34" charset="-120"/>
              </a:rPr>
              <a:t>Requests an IP address</a:t>
            </a:r>
            <a:endParaRPr lang="en-US" sz="1250" dirty="0"/>
          </a:p>
          <a:p>
            <a:pPr marL="342900" indent="-342900">
              <a:spcAft>
                <a:spcPts val="600"/>
              </a:spcAft>
              <a:buSzPct val="100000"/>
              <a:buChar char="•"/>
            </a:pPr>
            <a:r>
              <a:rPr lang="en-US" sz="1250" dirty="0">
                <a:solidFill>
                  <a:srgbClr val="1B1B1B"/>
                </a:solidFill>
                <a:latin typeface="Calibri" pitchFamily="34" charset="0"/>
                <a:ea typeface="Calibri" pitchFamily="34" charset="-122"/>
                <a:cs typeface="Calibri" pitchFamily="34" charset="-120"/>
              </a:rPr>
              <a:t>e.g. Laptop, mobile phone, printer</a:t>
            </a:r>
            <a:endParaRPr lang="en-US" sz="1250" dirty="0"/>
          </a:p>
        </p:txBody>
      </p:sp>
      <p:sp>
        <p:nvSpPr>
          <p:cNvPr id="8" name="Shape 6"/>
          <p:cNvSpPr/>
          <p:nvPr/>
        </p:nvSpPr>
        <p:spPr>
          <a:xfrm>
            <a:off x="4328160" y="1463040"/>
            <a:ext cx="3505200" cy="4297680"/>
          </a:xfrm>
          <a:prstGeom prst="roundRect">
            <a:avLst>
              <a:gd name="adj" fmla="val 2087"/>
            </a:avLst>
          </a:prstGeom>
          <a:solidFill>
            <a:srgbClr val="EAF4F8"/>
          </a:solidFill>
          <a:ln w="12700">
            <a:solidFill>
              <a:srgbClr val="D5E4EE"/>
            </a:solidFill>
            <a:prstDash val="solid"/>
          </a:ln>
        </p:spPr>
      </p:sp>
      <p:sp>
        <p:nvSpPr>
          <p:cNvPr id="9" name="Shape 7"/>
          <p:cNvSpPr/>
          <p:nvPr/>
        </p:nvSpPr>
        <p:spPr>
          <a:xfrm>
            <a:off x="4328160" y="1463040"/>
            <a:ext cx="3505200" cy="548640"/>
          </a:xfrm>
          <a:prstGeom prst="rect">
            <a:avLst/>
          </a:prstGeom>
          <a:solidFill>
            <a:srgbClr val="065A82"/>
          </a:solidFill>
          <a:ln/>
        </p:spPr>
      </p:sp>
      <p:sp>
        <p:nvSpPr>
          <p:cNvPr id="10" name="Text 8"/>
          <p:cNvSpPr/>
          <p:nvPr/>
        </p:nvSpPr>
        <p:spPr>
          <a:xfrm>
            <a:off x="4465320" y="1463040"/>
            <a:ext cx="3230880" cy="54864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DHCP Server</a:t>
            </a:r>
            <a:endParaRPr lang="en-US" sz="1350" dirty="0"/>
          </a:p>
        </p:txBody>
      </p:sp>
      <p:sp>
        <p:nvSpPr>
          <p:cNvPr id="11" name="Text 9"/>
          <p:cNvSpPr/>
          <p:nvPr/>
        </p:nvSpPr>
        <p:spPr>
          <a:xfrm>
            <a:off x="4511040" y="2148840"/>
            <a:ext cx="3139440" cy="3474720"/>
          </a:xfrm>
          <a:prstGeom prst="rect">
            <a:avLst/>
          </a:prstGeom>
          <a:noFill/>
          <a:ln/>
        </p:spPr>
        <p:txBody>
          <a:bodyPr wrap="square" rtlCol="0" anchor="t"/>
          <a:lstStyle/>
          <a:p>
            <a:pPr marL="342900" indent="-342900">
              <a:spcAft>
                <a:spcPts val="600"/>
              </a:spcAft>
              <a:buSzPct val="100000"/>
              <a:buChar char="•"/>
            </a:pPr>
            <a:r>
              <a:rPr lang="en-US" sz="1250" dirty="0">
                <a:solidFill>
                  <a:srgbClr val="1B1B1B"/>
                </a:solidFill>
                <a:latin typeface="Calibri" pitchFamily="34" charset="0"/>
                <a:ea typeface="Calibri" pitchFamily="34" charset="-122"/>
                <a:cs typeface="Calibri" pitchFamily="34" charset="-120"/>
              </a:rPr>
              <a:t>Assigns IP addresses</a:t>
            </a:r>
            <a:endParaRPr lang="en-US" sz="1250" dirty="0"/>
          </a:p>
          <a:p>
            <a:pPr marL="342900" indent="-342900">
              <a:spcAft>
                <a:spcPts val="600"/>
              </a:spcAft>
              <a:buSzPct val="100000"/>
              <a:buChar char="•"/>
            </a:pPr>
            <a:r>
              <a:rPr lang="en-US" sz="1250" dirty="0">
                <a:solidFill>
                  <a:srgbClr val="1B1B1B"/>
                </a:solidFill>
                <a:latin typeface="Calibri" pitchFamily="34" charset="0"/>
                <a:ea typeface="Calibri" pitchFamily="34" charset="-122"/>
                <a:cs typeface="Calibri" pitchFamily="34" charset="-120"/>
              </a:rPr>
              <a:t>e.g. Wi-Fi router, Windows/Linux DHCP server</a:t>
            </a:r>
            <a:endParaRPr lang="en-US" sz="1250" dirty="0"/>
          </a:p>
        </p:txBody>
      </p:sp>
      <p:sp>
        <p:nvSpPr>
          <p:cNvPr id="12" name="Shape 10"/>
          <p:cNvSpPr/>
          <p:nvPr/>
        </p:nvSpPr>
        <p:spPr>
          <a:xfrm>
            <a:off x="8153400" y="1463040"/>
            <a:ext cx="3505200" cy="4297680"/>
          </a:xfrm>
          <a:prstGeom prst="roundRect">
            <a:avLst>
              <a:gd name="adj" fmla="val 2087"/>
            </a:avLst>
          </a:prstGeom>
          <a:solidFill>
            <a:srgbClr val="EAF4F8"/>
          </a:solidFill>
          <a:ln w="12700">
            <a:solidFill>
              <a:srgbClr val="D5E4EE"/>
            </a:solidFill>
            <a:prstDash val="solid"/>
          </a:ln>
        </p:spPr>
      </p:sp>
      <p:sp>
        <p:nvSpPr>
          <p:cNvPr id="13" name="Shape 11"/>
          <p:cNvSpPr/>
          <p:nvPr/>
        </p:nvSpPr>
        <p:spPr>
          <a:xfrm>
            <a:off x="8153400" y="1463040"/>
            <a:ext cx="3505200" cy="548640"/>
          </a:xfrm>
          <a:prstGeom prst="rect">
            <a:avLst/>
          </a:prstGeom>
          <a:solidFill>
            <a:srgbClr val="065A82"/>
          </a:solidFill>
          <a:ln/>
        </p:spPr>
      </p:sp>
      <p:sp>
        <p:nvSpPr>
          <p:cNvPr id="14" name="Text 12"/>
          <p:cNvSpPr/>
          <p:nvPr/>
        </p:nvSpPr>
        <p:spPr>
          <a:xfrm>
            <a:off x="8290560" y="1463040"/>
            <a:ext cx="3230880" cy="54864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DHCP Relay Agent</a:t>
            </a:r>
            <a:endParaRPr lang="en-US" sz="1350" dirty="0"/>
          </a:p>
        </p:txBody>
      </p:sp>
      <p:sp>
        <p:nvSpPr>
          <p:cNvPr id="15" name="Text 13"/>
          <p:cNvSpPr/>
          <p:nvPr/>
        </p:nvSpPr>
        <p:spPr>
          <a:xfrm>
            <a:off x="8336280" y="2148840"/>
            <a:ext cx="3139440" cy="3474720"/>
          </a:xfrm>
          <a:prstGeom prst="rect">
            <a:avLst/>
          </a:prstGeom>
          <a:noFill/>
          <a:ln/>
        </p:spPr>
        <p:txBody>
          <a:bodyPr wrap="square" rtlCol="0" anchor="t"/>
          <a:lstStyle/>
          <a:p>
            <a:pPr marL="342900" indent="-342900">
              <a:spcAft>
                <a:spcPts val="600"/>
              </a:spcAft>
              <a:buSzPct val="100000"/>
              <a:buChar char="•"/>
            </a:pPr>
            <a:r>
              <a:rPr lang="en-US" sz="1250" dirty="0">
                <a:solidFill>
                  <a:srgbClr val="1B1B1B"/>
                </a:solidFill>
                <a:latin typeface="Calibri" pitchFamily="34" charset="0"/>
                <a:ea typeface="Calibri" pitchFamily="34" charset="-122"/>
                <a:cs typeface="Calibri" pitchFamily="34" charset="-120"/>
              </a:rPr>
              <a:t>Used when the DHCP server is on a different network</a:t>
            </a:r>
            <a:endParaRPr lang="en-US" sz="1250" dirty="0"/>
          </a:p>
          <a:p>
            <a:pPr marL="342900" indent="-342900">
              <a:spcAft>
                <a:spcPts val="600"/>
              </a:spcAft>
              <a:buSzPct val="100000"/>
              <a:buChar char="•"/>
            </a:pPr>
            <a:r>
              <a:rPr lang="en-US" sz="1250" dirty="0">
                <a:solidFill>
                  <a:srgbClr val="1B1B1B"/>
                </a:solidFill>
                <a:latin typeface="Calibri" pitchFamily="34" charset="0"/>
                <a:ea typeface="Calibri" pitchFamily="34" charset="-122"/>
                <a:cs typeface="Calibri" pitchFamily="34" charset="-120"/>
              </a:rPr>
              <a:t>Forwards DHCP messages to the remote server</a:t>
            </a:r>
            <a:endParaRPr lang="en-US" sz="1250" dirty="0"/>
          </a:p>
        </p:txBody>
      </p:sp>
      <p:sp>
        <p:nvSpPr>
          <p:cNvPr id="16" name="Text 14"/>
          <p:cNvSpPr/>
          <p:nvPr/>
        </p:nvSpPr>
        <p:spPr>
          <a:xfrm>
            <a:off x="11521440" y="6446520"/>
            <a:ext cx="548640" cy="320040"/>
          </a:xfrm>
          <a:prstGeom prst="rect">
            <a:avLst/>
          </a:prstGeom>
          <a:noFill/>
          <a:ln/>
        </p:spPr>
        <p:txBody>
          <a:bodyPr wrap="square" rtlCol="0" anchor="ctr"/>
          <a:lstStyle/>
          <a:p>
            <a:pPr algn="r" indent="0" marL="0">
              <a:buNone/>
            </a:pPr>
            <a:r>
              <a:rPr lang="en-US" sz="1000" dirty="0">
                <a:solidFill>
                  <a:srgbClr val="A9B4BE"/>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7315200" cy="320040"/>
          </a:xfrm>
          <a:prstGeom prst="rect">
            <a:avLst/>
          </a:prstGeom>
          <a:noFill/>
          <a:ln/>
        </p:spPr>
        <p:txBody>
          <a:bodyPr wrap="square"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DAY 09  ·  DHCP</a:t>
            </a:r>
            <a:endParaRPr lang="en-US" sz="1100" dirty="0"/>
          </a:p>
        </p:txBody>
      </p:sp>
      <p:sp>
        <p:nvSpPr>
          <p:cNvPr id="3" name="Text 1"/>
          <p:cNvSpPr/>
          <p:nvPr/>
        </p:nvSpPr>
        <p:spPr>
          <a:xfrm>
            <a:off x="457200" y="594360"/>
            <a:ext cx="9601200" cy="54864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Static vs Dynamic IP &amp; Ports</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508760"/>
          <a:ext cx="6949440" cy="914400"/>
        </p:xfrm>
        <a:graphic>
          <a:graphicData uri="http://schemas.openxmlformats.org/drawingml/2006/table">
            <a:tbl>
              <a:tblPr/>
              <a:tblGrid>
                <a:gridCol w="3474720"/>
                <a:gridCol w="3474720"/>
              </a:tblGrid>
              <a:tr h="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Static IP</a:t>
                      </a:r>
                      <a:endParaRPr lang="en-US" sz="130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065A82"/>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Dynamic IP</a:t>
                      </a:r>
                      <a:endParaRPr lang="en-US" sz="130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065A82"/>
                    </a:solidFill>
                  </a:tcPr>
                </a:tc>
              </a:tr>
              <a:tr h="0">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Manually configured</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Assigned automatically</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Permanent</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EAF4F8"/>
                    </a:solidFill>
                  </a:tcPr>
                </a:tc>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Temporary (lease)</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EAF4F8"/>
                    </a:solidFill>
                  </a:tcPr>
                </a:tc>
              </a:tr>
              <a:tr h="0">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Used for servers</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Used for client devices</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More management</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EAF4F8"/>
                    </a:solidFill>
                  </a:tcPr>
                </a:tc>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Easier to manage</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EAF4F8"/>
                    </a:solidFill>
                  </a:tcPr>
                </a:tc>
              </a:tr>
            </a:tbl>
          </a:graphicData>
        </a:graphic>
      </p:graphicFrame>
      <p:sp>
        <p:nvSpPr>
          <p:cNvPr id="5" name="Shape 2"/>
          <p:cNvSpPr/>
          <p:nvPr/>
        </p:nvSpPr>
        <p:spPr>
          <a:xfrm>
            <a:off x="7726680" y="1508760"/>
            <a:ext cx="3931920" cy="4617720"/>
          </a:xfrm>
          <a:prstGeom prst="roundRect">
            <a:avLst>
              <a:gd name="adj" fmla="val 1860"/>
            </a:avLst>
          </a:prstGeom>
          <a:solidFill>
            <a:srgbClr val="21295C"/>
          </a:solidFill>
          <a:ln/>
        </p:spPr>
      </p:sp>
      <p:sp>
        <p:nvSpPr>
          <p:cNvPr id="6" name="Text 3"/>
          <p:cNvSpPr/>
          <p:nvPr/>
        </p:nvSpPr>
        <p:spPr>
          <a:xfrm>
            <a:off x="8001000" y="1737360"/>
            <a:ext cx="3383280" cy="365760"/>
          </a:xfrm>
          <a:prstGeom prst="rect">
            <a:avLst/>
          </a:prstGeom>
          <a:noFill/>
          <a:ln/>
        </p:spPr>
        <p:txBody>
          <a:bodyPr wrap="square" rtlCol="0" anchor="ctr"/>
          <a:lstStyle/>
          <a:p>
            <a:pPr indent="0" marL="0">
              <a:buNone/>
            </a:pPr>
            <a:r>
              <a:rPr lang="en-US" sz="1300" b="1" spc="100" kern="0" dirty="0">
                <a:solidFill>
                  <a:srgbClr val="3FC1C9"/>
                </a:solidFill>
                <a:latin typeface="Calibri" pitchFamily="34" charset="0"/>
                <a:ea typeface="Calibri" pitchFamily="34" charset="-122"/>
                <a:cs typeface="Calibri" pitchFamily="34" charset="-120"/>
              </a:rPr>
              <a:t>PORTS &amp; COMMANDS</a:t>
            </a:r>
            <a:endParaRPr lang="en-US" sz="1300" dirty="0"/>
          </a:p>
        </p:txBody>
      </p:sp>
      <p:sp>
        <p:nvSpPr>
          <p:cNvPr id="7" name="Text 4"/>
          <p:cNvSpPr/>
          <p:nvPr/>
        </p:nvSpPr>
        <p:spPr>
          <a:xfrm>
            <a:off x="8001000" y="2194560"/>
            <a:ext cx="3383280" cy="3749040"/>
          </a:xfrm>
          <a:prstGeom prst="rect">
            <a:avLst/>
          </a:prstGeom>
          <a:noFill/>
          <a:ln/>
        </p:spPr>
        <p:txBody>
          <a:bodyPr wrap="square" rtlCol="0" anchor="t"/>
          <a:lstStyle/>
          <a:p>
            <a:pPr indent="0" marL="0">
              <a:spcAft>
                <a:spcPts val="200"/>
              </a:spcAft>
              <a:buNone/>
            </a:pPr>
            <a:r>
              <a:rPr lang="en-US" sz="1200" dirty="0">
                <a:solidFill>
                  <a:srgbClr val="CBD9E8"/>
                </a:solidFill>
              </a:rPr>
              <a:t>DHCP Server port:</a:t>
            </a:r>
            <a:endParaRPr lang="en-US" sz="1200" dirty="0"/>
          </a:p>
          <a:p>
            <a:pPr indent="0" marL="0">
              <a:spcAft>
                <a:spcPts val="1400"/>
              </a:spcAft>
              <a:buNone/>
            </a:pPr>
            <a:r>
              <a:rPr lang="en-US" sz="1350" dirty="0">
                <a:solidFill>
                  <a:srgbClr val="3FC1C9"/>
                </a:solidFill>
                <a:latin typeface="Consolas" pitchFamily="34" charset="0"/>
                <a:ea typeface="Consolas" pitchFamily="34" charset="-122"/>
                <a:cs typeface="Consolas" pitchFamily="34" charset="-120"/>
              </a:rPr>
              <a:t>67 (UDP)</a:t>
            </a:r>
            <a:endParaRPr lang="en-US" sz="1200" dirty="0"/>
          </a:p>
          <a:p>
            <a:pPr indent="0" marL="0">
              <a:spcAft>
                <a:spcPts val="200"/>
              </a:spcAft>
              <a:buNone/>
            </a:pPr>
            <a:r>
              <a:rPr lang="en-US" sz="1200" dirty="0">
                <a:solidFill>
                  <a:srgbClr val="CBD9E8"/>
                </a:solidFill>
              </a:rPr>
              <a:t>DHCP Client port:</a:t>
            </a:r>
            <a:endParaRPr lang="en-US" sz="1200" dirty="0"/>
          </a:p>
          <a:p>
            <a:pPr indent="0" marL="0">
              <a:spcAft>
                <a:spcPts val="1400"/>
              </a:spcAft>
              <a:buNone/>
            </a:pPr>
            <a:r>
              <a:rPr lang="en-US" sz="1350" dirty="0">
                <a:solidFill>
                  <a:srgbClr val="3FC1C9"/>
                </a:solidFill>
                <a:latin typeface="Consolas" pitchFamily="34" charset="0"/>
                <a:ea typeface="Consolas" pitchFamily="34" charset="-122"/>
                <a:cs typeface="Consolas" pitchFamily="34" charset="-120"/>
              </a:rPr>
              <a:t>68 (UDP)</a:t>
            </a:r>
            <a:endParaRPr lang="en-US" sz="1200" dirty="0"/>
          </a:p>
          <a:p>
            <a:pPr indent="0" marL="0">
              <a:spcAft>
                <a:spcPts val="200"/>
              </a:spcAft>
              <a:buNone/>
            </a:pPr>
            <a:r>
              <a:rPr lang="en-US" sz="1200" dirty="0">
                <a:solidFill>
                  <a:srgbClr val="CBD9E8"/>
                </a:solidFill>
              </a:rPr>
              <a:t>Windows — view IP:</a:t>
            </a:r>
            <a:endParaRPr lang="en-US" sz="1200" dirty="0"/>
          </a:p>
          <a:p>
            <a:pPr indent="0" marL="0">
              <a:spcAft>
                <a:spcPts val="1400"/>
              </a:spcAft>
              <a:buNone/>
            </a:pPr>
            <a:r>
              <a:rPr lang="en-US" sz="1350" dirty="0">
                <a:solidFill>
                  <a:srgbClr val="3FC1C9"/>
                </a:solidFill>
                <a:latin typeface="Consolas" pitchFamily="34" charset="0"/>
                <a:ea typeface="Consolas" pitchFamily="34" charset="-122"/>
                <a:cs typeface="Consolas" pitchFamily="34" charset="-120"/>
              </a:rPr>
              <a:t>ipconfig /all</a:t>
            </a:r>
            <a:endParaRPr lang="en-US" sz="1200" dirty="0"/>
          </a:p>
          <a:p>
            <a:pPr indent="0" marL="0">
              <a:spcAft>
                <a:spcPts val="200"/>
              </a:spcAft>
              <a:buNone/>
            </a:pPr>
            <a:r>
              <a:rPr lang="en-US" sz="1200" dirty="0">
                <a:solidFill>
                  <a:srgbClr val="CBD9E8"/>
                </a:solidFill>
              </a:rPr>
              <a:t>Linux — new lease:</a:t>
            </a:r>
            <a:endParaRPr lang="en-US" sz="1200" dirty="0"/>
          </a:p>
          <a:p>
            <a:pPr indent="0" marL="0">
              <a:spcAft>
                <a:spcPts val="1400"/>
              </a:spcAft>
              <a:buNone/>
            </a:pPr>
            <a:r>
              <a:rPr lang="en-US" sz="1350" dirty="0">
                <a:solidFill>
                  <a:srgbClr val="3FC1C9"/>
                </a:solidFill>
                <a:latin typeface="Consolas" pitchFamily="34" charset="0"/>
                <a:ea typeface="Consolas" pitchFamily="34" charset="-122"/>
                <a:cs typeface="Consolas" pitchFamily="34" charset="-120"/>
              </a:rPr>
              <a:t>sudo dhclient</a:t>
            </a:r>
            <a:endParaRPr lang="en-US" sz="1200" dirty="0"/>
          </a:p>
        </p:txBody>
      </p:sp>
      <p:sp>
        <p:nvSpPr>
          <p:cNvPr id="8" name="Text 5"/>
          <p:cNvSpPr/>
          <p:nvPr/>
        </p:nvSpPr>
        <p:spPr>
          <a:xfrm>
            <a:off x="11521440" y="6446520"/>
            <a:ext cx="548640" cy="320040"/>
          </a:xfrm>
          <a:prstGeom prst="rect">
            <a:avLst/>
          </a:prstGeom>
          <a:noFill/>
          <a:ln/>
        </p:spPr>
        <p:txBody>
          <a:bodyPr wrap="square" rtlCol="0" anchor="ctr"/>
          <a:lstStyle/>
          <a:p>
            <a:pPr algn="r" indent="0" marL="0">
              <a:buNone/>
            </a:pPr>
            <a:r>
              <a:rPr lang="en-US" sz="1000" dirty="0">
                <a:solidFill>
                  <a:srgbClr val="A9B4BE"/>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7315200" cy="320040"/>
          </a:xfrm>
          <a:prstGeom prst="rect">
            <a:avLst/>
          </a:prstGeom>
          <a:noFill/>
          <a:ln/>
        </p:spPr>
        <p:txBody>
          <a:bodyPr wrap="square"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DAY 09  ·  DHCP</a:t>
            </a:r>
            <a:endParaRPr lang="en-US" sz="1100" dirty="0"/>
          </a:p>
        </p:txBody>
      </p:sp>
      <p:sp>
        <p:nvSpPr>
          <p:cNvPr id="3" name="Text 1"/>
          <p:cNvSpPr/>
          <p:nvPr/>
        </p:nvSpPr>
        <p:spPr>
          <a:xfrm>
            <a:off x="457200" y="594360"/>
            <a:ext cx="9601200" cy="54864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Security &amp; Quick Revision</a:t>
            </a:r>
            <a:endParaRPr lang="en-US" sz="3000" dirty="0"/>
          </a:p>
        </p:txBody>
      </p:sp>
      <p:sp>
        <p:nvSpPr>
          <p:cNvPr id="4" name="Shape 2"/>
          <p:cNvSpPr/>
          <p:nvPr/>
        </p:nvSpPr>
        <p:spPr>
          <a:xfrm>
            <a:off x="502920" y="1508760"/>
            <a:ext cx="5394960" cy="4617720"/>
          </a:xfrm>
          <a:prstGeom prst="roundRect">
            <a:avLst>
              <a:gd name="adj" fmla="val 1584"/>
            </a:avLst>
          </a:prstGeom>
          <a:solidFill>
            <a:srgbClr val="21295C"/>
          </a:solidFill>
          <a:ln/>
        </p:spPr>
      </p:sp>
      <p:sp>
        <p:nvSpPr>
          <p:cNvPr id="5" name="Text 3"/>
          <p:cNvSpPr/>
          <p:nvPr/>
        </p:nvSpPr>
        <p:spPr>
          <a:xfrm>
            <a:off x="777240" y="1737360"/>
            <a:ext cx="4846320" cy="365760"/>
          </a:xfrm>
          <a:prstGeom prst="rect">
            <a:avLst/>
          </a:prstGeom>
          <a:noFill/>
          <a:ln/>
        </p:spPr>
        <p:txBody>
          <a:bodyPr wrap="square" rtlCol="0" anchor="ctr"/>
          <a:lstStyle/>
          <a:p>
            <a:pPr indent="0" marL="0">
              <a:buNone/>
            </a:pPr>
            <a:r>
              <a:rPr lang="en-US" sz="1400" b="1" spc="100" kern="0" dirty="0">
                <a:solidFill>
                  <a:srgbClr val="3FC1C9"/>
                </a:solidFill>
                <a:latin typeface="Calibri" pitchFamily="34" charset="0"/>
                <a:ea typeface="Calibri" pitchFamily="34" charset="-122"/>
                <a:cs typeface="Calibri" pitchFamily="34" charset="-120"/>
              </a:rPr>
              <a:t>DHCP IN CYBERSECURITY</a:t>
            </a:r>
            <a:endParaRPr lang="en-US" sz="1400" dirty="0"/>
          </a:p>
        </p:txBody>
      </p:sp>
      <p:sp>
        <p:nvSpPr>
          <p:cNvPr id="6" name="Text 4"/>
          <p:cNvSpPr/>
          <p:nvPr/>
        </p:nvSpPr>
        <p:spPr>
          <a:xfrm>
            <a:off x="822960" y="2194560"/>
            <a:ext cx="4846320" cy="3749040"/>
          </a:xfrm>
          <a:prstGeom prst="rect">
            <a:avLst/>
          </a:prstGeom>
          <a:noFill/>
          <a:ln/>
        </p:spPr>
        <p:txBody>
          <a:bodyPr wrap="square" rtlCol="0" anchor="t"/>
          <a:lstStyle/>
          <a:p>
            <a:pPr marL="342900" indent="-342900">
              <a:spcAft>
                <a:spcPts val="1000"/>
              </a:spcAft>
              <a:buSzPct val="100000"/>
              <a:buChar char="•"/>
            </a:pPr>
            <a:r>
              <a:rPr lang="en-US" sz="1350" dirty="0">
                <a:solidFill>
                  <a:srgbClr val="E7EEF5"/>
                </a:solidFill>
              </a:rPr>
              <a:t>SOC analysts monitor DHCP logs to identify devices joining the network</a:t>
            </a:r>
            <a:endParaRPr lang="en-US" sz="1350" dirty="0"/>
          </a:p>
          <a:p>
            <a:pPr marL="342900" indent="-342900">
              <a:spcAft>
                <a:spcPts val="1000"/>
              </a:spcAft>
              <a:buSzPct val="100000"/>
              <a:buChar char="•"/>
            </a:pPr>
            <a:r>
              <a:rPr lang="en-US" sz="1350" dirty="0">
                <a:solidFill>
                  <a:srgbClr val="E7EEF5"/>
                </a:solidFill>
              </a:rPr>
              <a:t>Detect unauthorized or rogue devices, and rogue DHCP servers</a:t>
            </a:r>
            <a:endParaRPr lang="en-US" sz="1350" dirty="0"/>
          </a:p>
          <a:p>
            <a:pPr marL="342900" indent="-342900">
              <a:spcAft>
                <a:spcPts val="1000"/>
              </a:spcAft>
              <a:buSzPct val="100000"/>
              <a:buChar char="•"/>
            </a:pPr>
            <a:r>
              <a:rPr lang="en-US" sz="1350" dirty="0">
                <a:solidFill>
                  <a:srgbClr val="E7EEF5"/>
                </a:solidFill>
              </a:rPr>
              <a:t>Trace IP-to-MAC address mappings during investigations</a:t>
            </a:r>
            <a:endParaRPr lang="en-US" sz="1350" dirty="0"/>
          </a:p>
        </p:txBody>
      </p:sp>
      <p:sp>
        <p:nvSpPr>
          <p:cNvPr id="7" name="Text 5"/>
          <p:cNvSpPr/>
          <p:nvPr/>
        </p:nvSpPr>
        <p:spPr>
          <a:xfrm>
            <a:off x="6263640" y="1737360"/>
            <a:ext cx="5394960" cy="365760"/>
          </a:xfrm>
          <a:prstGeom prst="rect">
            <a:avLst/>
          </a:prstGeom>
          <a:noFill/>
          <a:ln/>
        </p:spPr>
        <p:txBody>
          <a:bodyPr wrap="square" rtlCol="0" anchor="ctr"/>
          <a:lstStyle/>
          <a:p>
            <a:pPr indent="0" marL="0">
              <a:buNone/>
            </a:pPr>
            <a:r>
              <a:rPr lang="en-US" sz="1400" b="1" spc="100" kern="0" dirty="0">
                <a:solidFill>
                  <a:srgbClr val="1C7293"/>
                </a:solidFill>
                <a:latin typeface="Calibri" pitchFamily="34" charset="0"/>
                <a:ea typeface="Calibri" pitchFamily="34" charset="-122"/>
                <a:cs typeface="Calibri" pitchFamily="34" charset="-120"/>
              </a:rPr>
              <a:t>QUICK REVISION</a:t>
            </a:r>
            <a:endParaRPr lang="en-US" sz="1400" dirty="0"/>
          </a:p>
        </p:txBody>
      </p:sp>
      <p:sp>
        <p:nvSpPr>
          <p:cNvPr id="8" name="Text 6"/>
          <p:cNvSpPr/>
          <p:nvPr/>
        </p:nvSpPr>
        <p:spPr>
          <a:xfrm>
            <a:off x="6309360" y="2194560"/>
            <a:ext cx="5394960" cy="3931920"/>
          </a:xfrm>
          <a:prstGeom prst="rect">
            <a:avLst/>
          </a:prstGeom>
          <a:noFill/>
          <a:ln/>
        </p:spPr>
        <p:txBody>
          <a:bodyPr wrap="square" rtlCol="0" anchor="t"/>
          <a:lstStyle/>
          <a:p>
            <a:pPr marL="342900" indent="-342900">
              <a:spcAft>
                <a:spcPts val="900"/>
              </a:spcAft>
              <a:buSzPct val="100000"/>
              <a:buChar char="•"/>
            </a:pPr>
            <a:r>
              <a:rPr lang="en-US" sz="1350" dirty="0">
                <a:solidFill>
                  <a:srgbClr val="1B1B1B"/>
                </a:solidFill>
              </a:rPr>
              <a:t>DHCP = Dynamic Host Configuration Protocol</a:t>
            </a:r>
            <a:endParaRPr lang="en-US" sz="1350" dirty="0"/>
          </a:p>
          <a:p>
            <a:pPr marL="342900" indent="-342900">
              <a:spcAft>
                <a:spcPts val="900"/>
              </a:spcAft>
              <a:buSzPct val="100000"/>
              <a:buChar char="•"/>
            </a:pPr>
            <a:r>
              <a:rPr lang="en-US" sz="1350" dirty="0">
                <a:solidFill>
                  <a:srgbClr val="1B1B1B"/>
                </a:solidFill>
              </a:rPr>
              <a:t>Uses DORA: Discover, Offer, Request, Acknowledgment</a:t>
            </a:r>
            <a:endParaRPr lang="en-US" sz="1350" dirty="0"/>
          </a:p>
          <a:p>
            <a:pPr marL="342900" indent="-342900">
              <a:spcAft>
                <a:spcPts val="900"/>
              </a:spcAft>
              <a:buSzPct val="100000"/>
              <a:buChar char="•"/>
            </a:pPr>
            <a:r>
              <a:rPr lang="en-US" sz="1350" dirty="0">
                <a:solidFill>
                  <a:srgbClr val="1B1B1B"/>
                </a:solidFill>
              </a:rPr>
              <a:t>Server: port 67 · Client: port 68 (UDP)</a:t>
            </a:r>
            <a:endParaRPr lang="en-US" sz="1350" dirty="0"/>
          </a:p>
          <a:p>
            <a:pPr marL="342900" indent="-342900">
              <a:spcAft>
                <a:spcPts val="900"/>
              </a:spcAft>
              <a:buSzPct val="100000"/>
              <a:buChar char="•"/>
            </a:pPr>
            <a:r>
              <a:rPr lang="en-US" sz="1350" dirty="0">
                <a:solidFill>
                  <a:srgbClr val="1B1B1B"/>
                </a:solidFill>
              </a:rPr>
              <a:t>Assigns: IP, Subnet Mask, Gateway, DNS Server, Lease Time</a:t>
            </a:r>
            <a:endParaRPr lang="en-US" sz="1350" dirty="0"/>
          </a:p>
          <a:p>
            <a:pPr marL="342900" indent="-342900">
              <a:spcAft>
                <a:spcPts val="900"/>
              </a:spcAft>
              <a:buSzPct val="100000"/>
              <a:buChar char="•"/>
            </a:pPr>
            <a:r>
              <a:rPr lang="en-US" sz="1350" dirty="0">
                <a:solidFill>
                  <a:srgbClr val="1B1B1B"/>
                </a:solidFill>
              </a:rPr>
              <a:t>A DHCP Reservation always gives one device (by MAC address) the same IP</a:t>
            </a:r>
            <a:endParaRPr lang="en-US" sz="1350" dirty="0"/>
          </a:p>
        </p:txBody>
      </p:sp>
      <p:sp>
        <p:nvSpPr>
          <p:cNvPr id="9" name="Text 7"/>
          <p:cNvSpPr/>
          <p:nvPr/>
        </p:nvSpPr>
        <p:spPr>
          <a:xfrm>
            <a:off x="11521440" y="6446520"/>
            <a:ext cx="548640" cy="320040"/>
          </a:xfrm>
          <a:prstGeom prst="rect">
            <a:avLst/>
          </a:prstGeom>
          <a:noFill/>
          <a:ln/>
        </p:spPr>
        <p:txBody>
          <a:bodyPr wrap="square" rtlCol="0" anchor="ctr"/>
          <a:lstStyle/>
          <a:p>
            <a:pPr algn="r" indent="0" marL="0">
              <a:buNone/>
            </a:pPr>
            <a:r>
              <a:rPr lang="en-US" sz="1000" dirty="0">
                <a:solidFill>
                  <a:srgbClr val="A9B4BE"/>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7315200" cy="320040"/>
          </a:xfrm>
          <a:prstGeom prst="rect">
            <a:avLst/>
          </a:prstGeom>
          <a:noFill/>
          <a:ln/>
        </p:spPr>
        <p:txBody>
          <a:bodyPr wrap="square"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DAY 10  ·  NAT</a:t>
            </a:r>
            <a:endParaRPr lang="en-US" sz="1100" dirty="0"/>
          </a:p>
        </p:txBody>
      </p:sp>
      <p:sp>
        <p:nvSpPr>
          <p:cNvPr id="3" name="Text 1"/>
          <p:cNvSpPr/>
          <p:nvPr/>
        </p:nvSpPr>
        <p:spPr>
          <a:xfrm>
            <a:off x="457200" y="594360"/>
            <a:ext cx="9144000" cy="54864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What is it &amp; Why it matters</a:t>
            </a:r>
            <a:endParaRPr lang="en-US" sz="3000" dirty="0"/>
          </a:p>
        </p:txBody>
      </p:sp>
      <p:sp>
        <p:nvSpPr>
          <p:cNvPr id="4" name="Shape 2"/>
          <p:cNvSpPr/>
          <p:nvPr/>
        </p:nvSpPr>
        <p:spPr>
          <a:xfrm>
            <a:off x="457200" y="1417320"/>
            <a:ext cx="5212080" cy="4709160"/>
          </a:xfrm>
          <a:prstGeom prst="roundRect">
            <a:avLst>
              <a:gd name="adj" fmla="val 1553"/>
            </a:avLst>
          </a:prstGeom>
          <a:solidFill>
            <a:srgbClr val="EAF4F8"/>
          </a:solidFill>
          <a:ln/>
        </p:spPr>
      </p:sp>
      <p:sp>
        <p:nvSpPr>
          <p:cNvPr id="5" name="Text 3"/>
          <p:cNvSpPr/>
          <p:nvPr/>
        </p:nvSpPr>
        <p:spPr>
          <a:xfrm>
            <a:off x="731520" y="1645920"/>
            <a:ext cx="4663440" cy="365760"/>
          </a:xfrm>
          <a:prstGeom prst="rect">
            <a:avLst/>
          </a:prstGeom>
          <a:noFill/>
          <a:ln/>
        </p:spPr>
        <p:txBody>
          <a:bodyPr wrap="square" rtlCol="0" anchor="ctr"/>
          <a:lstStyle/>
          <a:p>
            <a:pPr indent="0" marL="0">
              <a:buNone/>
            </a:pPr>
            <a:r>
              <a:rPr lang="en-US" sz="1300" b="1" spc="100" kern="0" dirty="0">
                <a:solidFill>
                  <a:srgbClr val="1C7293"/>
                </a:solidFill>
                <a:latin typeface="Calibri" pitchFamily="34" charset="0"/>
                <a:ea typeface="Calibri" pitchFamily="34" charset="-122"/>
                <a:cs typeface="Calibri" pitchFamily="34" charset="-120"/>
              </a:rPr>
              <a:t>Definition</a:t>
            </a:r>
            <a:endParaRPr lang="en-US" sz="1300" dirty="0"/>
          </a:p>
        </p:txBody>
      </p:sp>
      <p:sp>
        <p:nvSpPr>
          <p:cNvPr id="6" name="Text 4"/>
          <p:cNvSpPr/>
          <p:nvPr/>
        </p:nvSpPr>
        <p:spPr>
          <a:xfrm>
            <a:off x="731520" y="2057400"/>
            <a:ext cx="4663440" cy="3840480"/>
          </a:xfrm>
          <a:prstGeom prst="rect">
            <a:avLst/>
          </a:prstGeom>
          <a:noFill/>
          <a:ln/>
        </p:spPr>
        <p:txBody>
          <a:bodyPr wrap="square" rtlCol="0" anchor="t"/>
          <a:lstStyle/>
          <a:p>
            <a:pPr indent="0" marL="0">
              <a:lnSpc>
                <a:spcPct val="125000"/>
              </a:lnSpc>
              <a:buNone/>
            </a:pPr>
            <a:r>
              <a:rPr lang="en-US" sz="1550" dirty="0">
                <a:solidFill>
                  <a:srgbClr val="1B1B1B"/>
                </a:solidFill>
                <a:latin typeface="Calibri" pitchFamily="34" charset="0"/>
                <a:ea typeface="Calibri" pitchFamily="34" charset="-122"/>
                <a:cs typeface="Calibri" pitchFamily="34" charset="-120"/>
              </a:rPr>
              <a:t>NAT (Network Address Translation) is a technique used by routers to translate private IP addresses into public IP addresses, letting devices on a private network access the Internet.</a:t>
            </a:r>
            <a:endParaRPr lang="en-US" sz="1550" dirty="0"/>
          </a:p>
        </p:txBody>
      </p:sp>
      <p:sp>
        <p:nvSpPr>
          <p:cNvPr id="7" name="Text 5"/>
          <p:cNvSpPr/>
          <p:nvPr/>
        </p:nvSpPr>
        <p:spPr>
          <a:xfrm>
            <a:off x="6035040" y="1463040"/>
            <a:ext cx="5486400" cy="365760"/>
          </a:xfrm>
          <a:prstGeom prst="rect">
            <a:avLst/>
          </a:prstGeom>
          <a:noFill/>
          <a:ln/>
        </p:spPr>
        <p:txBody>
          <a:bodyPr wrap="square" rtlCol="0" anchor="ctr"/>
          <a:lstStyle/>
          <a:p>
            <a:pPr indent="0" marL="0">
              <a:buNone/>
            </a:pPr>
            <a:r>
              <a:rPr lang="en-US" sz="1300" b="1" spc="100" kern="0" dirty="0">
                <a:solidFill>
                  <a:srgbClr val="1C7293"/>
                </a:solidFill>
                <a:latin typeface="Calibri" pitchFamily="34" charset="0"/>
                <a:ea typeface="Calibri" pitchFamily="34" charset="-122"/>
                <a:cs typeface="Calibri" pitchFamily="34" charset="-120"/>
              </a:rPr>
              <a:t>Why it's needed</a:t>
            </a:r>
            <a:endParaRPr lang="en-US" sz="1300" dirty="0"/>
          </a:p>
        </p:txBody>
      </p:sp>
      <p:sp>
        <p:nvSpPr>
          <p:cNvPr id="8" name="Shape 6"/>
          <p:cNvSpPr/>
          <p:nvPr/>
        </p:nvSpPr>
        <p:spPr>
          <a:xfrm>
            <a:off x="6035040" y="1984248"/>
            <a:ext cx="384048" cy="384048"/>
          </a:xfrm>
          <a:prstGeom prst="ellipse">
            <a:avLst/>
          </a:prstGeom>
          <a:solidFill>
            <a:srgbClr val="065A82"/>
          </a:solidFill>
          <a:ln/>
        </p:spPr>
      </p:sp>
      <p:sp>
        <p:nvSpPr>
          <p:cNvPr id="9" name="Text 7"/>
          <p:cNvSpPr/>
          <p:nvPr/>
        </p:nvSpPr>
        <p:spPr>
          <a:xfrm>
            <a:off x="6035040" y="1984248"/>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6583680" y="1920240"/>
            <a:ext cx="4937760" cy="548640"/>
          </a:xfrm>
          <a:prstGeom prst="rect">
            <a:avLst/>
          </a:prstGeom>
          <a:noFill/>
          <a:ln/>
        </p:spPr>
        <p:txBody>
          <a:bodyPr wrap="square" rtlCol="0" anchor="ctr"/>
          <a:lstStyle/>
          <a:p>
            <a:pPr indent="0" marL="0">
              <a:buNone/>
            </a:pPr>
            <a:r>
              <a:rPr lang="en-US" sz="1400" dirty="0">
                <a:solidFill>
                  <a:srgbClr val="1B1B1B"/>
                </a:solidFill>
                <a:latin typeface="Calibri" pitchFamily="34" charset="0"/>
                <a:ea typeface="Calibri" pitchFamily="34" charset="-122"/>
                <a:cs typeface="Calibri" pitchFamily="34" charset="-120"/>
              </a:rPr>
              <a:t>Private IPs (192.168.1.10, .11, .12) only work inside the local network — they cannot be used directly online.</a:t>
            </a:r>
            <a:endParaRPr lang="en-US" sz="1400" dirty="0"/>
          </a:p>
        </p:txBody>
      </p:sp>
      <p:sp>
        <p:nvSpPr>
          <p:cNvPr id="11" name="Shape 9"/>
          <p:cNvSpPr/>
          <p:nvPr/>
        </p:nvSpPr>
        <p:spPr>
          <a:xfrm>
            <a:off x="6035040" y="2734056"/>
            <a:ext cx="384048" cy="384048"/>
          </a:xfrm>
          <a:prstGeom prst="ellipse">
            <a:avLst/>
          </a:prstGeom>
          <a:solidFill>
            <a:srgbClr val="065A82"/>
          </a:solidFill>
          <a:ln/>
        </p:spPr>
      </p:sp>
      <p:sp>
        <p:nvSpPr>
          <p:cNvPr id="12" name="Text 10"/>
          <p:cNvSpPr/>
          <p:nvPr/>
        </p:nvSpPr>
        <p:spPr>
          <a:xfrm>
            <a:off x="6035040" y="2734056"/>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6583680" y="2670048"/>
            <a:ext cx="4937760" cy="548640"/>
          </a:xfrm>
          <a:prstGeom prst="rect">
            <a:avLst/>
          </a:prstGeom>
          <a:noFill/>
          <a:ln/>
        </p:spPr>
        <p:txBody>
          <a:bodyPr wrap="square" rtlCol="0" anchor="ctr"/>
          <a:lstStyle/>
          <a:p>
            <a:pPr indent="0" marL="0">
              <a:buNone/>
            </a:pPr>
            <a:r>
              <a:rPr lang="en-US" sz="1400" dirty="0">
                <a:solidFill>
                  <a:srgbClr val="1B1B1B"/>
                </a:solidFill>
                <a:latin typeface="Calibri" pitchFamily="34" charset="0"/>
                <a:ea typeface="Calibri" pitchFamily="34" charset="-122"/>
                <a:cs typeface="Calibri" pitchFamily="34" charset="-120"/>
              </a:rPr>
              <a:t>NAT lets multiple devices share a single public IP address (e.g. 203.0.113.25).</a:t>
            </a:r>
            <a:endParaRPr lang="en-US" sz="1400" dirty="0"/>
          </a:p>
        </p:txBody>
      </p:sp>
      <p:sp>
        <p:nvSpPr>
          <p:cNvPr id="14" name="Text 12"/>
          <p:cNvSpPr/>
          <p:nvPr/>
        </p:nvSpPr>
        <p:spPr>
          <a:xfrm>
            <a:off x="11521440" y="6446520"/>
            <a:ext cx="548640" cy="320040"/>
          </a:xfrm>
          <a:prstGeom prst="rect">
            <a:avLst/>
          </a:prstGeom>
          <a:noFill/>
          <a:ln/>
        </p:spPr>
        <p:txBody>
          <a:bodyPr wrap="square" rtlCol="0" anchor="ctr"/>
          <a:lstStyle/>
          <a:p>
            <a:pPr algn="r" indent="0" marL="0">
              <a:buNone/>
            </a:pPr>
            <a:r>
              <a:rPr lang="en-US" sz="1000" dirty="0">
                <a:solidFill>
                  <a:srgbClr val="A9B4BE"/>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7315200" cy="320040"/>
          </a:xfrm>
          <a:prstGeom prst="rect">
            <a:avLst/>
          </a:prstGeom>
          <a:noFill/>
          <a:ln/>
        </p:spPr>
        <p:txBody>
          <a:bodyPr wrap="square"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DAY 10  ·  NAT</a:t>
            </a:r>
            <a:endParaRPr lang="en-US" sz="1100" dirty="0"/>
          </a:p>
        </p:txBody>
      </p:sp>
      <p:sp>
        <p:nvSpPr>
          <p:cNvPr id="3" name="Text 1"/>
          <p:cNvSpPr/>
          <p:nvPr/>
        </p:nvSpPr>
        <p:spPr>
          <a:xfrm>
            <a:off x="457200" y="594360"/>
            <a:ext cx="9601200" cy="54864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How NAT Works</a:t>
            </a:r>
            <a:endParaRPr lang="en-US" sz="3000" dirty="0"/>
          </a:p>
        </p:txBody>
      </p:sp>
      <p:sp>
        <p:nvSpPr>
          <p:cNvPr id="4" name="Shape 2"/>
          <p:cNvSpPr/>
          <p:nvPr/>
        </p:nvSpPr>
        <p:spPr>
          <a:xfrm>
            <a:off x="548640" y="2834640"/>
            <a:ext cx="1892808" cy="1234440"/>
          </a:xfrm>
          <a:prstGeom prst="roundRect">
            <a:avLst>
              <a:gd name="adj" fmla="val 5185"/>
            </a:avLst>
          </a:prstGeom>
          <a:solidFill>
            <a:srgbClr val="065A82"/>
          </a:solidFill>
          <a:ln/>
        </p:spPr>
      </p:sp>
      <p:sp>
        <p:nvSpPr>
          <p:cNvPr id="5" name="Text 3"/>
          <p:cNvSpPr/>
          <p:nvPr/>
        </p:nvSpPr>
        <p:spPr>
          <a:xfrm>
            <a:off x="640080" y="2889504"/>
            <a:ext cx="457200" cy="274320"/>
          </a:xfrm>
          <a:prstGeom prst="rect">
            <a:avLst/>
          </a:prstGeom>
          <a:noFill/>
          <a:ln/>
        </p:spPr>
        <p:txBody>
          <a:bodyPr wrap="square" rtlCol="0" anchor="ctr"/>
          <a:lstStyle/>
          <a:p>
            <a:pPr indent="0" marL="0">
              <a:buNone/>
            </a:pPr>
            <a:r>
              <a:rPr lang="en-US" sz="1100" b="1" dirty="0">
                <a:solidFill>
                  <a:srgbClr val="3FC1C9"/>
                </a:solidFill>
                <a:latin typeface="Calibri" pitchFamily="34" charset="0"/>
                <a:ea typeface="Calibri" pitchFamily="34" charset="-122"/>
                <a:cs typeface="Calibri" pitchFamily="34" charset="-120"/>
              </a:rPr>
              <a:t>1</a:t>
            </a:r>
            <a:endParaRPr lang="en-US" sz="1100" dirty="0"/>
          </a:p>
        </p:txBody>
      </p:sp>
      <p:sp>
        <p:nvSpPr>
          <p:cNvPr id="6" name="Text 4"/>
          <p:cNvSpPr/>
          <p:nvPr/>
        </p:nvSpPr>
        <p:spPr>
          <a:xfrm>
            <a:off x="658368" y="3127248"/>
            <a:ext cx="1673352" cy="850392"/>
          </a:xfrm>
          <a:prstGeom prst="rect">
            <a:avLst/>
          </a:prstGeom>
          <a:noFill/>
          <a:ln/>
        </p:spPr>
        <p:txBody>
          <a:bodyPr wrap="square" rtlCol="0" anchor="t"/>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Laptop</a:t>
            </a:r>
            <a:endParaRPr lang="en-US" sz="1250" dirty="0"/>
          </a:p>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192.168.1.10</a:t>
            </a:r>
            <a:endParaRPr lang="en-US" sz="1250" dirty="0"/>
          </a:p>
        </p:txBody>
      </p:sp>
      <p:sp>
        <p:nvSpPr>
          <p:cNvPr id="7" name="Text 5"/>
          <p:cNvSpPr/>
          <p:nvPr/>
        </p:nvSpPr>
        <p:spPr>
          <a:xfrm>
            <a:off x="2441448" y="3177540"/>
            <a:ext cx="320040" cy="548640"/>
          </a:xfrm>
          <a:prstGeom prst="rect">
            <a:avLst/>
          </a:prstGeom>
          <a:noFill/>
          <a:ln/>
        </p:spPr>
        <p:txBody>
          <a:bodyPr wrap="square" rtlCol="0" anchor="ctr"/>
          <a:lstStyle/>
          <a:p>
            <a:pPr algn="ctr" indent="0" marL="0">
              <a:buNone/>
            </a:pPr>
            <a:r>
              <a:rPr lang="en-US" sz="2200" b="1" dirty="0">
                <a:solidFill>
                  <a:srgbClr val="1C7293"/>
                </a:solidFill>
                <a:latin typeface="Calibri" pitchFamily="34" charset="0"/>
                <a:ea typeface="Calibri" pitchFamily="34" charset="-122"/>
                <a:cs typeface="Calibri" pitchFamily="34" charset="-120"/>
              </a:rPr>
              <a:t>→</a:t>
            </a:r>
            <a:endParaRPr lang="en-US" sz="2200" dirty="0"/>
          </a:p>
        </p:txBody>
      </p:sp>
      <p:sp>
        <p:nvSpPr>
          <p:cNvPr id="8" name="Shape 6"/>
          <p:cNvSpPr/>
          <p:nvPr/>
        </p:nvSpPr>
        <p:spPr>
          <a:xfrm>
            <a:off x="2761488" y="2834640"/>
            <a:ext cx="1892808" cy="1234440"/>
          </a:xfrm>
          <a:prstGeom prst="roundRect">
            <a:avLst>
              <a:gd name="adj" fmla="val 5185"/>
            </a:avLst>
          </a:prstGeom>
          <a:solidFill>
            <a:srgbClr val="1C7293"/>
          </a:solidFill>
          <a:ln/>
        </p:spPr>
      </p:sp>
      <p:sp>
        <p:nvSpPr>
          <p:cNvPr id="9" name="Text 7"/>
          <p:cNvSpPr/>
          <p:nvPr/>
        </p:nvSpPr>
        <p:spPr>
          <a:xfrm>
            <a:off x="2852928" y="2889504"/>
            <a:ext cx="457200" cy="274320"/>
          </a:xfrm>
          <a:prstGeom prst="rect">
            <a:avLst/>
          </a:prstGeom>
          <a:noFill/>
          <a:ln/>
        </p:spPr>
        <p:txBody>
          <a:bodyPr wrap="square" rtlCol="0" anchor="ctr"/>
          <a:lstStyle/>
          <a:p>
            <a:pPr indent="0" marL="0">
              <a:buNone/>
            </a:pPr>
            <a:r>
              <a:rPr lang="en-US" sz="1100" b="1" dirty="0">
                <a:solidFill>
                  <a:srgbClr val="3FC1C9"/>
                </a:solidFill>
                <a:latin typeface="Calibri" pitchFamily="34" charset="0"/>
                <a:ea typeface="Calibri" pitchFamily="34" charset="-122"/>
                <a:cs typeface="Calibri" pitchFamily="34" charset="-120"/>
              </a:rPr>
              <a:t>2</a:t>
            </a:r>
            <a:endParaRPr lang="en-US" sz="1100" dirty="0"/>
          </a:p>
        </p:txBody>
      </p:sp>
      <p:sp>
        <p:nvSpPr>
          <p:cNvPr id="10" name="Text 8"/>
          <p:cNvSpPr/>
          <p:nvPr/>
        </p:nvSpPr>
        <p:spPr>
          <a:xfrm>
            <a:off x="2871216" y="3127248"/>
            <a:ext cx="1673352" cy="850392"/>
          </a:xfrm>
          <a:prstGeom prst="rect">
            <a:avLst/>
          </a:prstGeom>
          <a:noFill/>
          <a:ln/>
        </p:spPr>
        <p:txBody>
          <a:bodyPr wrap="square" rtlCol="0" anchor="t"/>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Phone</a:t>
            </a:r>
            <a:endParaRPr lang="en-US" sz="1250" dirty="0"/>
          </a:p>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192.168.1.11</a:t>
            </a:r>
            <a:endParaRPr lang="en-US" sz="1250" dirty="0"/>
          </a:p>
        </p:txBody>
      </p:sp>
      <p:sp>
        <p:nvSpPr>
          <p:cNvPr id="11" name="Text 9"/>
          <p:cNvSpPr/>
          <p:nvPr/>
        </p:nvSpPr>
        <p:spPr>
          <a:xfrm>
            <a:off x="4654296" y="3177540"/>
            <a:ext cx="320040" cy="548640"/>
          </a:xfrm>
          <a:prstGeom prst="rect">
            <a:avLst/>
          </a:prstGeom>
          <a:noFill/>
          <a:ln/>
        </p:spPr>
        <p:txBody>
          <a:bodyPr wrap="square" rtlCol="0" anchor="ctr"/>
          <a:lstStyle/>
          <a:p>
            <a:pPr algn="ctr" indent="0" marL="0">
              <a:buNone/>
            </a:pPr>
            <a:r>
              <a:rPr lang="en-US" sz="2200" b="1" dirty="0">
                <a:solidFill>
                  <a:srgbClr val="1C7293"/>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4974336" y="2834640"/>
            <a:ext cx="1892808" cy="1234440"/>
          </a:xfrm>
          <a:prstGeom prst="roundRect">
            <a:avLst>
              <a:gd name="adj" fmla="val 5185"/>
            </a:avLst>
          </a:prstGeom>
          <a:solidFill>
            <a:srgbClr val="065A82"/>
          </a:solidFill>
          <a:ln/>
        </p:spPr>
      </p:sp>
      <p:sp>
        <p:nvSpPr>
          <p:cNvPr id="13" name="Text 11"/>
          <p:cNvSpPr/>
          <p:nvPr/>
        </p:nvSpPr>
        <p:spPr>
          <a:xfrm>
            <a:off x="5065776" y="2889504"/>
            <a:ext cx="457200" cy="274320"/>
          </a:xfrm>
          <a:prstGeom prst="rect">
            <a:avLst/>
          </a:prstGeom>
          <a:noFill/>
          <a:ln/>
        </p:spPr>
        <p:txBody>
          <a:bodyPr wrap="square" rtlCol="0" anchor="ctr"/>
          <a:lstStyle/>
          <a:p>
            <a:pPr indent="0" marL="0">
              <a:buNone/>
            </a:pPr>
            <a:r>
              <a:rPr lang="en-US" sz="1100" b="1" dirty="0">
                <a:solidFill>
                  <a:srgbClr val="3FC1C9"/>
                </a:solidFill>
                <a:latin typeface="Calibri" pitchFamily="34" charset="0"/>
                <a:ea typeface="Calibri" pitchFamily="34" charset="-122"/>
                <a:cs typeface="Calibri" pitchFamily="34" charset="-120"/>
              </a:rPr>
              <a:t>3</a:t>
            </a:r>
            <a:endParaRPr lang="en-US" sz="1100" dirty="0"/>
          </a:p>
        </p:txBody>
      </p:sp>
      <p:sp>
        <p:nvSpPr>
          <p:cNvPr id="14" name="Text 12"/>
          <p:cNvSpPr/>
          <p:nvPr/>
        </p:nvSpPr>
        <p:spPr>
          <a:xfrm>
            <a:off x="5084064" y="3127248"/>
            <a:ext cx="1673352" cy="850392"/>
          </a:xfrm>
          <a:prstGeom prst="rect">
            <a:avLst/>
          </a:prstGeom>
          <a:noFill/>
          <a:ln/>
        </p:spPr>
        <p:txBody>
          <a:bodyPr wrap="square" rtlCol="0" anchor="t"/>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PC</a:t>
            </a:r>
            <a:endParaRPr lang="en-US" sz="1250" dirty="0"/>
          </a:p>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192.168.1.12</a:t>
            </a:r>
            <a:endParaRPr lang="en-US" sz="1250" dirty="0"/>
          </a:p>
        </p:txBody>
      </p:sp>
      <p:sp>
        <p:nvSpPr>
          <p:cNvPr id="15" name="Text 13"/>
          <p:cNvSpPr/>
          <p:nvPr/>
        </p:nvSpPr>
        <p:spPr>
          <a:xfrm>
            <a:off x="6867144" y="3177540"/>
            <a:ext cx="320040" cy="548640"/>
          </a:xfrm>
          <a:prstGeom prst="rect">
            <a:avLst/>
          </a:prstGeom>
          <a:noFill/>
          <a:ln/>
        </p:spPr>
        <p:txBody>
          <a:bodyPr wrap="square" rtlCol="0" anchor="ctr"/>
          <a:lstStyle/>
          <a:p>
            <a:pPr algn="ctr" indent="0" marL="0">
              <a:buNone/>
            </a:pPr>
            <a:r>
              <a:rPr lang="en-US" sz="2200" b="1" dirty="0">
                <a:solidFill>
                  <a:srgbClr val="1C7293"/>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7187184" y="2834640"/>
            <a:ext cx="1892808" cy="1234440"/>
          </a:xfrm>
          <a:prstGeom prst="roundRect">
            <a:avLst>
              <a:gd name="adj" fmla="val 5185"/>
            </a:avLst>
          </a:prstGeom>
          <a:solidFill>
            <a:srgbClr val="1C7293"/>
          </a:solidFill>
          <a:ln/>
        </p:spPr>
      </p:sp>
      <p:sp>
        <p:nvSpPr>
          <p:cNvPr id="17" name="Text 15"/>
          <p:cNvSpPr/>
          <p:nvPr/>
        </p:nvSpPr>
        <p:spPr>
          <a:xfrm>
            <a:off x="7278624" y="2889504"/>
            <a:ext cx="457200" cy="274320"/>
          </a:xfrm>
          <a:prstGeom prst="rect">
            <a:avLst/>
          </a:prstGeom>
          <a:noFill/>
          <a:ln/>
        </p:spPr>
        <p:txBody>
          <a:bodyPr wrap="square" rtlCol="0" anchor="ctr"/>
          <a:lstStyle/>
          <a:p>
            <a:pPr indent="0" marL="0">
              <a:buNone/>
            </a:pPr>
            <a:r>
              <a:rPr lang="en-US" sz="1100" b="1" dirty="0">
                <a:solidFill>
                  <a:srgbClr val="3FC1C9"/>
                </a:solidFill>
                <a:latin typeface="Calibri" pitchFamily="34" charset="0"/>
                <a:ea typeface="Calibri" pitchFamily="34" charset="-122"/>
                <a:cs typeface="Calibri" pitchFamily="34" charset="-120"/>
              </a:rPr>
              <a:t>4</a:t>
            </a:r>
            <a:endParaRPr lang="en-US" sz="1100" dirty="0"/>
          </a:p>
        </p:txBody>
      </p:sp>
      <p:sp>
        <p:nvSpPr>
          <p:cNvPr id="18" name="Text 16"/>
          <p:cNvSpPr/>
          <p:nvPr/>
        </p:nvSpPr>
        <p:spPr>
          <a:xfrm>
            <a:off x="7296912" y="3127248"/>
            <a:ext cx="1673352" cy="850392"/>
          </a:xfrm>
          <a:prstGeom prst="rect">
            <a:avLst/>
          </a:prstGeom>
          <a:noFill/>
          <a:ln/>
        </p:spPr>
        <p:txBody>
          <a:bodyPr wrap="square" rtlCol="0" anchor="t"/>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Router (NAT)</a:t>
            </a:r>
            <a:endParaRPr lang="en-US" sz="1250" dirty="0"/>
          </a:p>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Public IP 203.0.113.25</a:t>
            </a:r>
            <a:endParaRPr lang="en-US" sz="1250" dirty="0"/>
          </a:p>
        </p:txBody>
      </p:sp>
      <p:sp>
        <p:nvSpPr>
          <p:cNvPr id="19" name="Text 17"/>
          <p:cNvSpPr/>
          <p:nvPr/>
        </p:nvSpPr>
        <p:spPr>
          <a:xfrm>
            <a:off x="9079992" y="3177540"/>
            <a:ext cx="320040" cy="548640"/>
          </a:xfrm>
          <a:prstGeom prst="rect">
            <a:avLst/>
          </a:prstGeom>
          <a:noFill/>
          <a:ln/>
        </p:spPr>
        <p:txBody>
          <a:bodyPr wrap="square" rtlCol="0" anchor="ctr"/>
          <a:lstStyle/>
          <a:p>
            <a:pPr algn="ctr" indent="0" marL="0">
              <a:buNone/>
            </a:pPr>
            <a:r>
              <a:rPr lang="en-US" sz="2200" b="1" dirty="0">
                <a:solidFill>
                  <a:srgbClr val="1C7293"/>
                </a:solidFill>
                <a:latin typeface="Calibri" pitchFamily="34" charset="0"/>
                <a:ea typeface="Calibri" pitchFamily="34" charset="-122"/>
                <a:cs typeface="Calibri" pitchFamily="34" charset="-120"/>
              </a:rPr>
              <a:t>→</a:t>
            </a:r>
            <a:endParaRPr lang="en-US" sz="2200" dirty="0"/>
          </a:p>
        </p:txBody>
      </p:sp>
      <p:sp>
        <p:nvSpPr>
          <p:cNvPr id="20" name="Shape 18"/>
          <p:cNvSpPr/>
          <p:nvPr/>
        </p:nvSpPr>
        <p:spPr>
          <a:xfrm>
            <a:off x="9400032" y="2834640"/>
            <a:ext cx="1892808" cy="1234440"/>
          </a:xfrm>
          <a:prstGeom prst="roundRect">
            <a:avLst>
              <a:gd name="adj" fmla="val 5185"/>
            </a:avLst>
          </a:prstGeom>
          <a:solidFill>
            <a:srgbClr val="065A82"/>
          </a:solidFill>
          <a:ln/>
        </p:spPr>
      </p:sp>
      <p:sp>
        <p:nvSpPr>
          <p:cNvPr id="21" name="Text 19"/>
          <p:cNvSpPr/>
          <p:nvPr/>
        </p:nvSpPr>
        <p:spPr>
          <a:xfrm>
            <a:off x="9491472" y="2889504"/>
            <a:ext cx="457200" cy="274320"/>
          </a:xfrm>
          <a:prstGeom prst="rect">
            <a:avLst/>
          </a:prstGeom>
          <a:noFill/>
          <a:ln/>
        </p:spPr>
        <p:txBody>
          <a:bodyPr wrap="square" rtlCol="0" anchor="ctr"/>
          <a:lstStyle/>
          <a:p>
            <a:pPr indent="0" marL="0">
              <a:buNone/>
            </a:pPr>
            <a:r>
              <a:rPr lang="en-US" sz="1100" b="1" dirty="0">
                <a:solidFill>
                  <a:srgbClr val="3FC1C9"/>
                </a:solidFill>
                <a:latin typeface="Calibri" pitchFamily="34" charset="0"/>
                <a:ea typeface="Calibri" pitchFamily="34" charset="-122"/>
                <a:cs typeface="Calibri" pitchFamily="34" charset="-120"/>
              </a:rPr>
              <a:t>5</a:t>
            </a:r>
            <a:endParaRPr lang="en-US" sz="1100" dirty="0"/>
          </a:p>
        </p:txBody>
      </p:sp>
      <p:sp>
        <p:nvSpPr>
          <p:cNvPr id="22" name="Text 20"/>
          <p:cNvSpPr/>
          <p:nvPr/>
        </p:nvSpPr>
        <p:spPr>
          <a:xfrm>
            <a:off x="9509760" y="3127248"/>
            <a:ext cx="1673352" cy="850392"/>
          </a:xfrm>
          <a:prstGeom prst="rect">
            <a:avLst/>
          </a:prstGeom>
          <a:noFill/>
          <a:ln/>
        </p:spPr>
        <p:txBody>
          <a:bodyPr wrap="square" rtlCol="0" anchor="t"/>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Internet</a:t>
            </a:r>
            <a:endParaRPr lang="en-US" sz="1250" dirty="0"/>
          </a:p>
        </p:txBody>
      </p:sp>
      <p:sp>
        <p:nvSpPr>
          <p:cNvPr id="23" name="Text 21"/>
          <p:cNvSpPr/>
          <p:nvPr/>
        </p:nvSpPr>
        <p:spPr>
          <a:xfrm>
            <a:off x="548640" y="4526280"/>
            <a:ext cx="11064240" cy="1463040"/>
          </a:xfrm>
          <a:prstGeom prst="rect">
            <a:avLst/>
          </a:prstGeom>
          <a:noFill/>
          <a:ln/>
        </p:spPr>
        <p:txBody>
          <a:bodyPr wrap="square" rtlCol="0" anchor="t"/>
          <a:lstStyle/>
          <a:p>
            <a:pPr indent="0" marL="0">
              <a:lnSpc>
                <a:spcPct val="130000"/>
              </a:lnSpc>
              <a:buNone/>
            </a:pPr>
            <a:r>
              <a:rPr lang="en-US" sz="1450" dirty="0">
                <a:solidFill>
                  <a:srgbClr val="1B1B1B"/>
                </a:solidFill>
                <a:latin typeface="Calibri" pitchFamily="34" charset="0"/>
                <a:ea typeface="Calibri" pitchFamily="34" charset="-122"/>
                <a:cs typeface="Calibri" pitchFamily="34" charset="-120"/>
              </a:rPr>
              <a:t>All devices appear on the Internet using the router's public IP. When the laptop visits www.google.com, the router changes the source address from 192.168.1.10 to 203.0.113.25, and forwards Google's response back to the correct device.</a:t>
            </a:r>
            <a:endParaRPr lang="en-US" sz="1450" dirty="0"/>
          </a:p>
        </p:txBody>
      </p:sp>
      <p:sp>
        <p:nvSpPr>
          <p:cNvPr id="24" name="Text 22"/>
          <p:cNvSpPr/>
          <p:nvPr/>
        </p:nvSpPr>
        <p:spPr>
          <a:xfrm>
            <a:off x="11521440" y="6446520"/>
            <a:ext cx="548640" cy="320040"/>
          </a:xfrm>
          <a:prstGeom prst="rect">
            <a:avLst/>
          </a:prstGeom>
          <a:noFill/>
          <a:ln/>
        </p:spPr>
        <p:txBody>
          <a:bodyPr wrap="square" rtlCol="0" anchor="ctr"/>
          <a:lstStyle/>
          <a:p>
            <a:pPr algn="r" indent="0" marL="0">
              <a:buNone/>
            </a:pPr>
            <a:r>
              <a:rPr lang="en-US" sz="1000" dirty="0">
                <a:solidFill>
                  <a:srgbClr val="A9B4BE"/>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7315200" cy="320040"/>
          </a:xfrm>
          <a:prstGeom prst="rect">
            <a:avLst/>
          </a:prstGeom>
          <a:noFill/>
          <a:ln/>
        </p:spPr>
        <p:txBody>
          <a:bodyPr wrap="square"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DAY 10  ·  NAT</a:t>
            </a:r>
            <a:endParaRPr lang="en-US" sz="1100" dirty="0"/>
          </a:p>
        </p:txBody>
      </p:sp>
      <p:sp>
        <p:nvSpPr>
          <p:cNvPr id="3" name="Text 1"/>
          <p:cNvSpPr/>
          <p:nvPr/>
        </p:nvSpPr>
        <p:spPr>
          <a:xfrm>
            <a:off x="457200" y="594360"/>
            <a:ext cx="9601200" cy="54864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Types of NAT</a:t>
            </a:r>
            <a:endParaRPr lang="en-US" sz="3000" dirty="0"/>
          </a:p>
        </p:txBody>
      </p:sp>
      <p:sp>
        <p:nvSpPr>
          <p:cNvPr id="4" name="Shape 2"/>
          <p:cNvSpPr/>
          <p:nvPr/>
        </p:nvSpPr>
        <p:spPr>
          <a:xfrm>
            <a:off x="502920" y="1463040"/>
            <a:ext cx="3505200" cy="4297680"/>
          </a:xfrm>
          <a:prstGeom prst="roundRect">
            <a:avLst>
              <a:gd name="adj" fmla="val 2087"/>
            </a:avLst>
          </a:prstGeom>
          <a:solidFill>
            <a:srgbClr val="EAF4F8"/>
          </a:solidFill>
          <a:ln w="12700">
            <a:solidFill>
              <a:srgbClr val="D5E4EE"/>
            </a:solidFill>
            <a:prstDash val="solid"/>
          </a:ln>
        </p:spPr>
      </p:sp>
      <p:sp>
        <p:nvSpPr>
          <p:cNvPr id="5" name="Shape 3"/>
          <p:cNvSpPr/>
          <p:nvPr/>
        </p:nvSpPr>
        <p:spPr>
          <a:xfrm>
            <a:off x="502920" y="1463040"/>
            <a:ext cx="3505200" cy="548640"/>
          </a:xfrm>
          <a:prstGeom prst="rect">
            <a:avLst/>
          </a:prstGeom>
          <a:solidFill>
            <a:srgbClr val="065A82"/>
          </a:solidFill>
          <a:ln/>
        </p:spPr>
      </p:sp>
      <p:sp>
        <p:nvSpPr>
          <p:cNvPr id="6" name="Text 4"/>
          <p:cNvSpPr/>
          <p:nvPr/>
        </p:nvSpPr>
        <p:spPr>
          <a:xfrm>
            <a:off x="640080" y="1463040"/>
            <a:ext cx="3230880" cy="54864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1. Static NAT</a:t>
            </a:r>
            <a:endParaRPr lang="en-US" sz="1350" dirty="0"/>
          </a:p>
        </p:txBody>
      </p:sp>
      <p:sp>
        <p:nvSpPr>
          <p:cNvPr id="7" name="Text 5"/>
          <p:cNvSpPr/>
          <p:nvPr/>
        </p:nvSpPr>
        <p:spPr>
          <a:xfrm>
            <a:off x="685800" y="2148840"/>
            <a:ext cx="3139440" cy="3474720"/>
          </a:xfrm>
          <a:prstGeom prst="rect">
            <a:avLst/>
          </a:prstGeom>
          <a:noFill/>
          <a:ln/>
        </p:spPr>
        <p:txBody>
          <a:bodyPr wrap="square" rtlCol="0" anchor="t"/>
          <a:lstStyle/>
          <a:p>
            <a:pPr marL="342900" indent="-342900">
              <a:spcAft>
                <a:spcPts val="600"/>
              </a:spcAft>
              <a:buSzPct val="100000"/>
              <a:buChar char="•"/>
            </a:pPr>
            <a:r>
              <a:rPr lang="en-US" sz="1250" dirty="0">
                <a:solidFill>
                  <a:srgbClr val="1B1B1B"/>
                </a:solidFill>
                <a:latin typeface="Calibri" pitchFamily="34" charset="0"/>
                <a:ea typeface="Calibri" pitchFamily="34" charset="-122"/>
                <a:cs typeface="Calibri" pitchFamily="34" charset="-120"/>
              </a:rPr>
              <a:t>One private IP maps to one public IP</a:t>
            </a:r>
            <a:endParaRPr lang="en-US" sz="1250" dirty="0"/>
          </a:p>
          <a:p>
            <a:pPr marL="342900" indent="-342900">
              <a:spcAft>
                <a:spcPts val="600"/>
              </a:spcAft>
              <a:buSzPct val="100000"/>
              <a:buChar char="•"/>
            </a:pPr>
            <a:r>
              <a:rPr lang="en-US" sz="1250" dirty="0">
                <a:solidFill>
                  <a:srgbClr val="1B1B1B"/>
                </a:solidFill>
                <a:latin typeface="Calibri" pitchFamily="34" charset="0"/>
                <a:ea typeface="Calibri" pitchFamily="34" charset="-122"/>
                <a:cs typeface="Calibri" pitchFamily="34" charset="-120"/>
              </a:rPr>
              <a:t>Permanent mapping</a:t>
            </a:r>
            <a:endParaRPr lang="en-US" sz="1250" dirty="0"/>
          </a:p>
          <a:p>
            <a:pPr marL="342900" indent="-342900">
              <a:spcAft>
                <a:spcPts val="600"/>
              </a:spcAft>
              <a:buSzPct val="100000"/>
              <a:buChar char="•"/>
            </a:pPr>
            <a:r>
              <a:rPr lang="en-US" sz="1250" dirty="0">
                <a:solidFill>
                  <a:srgbClr val="1B1B1B"/>
                </a:solidFill>
                <a:latin typeface="Calibri" pitchFamily="34" charset="0"/>
                <a:ea typeface="Calibri" pitchFamily="34" charset="-122"/>
                <a:cs typeface="Calibri" pitchFamily="34" charset="-120"/>
              </a:rPr>
              <a:t>Commonly used for servers</a:t>
            </a:r>
            <a:endParaRPr lang="en-US" sz="1250" dirty="0"/>
          </a:p>
        </p:txBody>
      </p:sp>
      <p:sp>
        <p:nvSpPr>
          <p:cNvPr id="8" name="Shape 6"/>
          <p:cNvSpPr/>
          <p:nvPr/>
        </p:nvSpPr>
        <p:spPr>
          <a:xfrm>
            <a:off x="4328160" y="1463040"/>
            <a:ext cx="3505200" cy="4297680"/>
          </a:xfrm>
          <a:prstGeom prst="roundRect">
            <a:avLst>
              <a:gd name="adj" fmla="val 2087"/>
            </a:avLst>
          </a:prstGeom>
          <a:solidFill>
            <a:srgbClr val="EAF4F8"/>
          </a:solidFill>
          <a:ln w="12700">
            <a:solidFill>
              <a:srgbClr val="D5E4EE"/>
            </a:solidFill>
            <a:prstDash val="solid"/>
          </a:ln>
        </p:spPr>
      </p:sp>
      <p:sp>
        <p:nvSpPr>
          <p:cNvPr id="9" name="Shape 7"/>
          <p:cNvSpPr/>
          <p:nvPr/>
        </p:nvSpPr>
        <p:spPr>
          <a:xfrm>
            <a:off x="4328160" y="1463040"/>
            <a:ext cx="3505200" cy="548640"/>
          </a:xfrm>
          <a:prstGeom prst="rect">
            <a:avLst/>
          </a:prstGeom>
          <a:solidFill>
            <a:srgbClr val="065A82"/>
          </a:solidFill>
          <a:ln/>
        </p:spPr>
      </p:sp>
      <p:sp>
        <p:nvSpPr>
          <p:cNvPr id="10" name="Text 8"/>
          <p:cNvSpPr/>
          <p:nvPr/>
        </p:nvSpPr>
        <p:spPr>
          <a:xfrm>
            <a:off x="4465320" y="1463040"/>
            <a:ext cx="3230880" cy="54864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2. Dynamic NAT</a:t>
            </a:r>
            <a:endParaRPr lang="en-US" sz="1350" dirty="0"/>
          </a:p>
        </p:txBody>
      </p:sp>
      <p:sp>
        <p:nvSpPr>
          <p:cNvPr id="11" name="Text 9"/>
          <p:cNvSpPr/>
          <p:nvPr/>
        </p:nvSpPr>
        <p:spPr>
          <a:xfrm>
            <a:off x="4511040" y="2148840"/>
            <a:ext cx="3139440" cy="3474720"/>
          </a:xfrm>
          <a:prstGeom prst="rect">
            <a:avLst/>
          </a:prstGeom>
          <a:noFill/>
          <a:ln/>
        </p:spPr>
        <p:txBody>
          <a:bodyPr wrap="square" rtlCol="0" anchor="t"/>
          <a:lstStyle/>
          <a:p>
            <a:pPr marL="342900" indent="-342900">
              <a:spcAft>
                <a:spcPts val="600"/>
              </a:spcAft>
              <a:buSzPct val="100000"/>
              <a:buChar char="•"/>
            </a:pPr>
            <a:r>
              <a:rPr lang="en-US" sz="1250" dirty="0">
                <a:solidFill>
                  <a:srgbClr val="1B1B1B"/>
                </a:solidFill>
                <a:latin typeface="Calibri" pitchFamily="34" charset="0"/>
                <a:ea typeface="Calibri" pitchFamily="34" charset="-122"/>
                <a:cs typeface="Calibri" pitchFamily="34" charset="-120"/>
              </a:rPr>
              <a:t>Maps private IPs to a pool of public IPs</a:t>
            </a:r>
            <a:endParaRPr lang="en-US" sz="1250" dirty="0"/>
          </a:p>
          <a:p>
            <a:pPr marL="342900" indent="-342900">
              <a:spcAft>
                <a:spcPts val="600"/>
              </a:spcAft>
              <a:buSzPct val="100000"/>
              <a:buChar char="•"/>
            </a:pPr>
            <a:r>
              <a:rPr lang="en-US" sz="1250" dirty="0">
                <a:solidFill>
                  <a:srgbClr val="1B1B1B"/>
                </a:solidFill>
                <a:latin typeface="Calibri" pitchFamily="34" charset="0"/>
                <a:ea typeface="Calibri" pitchFamily="34" charset="-122"/>
                <a:cs typeface="Calibri" pitchFamily="34" charset="-120"/>
              </a:rPr>
              <a:t>Temporary assignment</a:t>
            </a:r>
            <a:endParaRPr lang="en-US" sz="1250" dirty="0"/>
          </a:p>
          <a:p>
            <a:pPr marL="342900" indent="-342900">
              <a:spcAft>
                <a:spcPts val="600"/>
              </a:spcAft>
              <a:buSzPct val="100000"/>
              <a:buChar char="•"/>
            </a:pPr>
            <a:r>
              <a:rPr lang="en-US" sz="1250" dirty="0">
                <a:solidFill>
                  <a:srgbClr val="1B1B1B"/>
                </a:solidFill>
                <a:latin typeface="Calibri" pitchFamily="34" charset="0"/>
                <a:ea typeface="Calibri" pitchFamily="34" charset="-122"/>
                <a:cs typeface="Calibri" pitchFamily="34" charset="-120"/>
              </a:rPr>
              <a:t>Less common than PAT</a:t>
            </a:r>
            <a:endParaRPr lang="en-US" sz="1250" dirty="0"/>
          </a:p>
        </p:txBody>
      </p:sp>
      <p:sp>
        <p:nvSpPr>
          <p:cNvPr id="12" name="Shape 10"/>
          <p:cNvSpPr/>
          <p:nvPr/>
        </p:nvSpPr>
        <p:spPr>
          <a:xfrm>
            <a:off x="8153400" y="1463040"/>
            <a:ext cx="3505200" cy="4297680"/>
          </a:xfrm>
          <a:prstGeom prst="roundRect">
            <a:avLst>
              <a:gd name="adj" fmla="val 2087"/>
            </a:avLst>
          </a:prstGeom>
          <a:solidFill>
            <a:srgbClr val="EAF4F8"/>
          </a:solidFill>
          <a:ln w="12700">
            <a:solidFill>
              <a:srgbClr val="D5E4EE"/>
            </a:solidFill>
            <a:prstDash val="solid"/>
          </a:ln>
        </p:spPr>
      </p:sp>
      <p:sp>
        <p:nvSpPr>
          <p:cNvPr id="13" name="Shape 11"/>
          <p:cNvSpPr/>
          <p:nvPr/>
        </p:nvSpPr>
        <p:spPr>
          <a:xfrm>
            <a:off x="8153400" y="1463040"/>
            <a:ext cx="3505200" cy="548640"/>
          </a:xfrm>
          <a:prstGeom prst="rect">
            <a:avLst/>
          </a:prstGeom>
          <a:solidFill>
            <a:srgbClr val="065A82"/>
          </a:solidFill>
          <a:ln/>
        </p:spPr>
      </p:sp>
      <p:sp>
        <p:nvSpPr>
          <p:cNvPr id="14" name="Text 12"/>
          <p:cNvSpPr/>
          <p:nvPr/>
        </p:nvSpPr>
        <p:spPr>
          <a:xfrm>
            <a:off x="8290560" y="1463040"/>
            <a:ext cx="3230880" cy="54864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3. PAT (NAT Overload)</a:t>
            </a:r>
            <a:endParaRPr lang="en-US" sz="1350" dirty="0"/>
          </a:p>
        </p:txBody>
      </p:sp>
      <p:sp>
        <p:nvSpPr>
          <p:cNvPr id="15" name="Text 13"/>
          <p:cNvSpPr/>
          <p:nvPr/>
        </p:nvSpPr>
        <p:spPr>
          <a:xfrm>
            <a:off x="8336280" y="2148840"/>
            <a:ext cx="3139440" cy="3474720"/>
          </a:xfrm>
          <a:prstGeom prst="rect">
            <a:avLst/>
          </a:prstGeom>
          <a:noFill/>
          <a:ln/>
        </p:spPr>
        <p:txBody>
          <a:bodyPr wrap="square" rtlCol="0" anchor="t"/>
          <a:lstStyle/>
          <a:p>
            <a:pPr marL="342900" indent="-342900">
              <a:spcAft>
                <a:spcPts val="600"/>
              </a:spcAft>
              <a:buSzPct val="100000"/>
              <a:buChar char="•"/>
            </a:pPr>
            <a:r>
              <a:rPr lang="en-US" sz="1250" dirty="0">
                <a:solidFill>
                  <a:srgbClr val="1B1B1B"/>
                </a:solidFill>
                <a:latin typeface="Calibri" pitchFamily="34" charset="0"/>
                <a:ea typeface="Calibri" pitchFamily="34" charset="-122"/>
                <a:cs typeface="Calibri" pitchFamily="34" charset="-120"/>
              </a:rPr>
              <a:t>Full name: Port Address Translation — the most common type</a:t>
            </a:r>
            <a:endParaRPr lang="en-US" sz="1250" dirty="0"/>
          </a:p>
          <a:p>
            <a:pPr marL="342900" indent="-342900">
              <a:spcAft>
                <a:spcPts val="600"/>
              </a:spcAft>
              <a:buSzPct val="100000"/>
              <a:buChar char="•"/>
            </a:pPr>
            <a:r>
              <a:rPr lang="en-US" sz="1250" dirty="0">
                <a:solidFill>
                  <a:srgbClr val="1B1B1B"/>
                </a:solidFill>
                <a:latin typeface="Calibri" pitchFamily="34" charset="0"/>
                <a:ea typeface="Calibri" pitchFamily="34" charset="-122"/>
                <a:cs typeface="Calibri" pitchFamily="34" charset="-120"/>
              </a:rPr>
              <a:t>Many devices share one public IP via different ports</a:t>
            </a:r>
            <a:endParaRPr lang="en-US" sz="1250" dirty="0"/>
          </a:p>
          <a:p>
            <a:pPr marL="342900" indent="-342900">
              <a:spcAft>
                <a:spcPts val="600"/>
              </a:spcAft>
              <a:buSzPct val="100000"/>
              <a:buChar char="•"/>
            </a:pPr>
            <a:r>
              <a:rPr lang="en-US" sz="1250" dirty="0">
                <a:solidFill>
                  <a:srgbClr val="1B1B1B"/>
                </a:solidFill>
                <a:latin typeface="Calibri" pitchFamily="34" charset="0"/>
                <a:ea typeface="Calibri" pitchFamily="34" charset="-122"/>
                <a:cs typeface="Calibri" pitchFamily="34" charset="-120"/>
              </a:rPr>
              <a:t>e.g. 192.168.1.10:5001 → 203.0.113.25:6001</a:t>
            </a:r>
            <a:endParaRPr lang="en-US" sz="1250" dirty="0"/>
          </a:p>
        </p:txBody>
      </p:sp>
      <p:sp>
        <p:nvSpPr>
          <p:cNvPr id="16" name="Text 14"/>
          <p:cNvSpPr/>
          <p:nvPr/>
        </p:nvSpPr>
        <p:spPr>
          <a:xfrm>
            <a:off x="11521440" y="6446520"/>
            <a:ext cx="548640" cy="320040"/>
          </a:xfrm>
          <a:prstGeom prst="rect">
            <a:avLst/>
          </a:prstGeom>
          <a:noFill/>
          <a:ln/>
        </p:spPr>
        <p:txBody>
          <a:bodyPr wrap="square" rtlCol="0" anchor="ctr"/>
          <a:lstStyle/>
          <a:p>
            <a:pPr algn="r" indent="0" marL="0">
              <a:buNone/>
            </a:pPr>
            <a:r>
              <a:rPr lang="en-US" sz="1000" dirty="0">
                <a:solidFill>
                  <a:srgbClr val="A9B4BE"/>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7315200" cy="320040"/>
          </a:xfrm>
          <a:prstGeom prst="rect">
            <a:avLst/>
          </a:prstGeom>
          <a:noFill/>
          <a:ln/>
        </p:spPr>
        <p:txBody>
          <a:bodyPr wrap="square"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DAY 10  ·  NAT</a:t>
            </a:r>
            <a:endParaRPr lang="en-US" sz="1100" dirty="0"/>
          </a:p>
        </p:txBody>
      </p:sp>
      <p:sp>
        <p:nvSpPr>
          <p:cNvPr id="3" name="Text 1"/>
          <p:cNvSpPr/>
          <p:nvPr/>
        </p:nvSpPr>
        <p:spPr>
          <a:xfrm>
            <a:off x="457200" y="594360"/>
            <a:ext cx="9601200" cy="54864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NAT Translation Table</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1508760"/>
          <a:ext cx="6949440" cy="914400"/>
        </p:xfrm>
        <a:graphic>
          <a:graphicData uri="http://schemas.openxmlformats.org/drawingml/2006/table">
            <a:tbl>
              <a:tblPr/>
              <a:tblGrid>
                <a:gridCol w="1737360"/>
                <a:gridCol w="1737360"/>
                <a:gridCol w="1737360"/>
                <a:gridCol w="1737360"/>
              </a:tblGrid>
              <a:tr h="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Private IP</a:t>
                      </a:r>
                      <a:endParaRPr lang="en-US" sz="130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065A82"/>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Port</a:t>
                      </a:r>
                      <a:endParaRPr lang="en-US" sz="130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065A82"/>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Public IP</a:t>
                      </a:r>
                      <a:endParaRPr lang="en-US" sz="130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065A82"/>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Port</a:t>
                      </a:r>
                      <a:endParaRPr lang="en-US" sz="130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065A82"/>
                    </a:solidFill>
                  </a:tcPr>
                </a:tc>
              </a:tr>
              <a:tr h="0">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192.168.1.10</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5001</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203.0.113.25</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6001</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192.168.1.11</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EAF4F8"/>
                    </a:solidFill>
                  </a:tcPr>
                </a:tc>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5002</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EAF4F8"/>
                    </a:solidFill>
                  </a:tcPr>
                </a:tc>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203.0.113.25</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EAF4F8"/>
                    </a:solidFill>
                  </a:tcPr>
                </a:tc>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6002</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EAF4F8"/>
                    </a:solidFill>
                  </a:tcPr>
                </a:tc>
              </a:tr>
              <a:tr h="0">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192.168.1.12</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5003</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203.0.113.25</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6003</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r>
            </a:tbl>
          </a:graphicData>
        </a:graphic>
      </p:graphicFrame>
      <p:sp>
        <p:nvSpPr>
          <p:cNvPr id="5" name="Shape 2"/>
          <p:cNvSpPr/>
          <p:nvPr/>
        </p:nvSpPr>
        <p:spPr>
          <a:xfrm>
            <a:off x="7726680" y="1508760"/>
            <a:ext cx="3931920" cy="4617720"/>
          </a:xfrm>
          <a:prstGeom prst="roundRect">
            <a:avLst>
              <a:gd name="adj" fmla="val 1860"/>
            </a:avLst>
          </a:prstGeom>
          <a:solidFill>
            <a:srgbClr val="21295C"/>
          </a:solidFill>
          <a:ln/>
        </p:spPr>
      </p:sp>
      <p:sp>
        <p:nvSpPr>
          <p:cNvPr id="6" name="Text 3"/>
          <p:cNvSpPr/>
          <p:nvPr/>
        </p:nvSpPr>
        <p:spPr>
          <a:xfrm>
            <a:off x="8001000" y="1737360"/>
            <a:ext cx="3383280" cy="365760"/>
          </a:xfrm>
          <a:prstGeom prst="rect">
            <a:avLst/>
          </a:prstGeom>
          <a:noFill/>
          <a:ln/>
        </p:spPr>
        <p:txBody>
          <a:bodyPr wrap="square" rtlCol="0" anchor="ctr"/>
          <a:lstStyle/>
          <a:p>
            <a:pPr indent="0" marL="0">
              <a:buNone/>
            </a:pPr>
            <a:r>
              <a:rPr lang="en-US" sz="1300" b="1" spc="100" kern="0" dirty="0">
                <a:solidFill>
                  <a:srgbClr val="3FC1C9"/>
                </a:solidFill>
                <a:latin typeface="Calibri" pitchFamily="34" charset="0"/>
                <a:ea typeface="Calibri" pitchFamily="34" charset="-122"/>
                <a:cs typeface="Calibri" pitchFamily="34" charset="-120"/>
              </a:rPr>
              <a:t>PRIVATE IP RANGES</a:t>
            </a:r>
            <a:endParaRPr lang="en-US" sz="1300" dirty="0"/>
          </a:p>
        </p:txBody>
      </p:sp>
      <p:sp>
        <p:nvSpPr>
          <p:cNvPr id="7" name="Text 4"/>
          <p:cNvSpPr/>
          <p:nvPr/>
        </p:nvSpPr>
        <p:spPr>
          <a:xfrm>
            <a:off x="8001000" y="2194560"/>
            <a:ext cx="3383280" cy="3749040"/>
          </a:xfrm>
          <a:prstGeom prst="rect">
            <a:avLst/>
          </a:prstGeom>
          <a:noFill/>
          <a:ln/>
        </p:spPr>
        <p:txBody>
          <a:bodyPr wrap="square" rtlCol="0" anchor="t"/>
          <a:lstStyle/>
          <a:p>
            <a:pPr indent="0" marL="0">
              <a:spcAft>
                <a:spcPts val="200"/>
              </a:spcAft>
              <a:buNone/>
            </a:pPr>
            <a:r>
              <a:rPr lang="en-US" sz="1200" dirty="0">
                <a:solidFill>
                  <a:srgbClr val="CBD9E8"/>
                </a:solidFill>
              </a:rPr>
              <a:t>Class A:</a:t>
            </a:r>
            <a:endParaRPr lang="en-US" sz="1200" dirty="0"/>
          </a:p>
          <a:p>
            <a:pPr indent="0" marL="0">
              <a:spcAft>
                <a:spcPts val="1400"/>
              </a:spcAft>
              <a:buNone/>
            </a:pPr>
            <a:r>
              <a:rPr lang="en-US" sz="1350" dirty="0">
                <a:solidFill>
                  <a:srgbClr val="3FC1C9"/>
                </a:solidFill>
                <a:latin typeface="Consolas" pitchFamily="34" charset="0"/>
                <a:ea typeface="Consolas" pitchFamily="34" charset="-122"/>
                <a:cs typeface="Consolas" pitchFamily="34" charset="-120"/>
              </a:rPr>
              <a:t>10.0.0.0 – 10.255.255.255</a:t>
            </a:r>
            <a:endParaRPr lang="en-US" sz="1200" dirty="0"/>
          </a:p>
          <a:p>
            <a:pPr indent="0" marL="0">
              <a:spcAft>
                <a:spcPts val="200"/>
              </a:spcAft>
              <a:buNone/>
            </a:pPr>
            <a:r>
              <a:rPr lang="en-US" sz="1200" dirty="0">
                <a:solidFill>
                  <a:srgbClr val="CBD9E8"/>
                </a:solidFill>
              </a:rPr>
              <a:t>Class B:</a:t>
            </a:r>
            <a:endParaRPr lang="en-US" sz="1200" dirty="0"/>
          </a:p>
          <a:p>
            <a:pPr indent="0" marL="0">
              <a:spcAft>
                <a:spcPts val="1400"/>
              </a:spcAft>
              <a:buNone/>
            </a:pPr>
            <a:r>
              <a:rPr lang="en-US" sz="1350" dirty="0">
                <a:solidFill>
                  <a:srgbClr val="3FC1C9"/>
                </a:solidFill>
                <a:latin typeface="Consolas" pitchFamily="34" charset="0"/>
                <a:ea typeface="Consolas" pitchFamily="34" charset="-122"/>
                <a:cs typeface="Consolas" pitchFamily="34" charset="-120"/>
              </a:rPr>
              <a:t>172.16.0.0 – 172.31.255.255</a:t>
            </a:r>
            <a:endParaRPr lang="en-US" sz="1200" dirty="0"/>
          </a:p>
          <a:p>
            <a:pPr indent="0" marL="0">
              <a:spcAft>
                <a:spcPts val="200"/>
              </a:spcAft>
              <a:buNone/>
            </a:pPr>
            <a:r>
              <a:rPr lang="en-US" sz="1200" dirty="0">
                <a:solidFill>
                  <a:srgbClr val="CBD9E8"/>
                </a:solidFill>
              </a:rPr>
              <a:t>Class C:</a:t>
            </a:r>
            <a:endParaRPr lang="en-US" sz="1200" dirty="0"/>
          </a:p>
          <a:p>
            <a:pPr indent="0" marL="0">
              <a:spcAft>
                <a:spcPts val="1400"/>
              </a:spcAft>
              <a:buNone/>
            </a:pPr>
            <a:r>
              <a:rPr lang="en-US" sz="1350" dirty="0">
                <a:solidFill>
                  <a:srgbClr val="3FC1C9"/>
                </a:solidFill>
                <a:latin typeface="Consolas" pitchFamily="34" charset="0"/>
                <a:ea typeface="Consolas" pitchFamily="34" charset="-122"/>
                <a:cs typeface="Consolas" pitchFamily="34" charset="-120"/>
              </a:rPr>
              <a:t>192.168.0.0 – 192.168.255.255</a:t>
            </a:r>
            <a:endParaRPr lang="en-US" sz="1200" dirty="0"/>
          </a:p>
        </p:txBody>
      </p:sp>
      <p:sp>
        <p:nvSpPr>
          <p:cNvPr id="8" name="Text 5"/>
          <p:cNvSpPr/>
          <p:nvPr/>
        </p:nvSpPr>
        <p:spPr>
          <a:xfrm>
            <a:off x="11521440" y="6446520"/>
            <a:ext cx="548640" cy="320040"/>
          </a:xfrm>
          <a:prstGeom prst="rect">
            <a:avLst/>
          </a:prstGeom>
          <a:noFill/>
          <a:ln/>
        </p:spPr>
        <p:txBody>
          <a:bodyPr wrap="square" rtlCol="0" anchor="ctr"/>
          <a:lstStyle/>
          <a:p>
            <a:pPr algn="r" indent="0" marL="0">
              <a:buNone/>
            </a:pPr>
            <a:r>
              <a:rPr lang="en-US" sz="1000" dirty="0">
                <a:solidFill>
                  <a:srgbClr val="A9B4BE"/>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7315200" cy="320040"/>
          </a:xfrm>
          <a:prstGeom prst="rect">
            <a:avLst/>
          </a:prstGeom>
          <a:noFill/>
          <a:ln/>
        </p:spPr>
        <p:txBody>
          <a:bodyPr wrap="square"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DAY 10  ·  NAT</a:t>
            </a:r>
            <a:endParaRPr lang="en-US" sz="1100" dirty="0"/>
          </a:p>
        </p:txBody>
      </p:sp>
      <p:sp>
        <p:nvSpPr>
          <p:cNvPr id="3" name="Text 1"/>
          <p:cNvSpPr/>
          <p:nvPr/>
        </p:nvSpPr>
        <p:spPr>
          <a:xfrm>
            <a:off x="457200" y="594360"/>
            <a:ext cx="9601200" cy="54864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Security &amp; Quick Revision</a:t>
            </a:r>
            <a:endParaRPr lang="en-US" sz="3000" dirty="0"/>
          </a:p>
        </p:txBody>
      </p:sp>
      <p:sp>
        <p:nvSpPr>
          <p:cNvPr id="4" name="Shape 2"/>
          <p:cNvSpPr/>
          <p:nvPr/>
        </p:nvSpPr>
        <p:spPr>
          <a:xfrm>
            <a:off x="502920" y="1508760"/>
            <a:ext cx="5394960" cy="4617720"/>
          </a:xfrm>
          <a:prstGeom prst="roundRect">
            <a:avLst>
              <a:gd name="adj" fmla="val 1584"/>
            </a:avLst>
          </a:prstGeom>
          <a:solidFill>
            <a:srgbClr val="21295C"/>
          </a:solidFill>
          <a:ln/>
        </p:spPr>
      </p:sp>
      <p:sp>
        <p:nvSpPr>
          <p:cNvPr id="5" name="Text 3"/>
          <p:cNvSpPr/>
          <p:nvPr/>
        </p:nvSpPr>
        <p:spPr>
          <a:xfrm>
            <a:off x="777240" y="1737360"/>
            <a:ext cx="4846320" cy="365760"/>
          </a:xfrm>
          <a:prstGeom prst="rect">
            <a:avLst/>
          </a:prstGeom>
          <a:noFill/>
          <a:ln/>
        </p:spPr>
        <p:txBody>
          <a:bodyPr wrap="square" rtlCol="0" anchor="ctr"/>
          <a:lstStyle/>
          <a:p>
            <a:pPr indent="0" marL="0">
              <a:buNone/>
            </a:pPr>
            <a:r>
              <a:rPr lang="en-US" sz="1400" b="1" spc="100" kern="0" dirty="0">
                <a:solidFill>
                  <a:srgbClr val="3FC1C9"/>
                </a:solidFill>
                <a:latin typeface="Calibri" pitchFamily="34" charset="0"/>
                <a:ea typeface="Calibri" pitchFamily="34" charset="-122"/>
                <a:cs typeface="Calibri" pitchFamily="34" charset="-120"/>
              </a:rPr>
              <a:t>NAT IN CYBERSECURITY</a:t>
            </a:r>
            <a:endParaRPr lang="en-US" sz="1400" dirty="0"/>
          </a:p>
        </p:txBody>
      </p:sp>
      <p:sp>
        <p:nvSpPr>
          <p:cNvPr id="6" name="Text 4"/>
          <p:cNvSpPr/>
          <p:nvPr/>
        </p:nvSpPr>
        <p:spPr>
          <a:xfrm>
            <a:off x="822960" y="2194560"/>
            <a:ext cx="4846320" cy="3749040"/>
          </a:xfrm>
          <a:prstGeom prst="rect">
            <a:avLst/>
          </a:prstGeom>
          <a:noFill/>
          <a:ln/>
        </p:spPr>
        <p:txBody>
          <a:bodyPr wrap="square" rtlCol="0" anchor="t"/>
          <a:lstStyle/>
          <a:p>
            <a:pPr marL="342900" indent="-342900">
              <a:spcAft>
                <a:spcPts val="1000"/>
              </a:spcAft>
              <a:buSzPct val="100000"/>
              <a:buChar char="•"/>
            </a:pPr>
            <a:r>
              <a:rPr lang="en-US" sz="1350" dirty="0">
                <a:solidFill>
                  <a:srgbClr val="E7EEF5"/>
                </a:solidFill>
              </a:rPr>
              <a:t>SOC analysts trace internal devices from firewall/router logs</a:t>
            </a:r>
            <a:endParaRPr lang="en-US" sz="1350" dirty="0"/>
          </a:p>
          <a:p>
            <a:pPr marL="342900" indent="-342900">
              <a:spcAft>
                <a:spcPts val="1000"/>
              </a:spcAft>
              <a:buSzPct val="100000"/>
              <a:buChar char="•"/>
            </a:pPr>
            <a:r>
              <a:rPr lang="en-US" sz="1350" dirty="0">
                <a:solidFill>
                  <a:srgbClr val="E7EEF5"/>
                </a:solidFill>
              </a:rPr>
              <a:t>Correlate private IPs with public IP activity</a:t>
            </a:r>
            <a:endParaRPr lang="en-US" sz="1350" dirty="0"/>
          </a:p>
          <a:p>
            <a:pPr marL="342900" indent="-342900">
              <a:spcAft>
                <a:spcPts val="1000"/>
              </a:spcAft>
              <a:buSzPct val="100000"/>
              <a:buChar char="•"/>
            </a:pPr>
            <a:r>
              <a:rPr lang="en-US" sz="1350" dirty="0">
                <a:solidFill>
                  <a:srgbClr val="E7EEF5"/>
                </a:solidFill>
              </a:rPr>
              <a:t>Investigate suspicious outbound connections</a:t>
            </a:r>
            <a:endParaRPr lang="en-US" sz="1350" dirty="0"/>
          </a:p>
        </p:txBody>
      </p:sp>
      <p:sp>
        <p:nvSpPr>
          <p:cNvPr id="7" name="Text 5"/>
          <p:cNvSpPr/>
          <p:nvPr/>
        </p:nvSpPr>
        <p:spPr>
          <a:xfrm>
            <a:off x="6263640" y="1737360"/>
            <a:ext cx="5394960" cy="365760"/>
          </a:xfrm>
          <a:prstGeom prst="rect">
            <a:avLst/>
          </a:prstGeom>
          <a:noFill/>
          <a:ln/>
        </p:spPr>
        <p:txBody>
          <a:bodyPr wrap="square" rtlCol="0" anchor="ctr"/>
          <a:lstStyle/>
          <a:p>
            <a:pPr indent="0" marL="0">
              <a:buNone/>
            </a:pPr>
            <a:r>
              <a:rPr lang="en-US" sz="1400" b="1" spc="100" kern="0" dirty="0">
                <a:solidFill>
                  <a:srgbClr val="1C7293"/>
                </a:solidFill>
                <a:latin typeface="Calibri" pitchFamily="34" charset="0"/>
                <a:ea typeface="Calibri" pitchFamily="34" charset="-122"/>
                <a:cs typeface="Calibri" pitchFamily="34" charset="-120"/>
              </a:rPr>
              <a:t>QUICK REVISION</a:t>
            </a:r>
            <a:endParaRPr lang="en-US" sz="1400" dirty="0"/>
          </a:p>
        </p:txBody>
      </p:sp>
      <p:sp>
        <p:nvSpPr>
          <p:cNvPr id="8" name="Text 6"/>
          <p:cNvSpPr/>
          <p:nvPr/>
        </p:nvSpPr>
        <p:spPr>
          <a:xfrm>
            <a:off x="6309360" y="2194560"/>
            <a:ext cx="5394960" cy="3931920"/>
          </a:xfrm>
          <a:prstGeom prst="rect">
            <a:avLst/>
          </a:prstGeom>
          <a:noFill/>
          <a:ln/>
        </p:spPr>
        <p:txBody>
          <a:bodyPr wrap="square" rtlCol="0" anchor="t"/>
          <a:lstStyle/>
          <a:p>
            <a:pPr marL="342900" indent="-342900">
              <a:spcAft>
                <a:spcPts val="900"/>
              </a:spcAft>
              <a:buSzPct val="100000"/>
              <a:buChar char="•"/>
            </a:pPr>
            <a:r>
              <a:rPr lang="en-US" sz="1350" dirty="0">
                <a:solidFill>
                  <a:srgbClr val="1B1B1B"/>
                </a:solidFill>
              </a:rPr>
              <a:t>NAT = Network Address Translation</a:t>
            </a:r>
            <a:endParaRPr lang="en-US" sz="1350" dirty="0"/>
          </a:p>
          <a:p>
            <a:pPr marL="342900" indent="-342900">
              <a:spcAft>
                <a:spcPts val="900"/>
              </a:spcAft>
              <a:buSzPct val="100000"/>
              <a:buChar char="•"/>
            </a:pPr>
            <a:r>
              <a:rPr lang="en-US" sz="1350" dirty="0">
                <a:solidFill>
                  <a:srgbClr val="1B1B1B"/>
                </a:solidFill>
              </a:rPr>
              <a:t>Converts Private IP ↔ Public IP</a:t>
            </a:r>
            <a:endParaRPr lang="en-US" sz="1350" dirty="0"/>
          </a:p>
          <a:p>
            <a:pPr marL="342900" indent="-342900">
              <a:spcAft>
                <a:spcPts val="900"/>
              </a:spcAft>
              <a:buSzPct val="100000"/>
              <a:buChar char="•"/>
            </a:pPr>
            <a:r>
              <a:rPr lang="en-US" sz="1350" dirty="0">
                <a:solidFill>
                  <a:srgbClr val="1B1B1B"/>
                </a:solidFill>
              </a:rPr>
              <a:t>Helps conserve public IPv4 addresses</a:t>
            </a:r>
            <a:endParaRPr lang="en-US" sz="1350" dirty="0"/>
          </a:p>
          <a:p>
            <a:pPr marL="342900" indent="-342900">
              <a:spcAft>
                <a:spcPts val="900"/>
              </a:spcAft>
              <a:buSzPct val="100000"/>
              <a:buChar char="•"/>
            </a:pPr>
            <a:r>
              <a:rPr lang="en-US" sz="1350" dirty="0">
                <a:solidFill>
                  <a:srgbClr val="1B1B1B"/>
                </a:solidFill>
              </a:rPr>
              <a:t>Usually performed by a router</a:t>
            </a:r>
            <a:endParaRPr lang="en-US" sz="1350" dirty="0"/>
          </a:p>
          <a:p>
            <a:pPr marL="342900" indent="-342900">
              <a:spcAft>
                <a:spcPts val="900"/>
              </a:spcAft>
              <a:buSzPct val="100000"/>
              <a:buChar char="•"/>
            </a:pPr>
            <a:r>
              <a:rPr lang="en-US" sz="1350" dirty="0">
                <a:solidFill>
                  <a:srgbClr val="1B1B1B"/>
                </a:solidFill>
              </a:rPr>
              <a:t>3 types: Static, Dynamic, PAT (PAT most common)</a:t>
            </a:r>
            <a:endParaRPr lang="en-US" sz="1350" dirty="0"/>
          </a:p>
          <a:p>
            <a:pPr marL="342900" indent="-342900">
              <a:spcAft>
                <a:spcPts val="900"/>
              </a:spcAft>
              <a:buSzPct val="100000"/>
              <a:buChar char="•"/>
            </a:pPr>
            <a:r>
              <a:rPr lang="en-US" sz="1350" dirty="0">
                <a:solidFill>
                  <a:srgbClr val="1B1B1B"/>
                </a:solidFill>
              </a:rPr>
              <a:t>Adv: saves IPs, hides internal addresses · Disadv: overhead, complicates VoIP/gaming</a:t>
            </a:r>
            <a:endParaRPr lang="en-US" sz="1350" dirty="0"/>
          </a:p>
        </p:txBody>
      </p:sp>
      <p:sp>
        <p:nvSpPr>
          <p:cNvPr id="9" name="Text 7"/>
          <p:cNvSpPr/>
          <p:nvPr/>
        </p:nvSpPr>
        <p:spPr>
          <a:xfrm>
            <a:off x="11521440" y="6446520"/>
            <a:ext cx="548640" cy="320040"/>
          </a:xfrm>
          <a:prstGeom prst="rect">
            <a:avLst/>
          </a:prstGeom>
          <a:noFill/>
          <a:ln/>
        </p:spPr>
        <p:txBody>
          <a:bodyPr wrap="square" rtlCol="0" anchor="ctr"/>
          <a:lstStyle/>
          <a:p>
            <a:pPr algn="r" indent="0" marL="0">
              <a:buNone/>
            </a:pPr>
            <a:r>
              <a:rPr lang="en-US" sz="1000" dirty="0">
                <a:solidFill>
                  <a:srgbClr val="A9B4BE"/>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7315200" cy="320040"/>
          </a:xfrm>
          <a:prstGeom prst="rect">
            <a:avLst/>
          </a:prstGeom>
          <a:noFill/>
          <a:ln/>
        </p:spPr>
        <p:txBody>
          <a:bodyPr wrap="square"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DAY 11  ·  GATEWAY</a:t>
            </a:r>
            <a:endParaRPr lang="en-US" sz="1100" dirty="0"/>
          </a:p>
        </p:txBody>
      </p:sp>
      <p:sp>
        <p:nvSpPr>
          <p:cNvPr id="3" name="Text 1"/>
          <p:cNvSpPr/>
          <p:nvPr/>
        </p:nvSpPr>
        <p:spPr>
          <a:xfrm>
            <a:off x="457200" y="594360"/>
            <a:ext cx="9144000" cy="54864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What is it &amp; Why it matters</a:t>
            </a:r>
            <a:endParaRPr lang="en-US" sz="3000" dirty="0"/>
          </a:p>
        </p:txBody>
      </p:sp>
      <p:sp>
        <p:nvSpPr>
          <p:cNvPr id="4" name="Shape 2"/>
          <p:cNvSpPr/>
          <p:nvPr/>
        </p:nvSpPr>
        <p:spPr>
          <a:xfrm>
            <a:off x="457200" y="1417320"/>
            <a:ext cx="5212080" cy="4709160"/>
          </a:xfrm>
          <a:prstGeom prst="roundRect">
            <a:avLst>
              <a:gd name="adj" fmla="val 1553"/>
            </a:avLst>
          </a:prstGeom>
          <a:solidFill>
            <a:srgbClr val="EAF4F8"/>
          </a:solidFill>
          <a:ln/>
        </p:spPr>
      </p:sp>
      <p:sp>
        <p:nvSpPr>
          <p:cNvPr id="5" name="Text 3"/>
          <p:cNvSpPr/>
          <p:nvPr/>
        </p:nvSpPr>
        <p:spPr>
          <a:xfrm>
            <a:off x="731520" y="1645920"/>
            <a:ext cx="4663440" cy="365760"/>
          </a:xfrm>
          <a:prstGeom prst="rect">
            <a:avLst/>
          </a:prstGeom>
          <a:noFill/>
          <a:ln/>
        </p:spPr>
        <p:txBody>
          <a:bodyPr wrap="square" rtlCol="0" anchor="ctr"/>
          <a:lstStyle/>
          <a:p>
            <a:pPr indent="0" marL="0">
              <a:buNone/>
            </a:pPr>
            <a:r>
              <a:rPr lang="en-US" sz="1300" b="1" spc="100" kern="0" dirty="0">
                <a:solidFill>
                  <a:srgbClr val="1C7293"/>
                </a:solidFill>
                <a:latin typeface="Calibri" pitchFamily="34" charset="0"/>
                <a:ea typeface="Calibri" pitchFamily="34" charset="-122"/>
                <a:cs typeface="Calibri" pitchFamily="34" charset="-120"/>
              </a:rPr>
              <a:t>Definition</a:t>
            </a:r>
            <a:endParaRPr lang="en-US" sz="1300" dirty="0"/>
          </a:p>
        </p:txBody>
      </p:sp>
      <p:sp>
        <p:nvSpPr>
          <p:cNvPr id="6" name="Text 4"/>
          <p:cNvSpPr/>
          <p:nvPr/>
        </p:nvSpPr>
        <p:spPr>
          <a:xfrm>
            <a:off x="731520" y="2057400"/>
            <a:ext cx="4663440" cy="3840480"/>
          </a:xfrm>
          <a:prstGeom prst="rect">
            <a:avLst/>
          </a:prstGeom>
          <a:noFill/>
          <a:ln/>
        </p:spPr>
        <p:txBody>
          <a:bodyPr wrap="square" rtlCol="0" anchor="t"/>
          <a:lstStyle/>
          <a:p>
            <a:pPr indent="0" marL="0">
              <a:lnSpc>
                <a:spcPct val="125000"/>
              </a:lnSpc>
              <a:buNone/>
            </a:pPr>
            <a:r>
              <a:rPr lang="en-US" sz="1550" dirty="0">
                <a:solidFill>
                  <a:srgbClr val="1B1B1B"/>
                </a:solidFill>
                <a:latin typeface="Calibri" pitchFamily="34" charset="0"/>
                <a:ea typeface="Calibri" pitchFamily="34" charset="-122"/>
                <a:cs typeface="Calibri" pitchFamily="34" charset="-120"/>
              </a:rPr>
              <a:t>A Gateway is a network device (usually a router) that connects one network to another — the exit door for devices that want to reach networks outside their own, including the Internet.</a:t>
            </a:r>
            <a:endParaRPr lang="en-US" sz="1550" dirty="0"/>
          </a:p>
        </p:txBody>
      </p:sp>
      <p:sp>
        <p:nvSpPr>
          <p:cNvPr id="7" name="Text 5"/>
          <p:cNvSpPr/>
          <p:nvPr/>
        </p:nvSpPr>
        <p:spPr>
          <a:xfrm>
            <a:off x="6035040" y="1463040"/>
            <a:ext cx="5486400" cy="365760"/>
          </a:xfrm>
          <a:prstGeom prst="rect">
            <a:avLst/>
          </a:prstGeom>
          <a:noFill/>
          <a:ln/>
        </p:spPr>
        <p:txBody>
          <a:bodyPr wrap="square" rtlCol="0" anchor="ctr"/>
          <a:lstStyle/>
          <a:p>
            <a:pPr indent="0" marL="0">
              <a:buNone/>
            </a:pPr>
            <a:r>
              <a:rPr lang="en-US" sz="1300" b="1" spc="100" kern="0" dirty="0">
                <a:solidFill>
                  <a:srgbClr val="1C7293"/>
                </a:solidFill>
                <a:latin typeface="Calibri" pitchFamily="34" charset="0"/>
                <a:ea typeface="Calibri" pitchFamily="34" charset="-122"/>
                <a:cs typeface="Calibri" pitchFamily="34" charset="-120"/>
              </a:rPr>
              <a:t>Why it's needed</a:t>
            </a:r>
            <a:endParaRPr lang="en-US" sz="1300" dirty="0"/>
          </a:p>
        </p:txBody>
      </p:sp>
      <p:sp>
        <p:nvSpPr>
          <p:cNvPr id="8" name="Shape 6"/>
          <p:cNvSpPr/>
          <p:nvPr/>
        </p:nvSpPr>
        <p:spPr>
          <a:xfrm>
            <a:off x="6035040" y="1984248"/>
            <a:ext cx="384048" cy="384048"/>
          </a:xfrm>
          <a:prstGeom prst="ellipse">
            <a:avLst/>
          </a:prstGeom>
          <a:solidFill>
            <a:srgbClr val="065A82"/>
          </a:solidFill>
          <a:ln/>
        </p:spPr>
      </p:sp>
      <p:sp>
        <p:nvSpPr>
          <p:cNvPr id="9" name="Text 7"/>
          <p:cNvSpPr/>
          <p:nvPr/>
        </p:nvSpPr>
        <p:spPr>
          <a:xfrm>
            <a:off x="6035040" y="1984248"/>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6583680" y="1920240"/>
            <a:ext cx="4937760" cy="548640"/>
          </a:xfrm>
          <a:prstGeom prst="rect">
            <a:avLst/>
          </a:prstGeom>
          <a:noFill/>
          <a:ln/>
        </p:spPr>
        <p:txBody>
          <a:bodyPr wrap="square" rtlCol="0" anchor="ctr"/>
          <a:lstStyle/>
          <a:p>
            <a:pPr indent="0" marL="0">
              <a:buNone/>
            </a:pPr>
            <a:r>
              <a:rPr lang="en-US" sz="1400" dirty="0">
                <a:solidFill>
                  <a:srgbClr val="1B1B1B"/>
                </a:solidFill>
                <a:latin typeface="Calibri" pitchFamily="34" charset="0"/>
                <a:ea typeface="Calibri" pitchFamily="34" charset="-122"/>
                <a:cs typeface="Calibri" pitchFamily="34" charset="-120"/>
              </a:rPr>
              <a:t>Your laptop only knows devices inside its own network.</a:t>
            </a:r>
            <a:endParaRPr lang="en-US" sz="1400" dirty="0"/>
          </a:p>
        </p:txBody>
      </p:sp>
      <p:sp>
        <p:nvSpPr>
          <p:cNvPr id="11" name="Shape 9"/>
          <p:cNvSpPr/>
          <p:nvPr/>
        </p:nvSpPr>
        <p:spPr>
          <a:xfrm>
            <a:off x="6035040" y="2734056"/>
            <a:ext cx="384048" cy="384048"/>
          </a:xfrm>
          <a:prstGeom prst="ellipse">
            <a:avLst/>
          </a:prstGeom>
          <a:solidFill>
            <a:srgbClr val="065A82"/>
          </a:solidFill>
          <a:ln/>
        </p:spPr>
      </p:sp>
      <p:sp>
        <p:nvSpPr>
          <p:cNvPr id="12" name="Text 10"/>
          <p:cNvSpPr/>
          <p:nvPr/>
        </p:nvSpPr>
        <p:spPr>
          <a:xfrm>
            <a:off x="6035040" y="2734056"/>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6583680" y="2670048"/>
            <a:ext cx="4937760" cy="548640"/>
          </a:xfrm>
          <a:prstGeom prst="rect">
            <a:avLst/>
          </a:prstGeom>
          <a:noFill/>
          <a:ln/>
        </p:spPr>
        <p:txBody>
          <a:bodyPr wrap="square" rtlCol="0" anchor="ctr"/>
          <a:lstStyle/>
          <a:p>
            <a:pPr indent="0" marL="0">
              <a:buNone/>
            </a:pPr>
            <a:r>
              <a:rPr lang="en-US" sz="1400" dirty="0">
                <a:solidFill>
                  <a:srgbClr val="1B1B1B"/>
                </a:solidFill>
                <a:latin typeface="Calibri" pitchFamily="34" charset="0"/>
                <a:ea typeface="Calibri" pitchFamily="34" charset="-122"/>
                <a:cs typeface="Calibri" pitchFamily="34" charset="-120"/>
              </a:rPr>
              <a:t>To reach something outside (like 8.8.8.8 or google.com), it sends the data to the Default Gateway, which forwards it onward.</a:t>
            </a:r>
            <a:endParaRPr lang="en-US" sz="1400" dirty="0"/>
          </a:p>
        </p:txBody>
      </p:sp>
      <p:sp>
        <p:nvSpPr>
          <p:cNvPr id="14" name="Shape 12"/>
          <p:cNvSpPr/>
          <p:nvPr/>
        </p:nvSpPr>
        <p:spPr>
          <a:xfrm>
            <a:off x="6035040" y="3483864"/>
            <a:ext cx="384048" cy="384048"/>
          </a:xfrm>
          <a:prstGeom prst="ellipse">
            <a:avLst/>
          </a:prstGeom>
          <a:solidFill>
            <a:srgbClr val="065A82"/>
          </a:solidFill>
          <a:ln/>
        </p:spPr>
      </p:sp>
      <p:sp>
        <p:nvSpPr>
          <p:cNvPr id="15" name="Text 13"/>
          <p:cNvSpPr/>
          <p:nvPr/>
        </p:nvSpPr>
        <p:spPr>
          <a:xfrm>
            <a:off x="6035040" y="3483864"/>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p:nvPr/>
        </p:nvSpPr>
        <p:spPr>
          <a:xfrm>
            <a:off x="6583680" y="3419856"/>
            <a:ext cx="4937760" cy="548640"/>
          </a:xfrm>
          <a:prstGeom prst="rect">
            <a:avLst/>
          </a:prstGeom>
          <a:noFill/>
          <a:ln/>
        </p:spPr>
        <p:txBody>
          <a:bodyPr wrap="square" rtlCol="0" anchor="ctr"/>
          <a:lstStyle/>
          <a:p>
            <a:pPr indent="0" marL="0">
              <a:buNone/>
            </a:pPr>
            <a:r>
              <a:rPr lang="en-US" sz="1400" dirty="0">
                <a:solidFill>
                  <a:srgbClr val="1B1B1B"/>
                </a:solidFill>
                <a:latin typeface="Calibri" pitchFamily="34" charset="0"/>
                <a:ea typeface="Calibri" pitchFamily="34" charset="-122"/>
                <a:cs typeface="Calibri" pitchFamily="34" charset="-120"/>
              </a:rPr>
              <a:t>Without a gateway, you can reach devices on your LAN — but not the Internet.</a:t>
            </a:r>
            <a:endParaRPr lang="en-US" sz="1400" dirty="0"/>
          </a:p>
        </p:txBody>
      </p:sp>
      <p:sp>
        <p:nvSpPr>
          <p:cNvPr id="17" name="Text 15"/>
          <p:cNvSpPr/>
          <p:nvPr/>
        </p:nvSpPr>
        <p:spPr>
          <a:xfrm>
            <a:off x="11521440" y="6446520"/>
            <a:ext cx="548640" cy="320040"/>
          </a:xfrm>
          <a:prstGeom prst="rect">
            <a:avLst/>
          </a:prstGeom>
          <a:noFill/>
          <a:ln/>
        </p:spPr>
        <p:txBody>
          <a:bodyPr wrap="square" rtlCol="0" anchor="ctr"/>
          <a:lstStyle/>
          <a:p>
            <a:pPr algn="r" indent="0" marL="0">
              <a:buNone/>
            </a:pPr>
            <a:r>
              <a:rPr lang="en-US" sz="1000" dirty="0">
                <a:solidFill>
                  <a:srgbClr val="A9B4BE"/>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7315200" cy="320040"/>
          </a:xfrm>
          <a:prstGeom prst="rect">
            <a:avLst/>
          </a:prstGeom>
          <a:noFill/>
          <a:ln/>
        </p:spPr>
        <p:txBody>
          <a:bodyPr wrap="square"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DAY 11  ·  GATEWAY</a:t>
            </a:r>
            <a:endParaRPr lang="en-US" sz="1100" dirty="0"/>
          </a:p>
        </p:txBody>
      </p:sp>
      <p:sp>
        <p:nvSpPr>
          <p:cNvPr id="3" name="Text 1"/>
          <p:cNvSpPr/>
          <p:nvPr/>
        </p:nvSpPr>
        <p:spPr>
          <a:xfrm>
            <a:off x="457200" y="594360"/>
            <a:ext cx="9601200" cy="54864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How a Gateway Works</a:t>
            </a:r>
            <a:endParaRPr lang="en-US" sz="3000" dirty="0"/>
          </a:p>
        </p:txBody>
      </p:sp>
      <p:sp>
        <p:nvSpPr>
          <p:cNvPr id="4" name="Shape 2"/>
          <p:cNvSpPr/>
          <p:nvPr/>
        </p:nvSpPr>
        <p:spPr>
          <a:xfrm>
            <a:off x="548640" y="2834640"/>
            <a:ext cx="2446020" cy="1234440"/>
          </a:xfrm>
          <a:prstGeom prst="roundRect">
            <a:avLst>
              <a:gd name="adj" fmla="val 5185"/>
            </a:avLst>
          </a:prstGeom>
          <a:solidFill>
            <a:srgbClr val="065A82"/>
          </a:solidFill>
          <a:ln/>
        </p:spPr>
      </p:sp>
      <p:sp>
        <p:nvSpPr>
          <p:cNvPr id="5" name="Text 3"/>
          <p:cNvSpPr/>
          <p:nvPr/>
        </p:nvSpPr>
        <p:spPr>
          <a:xfrm>
            <a:off x="640080" y="2889504"/>
            <a:ext cx="457200" cy="274320"/>
          </a:xfrm>
          <a:prstGeom prst="rect">
            <a:avLst/>
          </a:prstGeom>
          <a:noFill/>
          <a:ln/>
        </p:spPr>
        <p:txBody>
          <a:bodyPr wrap="square" rtlCol="0" anchor="ctr"/>
          <a:lstStyle/>
          <a:p>
            <a:pPr indent="0" marL="0">
              <a:buNone/>
            </a:pPr>
            <a:r>
              <a:rPr lang="en-US" sz="1100" b="1" dirty="0">
                <a:solidFill>
                  <a:srgbClr val="3FC1C9"/>
                </a:solidFill>
                <a:latin typeface="Calibri" pitchFamily="34" charset="0"/>
                <a:ea typeface="Calibri" pitchFamily="34" charset="-122"/>
                <a:cs typeface="Calibri" pitchFamily="34" charset="-120"/>
              </a:rPr>
              <a:t>1</a:t>
            </a:r>
            <a:endParaRPr lang="en-US" sz="1100" dirty="0"/>
          </a:p>
        </p:txBody>
      </p:sp>
      <p:sp>
        <p:nvSpPr>
          <p:cNvPr id="6" name="Text 4"/>
          <p:cNvSpPr/>
          <p:nvPr/>
        </p:nvSpPr>
        <p:spPr>
          <a:xfrm>
            <a:off x="658368" y="3127248"/>
            <a:ext cx="2226564" cy="850392"/>
          </a:xfrm>
          <a:prstGeom prst="rect">
            <a:avLst/>
          </a:prstGeom>
          <a:noFill/>
          <a:ln/>
        </p:spPr>
        <p:txBody>
          <a:bodyPr wrap="square" rtlCol="0" anchor="t"/>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Laptop</a:t>
            </a:r>
            <a:endParaRPr lang="en-US" sz="1250" dirty="0"/>
          </a:p>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192.168.1.10</a:t>
            </a:r>
            <a:endParaRPr lang="en-US" sz="1250" dirty="0"/>
          </a:p>
        </p:txBody>
      </p:sp>
      <p:sp>
        <p:nvSpPr>
          <p:cNvPr id="7" name="Text 5"/>
          <p:cNvSpPr/>
          <p:nvPr/>
        </p:nvSpPr>
        <p:spPr>
          <a:xfrm>
            <a:off x="2994660" y="3177540"/>
            <a:ext cx="320040" cy="548640"/>
          </a:xfrm>
          <a:prstGeom prst="rect">
            <a:avLst/>
          </a:prstGeom>
          <a:noFill/>
          <a:ln/>
        </p:spPr>
        <p:txBody>
          <a:bodyPr wrap="square" rtlCol="0" anchor="ctr"/>
          <a:lstStyle/>
          <a:p>
            <a:pPr algn="ctr" indent="0" marL="0">
              <a:buNone/>
            </a:pPr>
            <a:r>
              <a:rPr lang="en-US" sz="2200" b="1" dirty="0">
                <a:solidFill>
                  <a:srgbClr val="1C7293"/>
                </a:solidFill>
                <a:latin typeface="Calibri" pitchFamily="34" charset="0"/>
                <a:ea typeface="Calibri" pitchFamily="34" charset="-122"/>
                <a:cs typeface="Calibri" pitchFamily="34" charset="-120"/>
              </a:rPr>
              <a:t>→</a:t>
            </a:r>
            <a:endParaRPr lang="en-US" sz="2200" dirty="0"/>
          </a:p>
        </p:txBody>
      </p:sp>
      <p:sp>
        <p:nvSpPr>
          <p:cNvPr id="8" name="Shape 6"/>
          <p:cNvSpPr/>
          <p:nvPr/>
        </p:nvSpPr>
        <p:spPr>
          <a:xfrm>
            <a:off x="3314700" y="2834640"/>
            <a:ext cx="2446020" cy="1234440"/>
          </a:xfrm>
          <a:prstGeom prst="roundRect">
            <a:avLst>
              <a:gd name="adj" fmla="val 5185"/>
            </a:avLst>
          </a:prstGeom>
          <a:solidFill>
            <a:srgbClr val="1C7293"/>
          </a:solidFill>
          <a:ln/>
        </p:spPr>
      </p:sp>
      <p:sp>
        <p:nvSpPr>
          <p:cNvPr id="9" name="Text 7"/>
          <p:cNvSpPr/>
          <p:nvPr/>
        </p:nvSpPr>
        <p:spPr>
          <a:xfrm>
            <a:off x="3406140" y="2889504"/>
            <a:ext cx="457200" cy="274320"/>
          </a:xfrm>
          <a:prstGeom prst="rect">
            <a:avLst/>
          </a:prstGeom>
          <a:noFill/>
          <a:ln/>
        </p:spPr>
        <p:txBody>
          <a:bodyPr wrap="square" rtlCol="0" anchor="ctr"/>
          <a:lstStyle/>
          <a:p>
            <a:pPr indent="0" marL="0">
              <a:buNone/>
            </a:pPr>
            <a:r>
              <a:rPr lang="en-US" sz="1100" b="1" dirty="0">
                <a:solidFill>
                  <a:srgbClr val="3FC1C9"/>
                </a:solidFill>
                <a:latin typeface="Calibri" pitchFamily="34" charset="0"/>
                <a:ea typeface="Calibri" pitchFamily="34" charset="-122"/>
                <a:cs typeface="Calibri" pitchFamily="34" charset="-120"/>
              </a:rPr>
              <a:t>2</a:t>
            </a:r>
            <a:endParaRPr lang="en-US" sz="1100" dirty="0"/>
          </a:p>
        </p:txBody>
      </p:sp>
      <p:sp>
        <p:nvSpPr>
          <p:cNvPr id="10" name="Text 8"/>
          <p:cNvSpPr/>
          <p:nvPr/>
        </p:nvSpPr>
        <p:spPr>
          <a:xfrm>
            <a:off x="3424428" y="3127248"/>
            <a:ext cx="2226564" cy="850392"/>
          </a:xfrm>
          <a:prstGeom prst="rect">
            <a:avLst/>
          </a:prstGeom>
          <a:noFill/>
          <a:ln/>
        </p:spPr>
        <p:txBody>
          <a:bodyPr wrap="square" rtlCol="0" anchor="t"/>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Default Gateway</a:t>
            </a:r>
            <a:endParaRPr lang="en-US" sz="1250" dirty="0"/>
          </a:p>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192.168.1.1 (Router)</a:t>
            </a:r>
            <a:endParaRPr lang="en-US" sz="1250" dirty="0"/>
          </a:p>
        </p:txBody>
      </p:sp>
      <p:sp>
        <p:nvSpPr>
          <p:cNvPr id="11" name="Text 9"/>
          <p:cNvSpPr/>
          <p:nvPr/>
        </p:nvSpPr>
        <p:spPr>
          <a:xfrm>
            <a:off x="5760720" y="3177540"/>
            <a:ext cx="320040" cy="548640"/>
          </a:xfrm>
          <a:prstGeom prst="rect">
            <a:avLst/>
          </a:prstGeom>
          <a:noFill/>
          <a:ln/>
        </p:spPr>
        <p:txBody>
          <a:bodyPr wrap="square" rtlCol="0" anchor="ctr"/>
          <a:lstStyle/>
          <a:p>
            <a:pPr algn="ctr" indent="0" marL="0">
              <a:buNone/>
            </a:pPr>
            <a:r>
              <a:rPr lang="en-US" sz="2200" b="1" dirty="0">
                <a:solidFill>
                  <a:srgbClr val="1C7293"/>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6080760" y="2834640"/>
            <a:ext cx="2446020" cy="1234440"/>
          </a:xfrm>
          <a:prstGeom prst="roundRect">
            <a:avLst>
              <a:gd name="adj" fmla="val 5185"/>
            </a:avLst>
          </a:prstGeom>
          <a:solidFill>
            <a:srgbClr val="065A82"/>
          </a:solidFill>
          <a:ln/>
        </p:spPr>
      </p:sp>
      <p:sp>
        <p:nvSpPr>
          <p:cNvPr id="13" name="Text 11"/>
          <p:cNvSpPr/>
          <p:nvPr/>
        </p:nvSpPr>
        <p:spPr>
          <a:xfrm>
            <a:off x="6172200" y="2889504"/>
            <a:ext cx="457200" cy="274320"/>
          </a:xfrm>
          <a:prstGeom prst="rect">
            <a:avLst/>
          </a:prstGeom>
          <a:noFill/>
          <a:ln/>
        </p:spPr>
        <p:txBody>
          <a:bodyPr wrap="square" rtlCol="0" anchor="ctr"/>
          <a:lstStyle/>
          <a:p>
            <a:pPr indent="0" marL="0">
              <a:buNone/>
            </a:pPr>
            <a:r>
              <a:rPr lang="en-US" sz="1100" b="1" dirty="0">
                <a:solidFill>
                  <a:srgbClr val="3FC1C9"/>
                </a:solidFill>
                <a:latin typeface="Calibri" pitchFamily="34" charset="0"/>
                <a:ea typeface="Calibri" pitchFamily="34" charset="-122"/>
                <a:cs typeface="Calibri" pitchFamily="34" charset="-120"/>
              </a:rPr>
              <a:t>3</a:t>
            </a:r>
            <a:endParaRPr lang="en-US" sz="1100" dirty="0"/>
          </a:p>
        </p:txBody>
      </p:sp>
      <p:sp>
        <p:nvSpPr>
          <p:cNvPr id="14" name="Text 12"/>
          <p:cNvSpPr/>
          <p:nvPr/>
        </p:nvSpPr>
        <p:spPr>
          <a:xfrm>
            <a:off x="6190488" y="3127248"/>
            <a:ext cx="2226564" cy="850392"/>
          </a:xfrm>
          <a:prstGeom prst="rect">
            <a:avLst/>
          </a:prstGeom>
          <a:noFill/>
          <a:ln/>
        </p:spPr>
        <p:txBody>
          <a:bodyPr wrap="square" rtlCol="0" anchor="t"/>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Internet</a:t>
            </a:r>
            <a:endParaRPr lang="en-US" sz="1250" dirty="0"/>
          </a:p>
        </p:txBody>
      </p:sp>
      <p:sp>
        <p:nvSpPr>
          <p:cNvPr id="15" name="Text 13"/>
          <p:cNvSpPr/>
          <p:nvPr/>
        </p:nvSpPr>
        <p:spPr>
          <a:xfrm>
            <a:off x="8526780" y="3177540"/>
            <a:ext cx="320040" cy="548640"/>
          </a:xfrm>
          <a:prstGeom prst="rect">
            <a:avLst/>
          </a:prstGeom>
          <a:noFill/>
          <a:ln/>
        </p:spPr>
        <p:txBody>
          <a:bodyPr wrap="square" rtlCol="0" anchor="ctr"/>
          <a:lstStyle/>
          <a:p>
            <a:pPr algn="ctr" indent="0" marL="0">
              <a:buNone/>
            </a:pPr>
            <a:r>
              <a:rPr lang="en-US" sz="2200" b="1" dirty="0">
                <a:solidFill>
                  <a:srgbClr val="1C7293"/>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8846820" y="2834640"/>
            <a:ext cx="2446020" cy="1234440"/>
          </a:xfrm>
          <a:prstGeom prst="roundRect">
            <a:avLst>
              <a:gd name="adj" fmla="val 5185"/>
            </a:avLst>
          </a:prstGeom>
          <a:solidFill>
            <a:srgbClr val="1C7293"/>
          </a:solidFill>
          <a:ln/>
        </p:spPr>
      </p:sp>
      <p:sp>
        <p:nvSpPr>
          <p:cNvPr id="17" name="Text 15"/>
          <p:cNvSpPr/>
          <p:nvPr/>
        </p:nvSpPr>
        <p:spPr>
          <a:xfrm>
            <a:off x="8938260" y="2889504"/>
            <a:ext cx="457200" cy="274320"/>
          </a:xfrm>
          <a:prstGeom prst="rect">
            <a:avLst/>
          </a:prstGeom>
          <a:noFill/>
          <a:ln/>
        </p:spPr>
        <p:txBody>
          <a:bodyPr wrap="square" rtlCol="0" anchor="ctr"/>
          <a:lstStyle/>
          <a:p>
            <a:pPr indent="0" marL="0">
              <a:buNone/>
            </a:pPr>
            <a:r>
              <a:rPr lang="en-US" sz="1100" b="1" dirty="0">
                <a:solidFill>
                  <a:srgbClr val="3FC1C9"/>
                </a:solidFill>
                <a:latin typeface="Calibri" pitchFamily="34" charset="0"/>
                <a:ea typeface="Calibri" pitchFamily="34" charset="-122"/>
                <a:cs typeface="Calibri" pitchFamily="34" charset="-120"/>
              </a:rPr>
              <a:t>4</a:t>
            </a:r>
            <a:endParaRPr lang="en-US" sz="1100" dirty="0"/>
          </a:p>
        </p:txBody>
      </p:sp>
      <p:sp>
        <p:nvSpPr>
          <p:cNvPr id="18" name="Text 16"/>
          <p:cNvSpPr/>
          <p:nvPr/>
        </p:nvSpPr>
        <p:spPr>
          <a:xfrm>
            <a:off x="8956548" y="3127248"/>
            <a:ext cx="2226564" cy="850392"/>
          </a:xfrm>
          <a:prstGeom prst="rect">
            <a:avLst/>
          </a:prstGeom>
          <a:noFill/>
          <a:ln/>
        </p:spPr>
        <p:txBody>
          <a:bodyPr wrap="square" rtlCol="0" anchor="t"/>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Google</a:t>
            </a:r>
            <a:endParaRPr lang="en-US" sz="1250" dirty="0"/>
          </a:p>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Server</a:t>
            </a:r>
            <a:endParaRPr lang="en-US" sz="1250" dirty="0"/>
          </a:p>
        </p:txBody>
      </p:sp>
      <p:sp>
        <p:nvSpPr>
          <p:cNvPr id="19" name="Text 17"/>
          <p:cNvSpPr/>
          <p:nvPr/>
        </p:nvSpPr>
        <p:spPr>
          <a:xfrm>
            <a:off x="548640" y="4526280"/>
            <a:ext cx="11064240" cy="1463040"/>
          </a:xfrm>
          <a:prstGeom prst="rect">
            <a:avLst/>
          </a:prstGeom>
          <a:noFill/>
          <a:ln/>
        </p:spPr>
        <p:txBody>
          <a:bodyPr wrap="square" rtlCol="0" anchor="t"/>
          <a:lstStyle/>
          <a:p>
            <a:pPr indent="0" marL="0">
              <a:lnSpc>
                <a:spcPct val="130000"/>
              </a:lnSpc>
              <a:buNone/>
            </a:pPr>
            <a:r>
              <a:rPr lang="en-US" sz="1450" dirty="0">
                <a:solidFill>
                  <a:srgbClr val="1B1B1B"/>
                </a:solidFill>
                <a:latin typeface="Calibri" pitchFamily="34" charset="0"/>
                <a:ea typeface="Calibri" pitchFamily="34" charset="-122"/>
                <a:cs typeface="Calibri" pitchFamily="34" charset="-120"/>
              </a:rPr>
              <a:t>Same-network traffic (e.g. 192.168.1.10 → 192.168.1.20) goes directly, no gateway needed. Different-network traffic (e.g. → 8.8.8.8) is sent to the Default Gateway first.</a:t>
            </a:r>
            <a:endParaRPr lang="en-US" sz="1450" dirty="0"/>
          </a:p>
        </p:txBody>
      </p:sp>
      <p:sp>
        <p:nvSpPr>
          <p:cNvPr id="20" name="Text 18"/>
          <p:cNvSpPr/>
          <p:nvPr/>
        </p:nvSpPr>
        <p:spPr>
          <a:xfrm>
            <a:off x="11521440" y="6446520"/>
            <a:ext cx="548640" cy="320040"/>
          </a:xfrm>
          <a:prstGeom prst="rect">
            <a:avLst/>
          </a:prstGeom>
          <a:noFill/>
          <a:ln/>
        </p:spPr>
        <p:txBody>
          <a:bodyPr wrap="square" rtlCol="0" anchor="ctr"/>
          <a:lstStyle/>
          <a:p>
            <a:pPr algn="r" indent="0" marL="0">
              <a:buNone/>
            </a:pPr>
            <a:r>
              <a:rPr lang="en-US" sz="1000" dirty="0">
                <a:solidFill>
                  <a:srgbClr val="A9B4BE"/>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7315200" cy="320040"/>
          </a:xfrm>
          <a:prstGeom prst="rect">
            <a:avLst/>
          </a:prstGeom>
          <a:noFill/>
          <a:ln/>
        </p:spPr>
        <p:txBody>
          <a:bodyPr wrap="square"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DAY 11  ·  GATEWAY</a:t>
            </a:r>
            <a:endParaRPr lang="en-US" sz="1100" dirty="0"/>
          </a:p>
        </p:txBody>
      </p:sp>
      <p:sp>
        <p:nvSpPr>
          <p:cNvPr id="3" name="Text 1"/>
          <p:cNvSpPr/>
          <p:nvPr/>
        </p:nvSpPr>
        <p:spPr>
          <a:xfrm>
            <a:off x="457200" y="594360"/>
            <a:ext cx="9601200" cy="54864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Gateway vs Router</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508760"/>
          <a:ext cx="6949440" cy="914400"/>
        </p:xfrm>
        <a:graphic>
          <a:graphicData uri="http://schemas.openxmlformats.org/drawingml/2006/table">
            <a:tbl>
              <a:tblPr/>
              <a:tblGrid>
                <a:gridCol w="3474720"/>
                <a:gridCol w="3474720"/>
              </a:tblGrid>
              <a:tr h="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Gateway</a:t>
                      </a:r>
                      <a:endParaRPr lang="en-US" sz="130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065A82"/>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Router</a:t>
                      </a:r>
                      <a:endParaRPr lang="en-US" sz="130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065A82"/>
                    </a:solidFill>
                  </a:tcPr>
                </a:tc>
              </a:tr>
              <a:tr h="0">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A function (connects different networks)</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A physical network device</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Forwards traffic to another network</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EAF4F8"/>
                    </a:solidFill>
                  </a:tcPr>
                </a:tc>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Performs routing between networks</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EAF4F8"/>
                    </a:solidFill>
                  </a:tcPr>
                </a:tc>
              </a:tr>
              <a:tr h="0">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Often the router acts as the default gateway</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1B1B"/>
                          </a:solidFill>
                          <a:latin typeface="Calibri" pitchFamily="34" charset="0"/>
                          <a:ea typeface="Calibri" pitchFamily="34" charset="-122"/>
                          <a:cs typeface="Calibri" pitchFamily="34" charset="-120"/>
                        </a:rPr>
                        <a:t>Most home routers are also gateways</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r>
            </a:tbl>
          </a:graphicData>
        </a:graphic>
      </p:graphicFrame>
      <p:sp>
        <p:nvSpPr>
          <p:cNvPr id="5" name="Shape 2"/>
          <p:cNvSpPr/>
          <p:nvPr/>
        </p:nvSpPr>
        <p:spPr>
          <a:xfrm>
            <a:off x="7726680" y="1508760"/>
            <a:ext cx="3931920" cy="4617720"/>
          </a:xfrm>
          <a:prstGeom prst="roundRect">
            <a:avLst>
              <a:gd name="adj" fmla="val 1860"/>
            </a:avLst>
          </a:prstGeom>
          <a:solidFill>
            <a:srgbClr val="21295C"/>
          </a:solidFill>
          <a:ln/>
        </p:spPr>
      </p:sp>
      <p:sp>
        <p:nvSpPr>
          <p:cNvPr id="6" name="Text 3"/>
          <p:cNvSpPr/>
          <p:nvPr/>
        </p:nvSpPr>
        <p:spPr>
          <a:xfrm>
            <a:off x="8001000" y="1737360"/>
            <a:ext cx="3383280" cy="365760"/>
          </a:xfrm>
          <a:prstGeom prst="rect">
            <a:avLst/>
          </a:prstGeom>
          <a:noFill/>
          <a:ln/>
        </p:spPr>
        <p:txBody>
          <a:bodyPr wrap="square" rtlCol="0" anchor="ctr"/>
          <a:lstStyle/>
          <a:p>
            <a:pPr indent="0" marL="0">
              <a:buNone/>
            </a:pPr>
            <a:r>
              <a:rPr lang="en-US" sz="1300" b="1" spc="100" kern="0" dirty="0">
                <a:solidFill>
                  <a:srgbClr val="3FC1C9"/>
                </a:solidFill>
                <a:latin typeface="Calibri" pitchFamily="34" charset="0"/>
                <a:ea typeface="Calibri" pitchFamily="34" charset="-122"/>
                <a:cs typeface="Calibri" pitchFamily="34" charset="-120"/>
              </a:rPr>
              <a:t>FIND YOUR GATEWAY</a:t>
            </a:r>
            <a:endParaRPr lang="en-US" sz="1300" dirty="0"/>
          </a:p>
        </p:txBody>
      </p:sp>
      <p:sp>
        <p:nvSpPr>
          <p:cNvPr id="7" name="Text 4"/>
          <p:cNvSpPr/>
          <p:nvPr/>
        </p:nvSpPr>
        <p:spPr>
          <a:xfrm>
            <a:off x="8001000" y="2194560"/>
            <a:ext cx="3383280" cy="3749040"/>
          </a:xfrm>
          <a:prstGeom prst="rect">
            <a:avLst/>
          </a:prstGeom>
          <a:noFill/>
          <a:ln/>
        </p:spPr>
        <p:txBody>
          <a:bodyPr wrap="square" rtlCol="0" anchor="t"/>
          <a:lstStyle/>
          <a:p>
            <a:pPr indent="0" marL="0">
              <a:spcAft>
                <a:spcPts val="200"/>
              </a:spcAft>
              <a:buNone/>
            </a:pPr>
            <a:r>
              <a:rPr lang="en-US" sz="1200" dirty="0">
                <a:solidFill>
                  <a:srgbClr val="CBD9E8"/>
                </a:solidFill>
              </a:rPr>
              <a:t>Windows:</a:t>
            </a:r>
            <a:endParaRPr lang="en-US" sz="1200" dirty="0"/>
          </a:p>
          <a:p>
            <a:pPr indent="0" marL="0">
              <a:spcAft>
                <a:spcPts val="1400"/>
              </a:spcAft>
              <a:buNone/>
            </a:pPr>
            <a:r>
              <a:rPr lang="en-US" sz="1350" dirty="0">
                <a:solidFill>
                  <a:srgbClr val="3FC1C9"/>
                </a:solidFill>
                <a:latin typeface="Consolas" pitchFamily="34" charset="0"/>
                <a:ea typeface="Consolas" pitchFamily="34" charset="-122"/>
                <a:cs typeface="Consolas" pitchFamily="34" charset="-120"/>
              </a:rPr>
              <a:t>ipconfig</a:t>
            </a:r>
            <a:endParaRPr lang="en-US" sz="1200" dirty="0"/>
          </a:p>
          <a:p>
            <a:pPr indent="0" marL="0">
              <a:spcAft>
                <a:spcPts val="200"/>
              </a:spcAft>
              <a:buNone/>
            </a:pPr>
            <a:r>
              <a:rPr lang="en-US" sz="1200" dirty="0">
                <a:solidFill>
                  <a:srgbClr val="CBD9E8"/>
                </a:solidFill>
              </a:rPr>
              <a:t>Linux:</a:t>
            </a:r>
            <a:endParaRPr lang="en-US" sz="1200" dirty="0"/>
          </a:p>
          <a:p>
            <a:pPr indent="0" marL="0">
              <a:spcAft>
                <a:spcPts val="1400"/>
              </a:spcAft>
              <a:buNone/>
            </a:pPr>
            <a:r>
              <a:rPr lang="en-US" sz="1350" dirty="0">
                <a:solidFill>
                  <a:srgbClr val="3FC1C9"/>
                </a:solidFill>
                <a:latin typeface="Consolas" pitchFamily="34" charset="0"/>
                <a:ea typeface="Consolas" pitchFamily="34" charset="-122"/>
                <a:cs typeface="Consolas" pitchFamily="34" charset="-120"/>
              </a:rPr>
              <a:t>ip route</a:t>
            </a:r>
            <a:endParaRPr lang="en-US" sz="1200" dirty="0"/>
          </a:p>
          <a:p>
            <a:pPr indent="0" marL="0">
              <a:spcAft>
                <a:spcPts val="200"/>
              </a:spcAft>
              <a:buNone/>
            </a:pPr>
            <a:r>
              <a:rPr lang="en-US" sz="1200" dirty="0">
                <a:solidFill>
                  <a:srgbClr val="CBD9E8"/>
                </a:solidFill>
              </a:rPr>
              <a:t>Linux (alt):</a:t>
            </a:r>
            <a:endParaRPr lang="en-US" sz="1200" dirty="0"/>
          </a:p>
          <a:p>
            <a:pPr indent="0" marL="0">
              <a:spcAft>
                <a:spcPts val="1400"/>
              </a:spcAft>
              <a:buNone/>
            </a:pPr>
            <a:r>
              <a:rPr lang="en-US" sz="1350" dirty="0">
                <a:solidFill>
                  <a:srgbClr val="3FC1C9"/>
                </a:solidFill>
                <a:latin typeface="Consolas" pitchFamily="34" charset="0"/>
                <a:ea typeface="Consolas" pitchFamily="34" charset="-122"/>
                <a:cs typeface="Consolas" pitchFamily="34" charset="-120"/>
              </a:rPr>
              <a:t>route -n</a:t>
            </a:r>
            <a:endParaRPr lang="en-US" sz="1200" dirty="0"/>
          </a:p>
          <a:p>
            <a:pPr indent="0" marL="0">
              <a:spcAft>
                <a:spcPts val="200"/>
              </a:spcAft>
              <a:buNone/>
            </a:pPr>
            <a:r>
              <a:rPr lang="en-US" sz="1200" dirty="0">
                <a:solidFill>
                  <a:srgbClr val="CBD9E8"/>
                </a:solidFill>
              </a:rPr>
              <a:t>Common home IPs:</a:t>
            </a:r>
            <a:endParaRPr lang="en-US" sz="1200" dirty="0"/>
          </a:p>
          <a:p>
            <a:pPr indent="0" marL="0">
              <a:spcAft>
                <a:spcPts val="1400"/>
              </a:spcAft>
              <a:buNone/>
            </a:pPr>
            <a:r>
              <a:rPr lang="en-US" sz="1350" dirty="0">
                <a:solidFill>
                  <a:srgbClr val="3FC1C9"/>
                </a:solidFill>
                <a:latin typeface="Consolas" pitchFamily="34" charset="0"/>
                <a:ea typeface="Consolas" pitchFamily="34" charset="-122"/>
                <a:cs typeface="Consolas" pitchFamily="34" charset="-120"/>
              </a:rPr>
              <a:t>192.168.1.1 / 10.0.0.1</a:t>
            </a:r>
            <a:endParaRPr lang="en-US" sz="1200" dirty="0"/>
          </a:p>
        </p:txBody>
      </p:sp>
      <p:sp>
        <p:nvSpPr>
          <p:cNvPr id="8" name="Text 5"/>
          <p:cNvSpPr/>
          <p:nvPr/>
        </p:nvSpPr>
        <p:spPr>
          <a:xfrm>
            <a:off x="11521440" y="6446520"/>
            <a:ext cx="548640" cy="320040"/>
          </a:xfrm>
          <a:prstGeom prst="rect">
            <a:avLst/>
          </a:prstGeom>
          <a:noFill/>
          <a:ln/>
        </p:spPr>
        <p:txBody>
          <a:bodyPr wrap="square" rtlCol="0" anchor="ctr"/>
          <a:lstStyle/>
          <a:p>
            <a:pPr algn="r" indent="0" marL="0">
              <a:buNone/>
            </a:pPr>
            <a:r>
              <a:rPr lang="en-US" sz="1000" dirty="0">
                <a:solidFill>
                  <a:srgbClr val="A9B4BE"/>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7315200" cy="320040"/>
          </a:xfrm>
          <a:prstGeom prst="rect">
            <a:avLst/>
          </a:prstGeom>
          <a:noFill/>
          <a:ln/>
        </p:spPr>
        <p:txBody>
          <a:bodyPr wrap="square"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DAY 11  ·  GATEWAY</a:t>
            </a:r>
            <a:endParaRPr lang="en-US" sz="1100" dirty="0"/>
          </a:p>
        </p:txBody>
      </p:sp>
      <p:sp>
        <p:nvSpPr>
          <p:cNvPr id="3" name="Text 1"/>
          <p:cNvSpPr/>
          <p:nvPr/>
        </p:nvSpPr>
        <p:spPr>
          <a:xfrm>
            <a:off x="457200" y="594360"/>
            <a:ext cx="9601200" cy="54864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Security &amp; Quick Revision</a:t>
            </a:r>
            <a:endParaRPr lang="en-US" sz="3000" dirty="0"/>
          </a:p>
        </p:txBody>
      </p:sp>
      <p:sp>
        <p:nvSpPr>
          <p:cNvPr id="4" name="Shape 2"/>
          <p:cNvSpPr/>
          <p:nvPr/>
        </p:nvSpPr>
        <p:spPr>
          <a:xfrm>
            <a:off x="502920" y="1508760"/>
            <a:ext cx="5394960" cy="4617720"/>
          </a:xfrm>
          <a:prstGeom prst="roundRect">
            <a:avLst>
              <a:gd name="adj" fmla="val 1584"/>
            </a:avLst>
          </a:prstGeom>
          <a:solidFill>
            <a:srgbClr val="21295C"/>
          </a:solidFill>
          <a:ln/>
        </p:spPr>
      </p:sp>
      <p:sp>
        <p:nvSpPr>
          <p:cNvPr id="5" name="Text 3"/>
          <p:cNvSpPr/>
          <p:nvPr/>
        </p:nvSpPr>
        <p:spPr>
          <a:xfrm>
            <a:off x="777240" y="1737360"/>
            <a:ext cx="4846320" cy="365760"/>
          </a:xfrm>
          <a:prstGeom prst="rect">
            <a:avLst/>
          </a:prstGeom>
          <a:noFill/>
          <a:ln/>
        </p:spPr>
        <p:txBody>
          <a:bodyPr wrap="square" rtlCol="0" anchor="ctr"/>
          <a:lstStyle/>
          <a:p>
            <a:pPr indent="0" marL="0">
              <a:buNone/>
            </a:pPr>
            <a:r>
              <a:rPr lang="en-US" sz="1400" b="1" spc="100" kern="0" dirty="0">
                <a:solidFill>
                  <a:srgbClr val="3FC1C9"/>
                </a:solidFill>
                <a:latin typeface="Calibri" pitchFamily="34" charset="0"/>
                <a:ea typeface="Calibri" pitchFamily="34" charset="-122"/>
                <a:cs typeface="Calibri" pitchFamily="34" charset="-120"/>
              </a:rPr>
              <a:t>GATEWAY IN CYBERSECURITY</a:t>
            </a:r>
            <a:endParaRPr lang="en-US" sz="1400" dirty="0"/>
          </a:p>
        </p:txBody>
      </p:sp>
      <p:sp>
        <p:nvSpPr>
          <p:cNvPr id="6" name="Text 4"/>
          <p:cNvSpPr/>
          <p:nvPr/>
        </p:nvSpPr>
        <p:spPr>
          <a:xfrm>
            <a:off x="822960" y="2194560"/>
            <a:ext cx="4846320" cy="3749040"/>
          </a:xfrm>
          <a:prstGeom prst="rect">
            <a:avLst/>
          </a:prstGeom>
          <a:noFill/>
          <a:ln/>
        </p:spPr>
        <p:txBody>
          <a:bodyPr wrap="square" rtlCol="0" anchor="t"/>
          <a:lstStyle/>
          <a:p>
            <a:pPr marL="342900" indent="-342900">
              <a:spcAft>
                <a:spcPts val="1000"/>
              </a:spcAft>
              <a:buSzPct val="100000"/>
              <a:buChar char="•"/>
            </a:pPr>
            <a:r>
              <a:rPr lang="en-US" sz="1350" dirty="0">
                <a:solidFill>
                  <a:srgbClr val="E7EEF5"/>
                </a:solidFill>
              </a:rPr>
              <a:t>SOC analysts use gateway logs to monitor incoming/outgoing traffic</a:t>
            </a:r>
            <a:endParaRPr lang="en-US" sz="1350" dirty="0"/>
          </a:p>
          <a:p>
            <a:pPr marL="342900" indent="-342900">
              <a:spcAft>
                <a:spcPts val="1000"/>
              </a:spcAft>
              <a:buSzPct val="100000"/>
              <a:buChar char="•"/>
            </a:pPr>
            <a:r>
              <a:rPr lang="en-US" sz="1350" dirty="0">
                <a:solidFill>
                  <a:srgbClr val="E7EEF5"/>
                </a:solidFill>
              </a:rPr>
              <a:t>Detect suspicious connections and malware communication</a:t>
            </a:r>
            <a:endParaRPr lang="en-US" sz="1350" dirty="0"/>
          </a:p>
          <a:p>
            <a:pPr marL="342900" indent="-342900">
              <a:spcAft>
                <a:spcPts val="1000"/>
              </a:spcAft>
              <a:buSzPct val="100000"/>
              <a:buChar char="•"/>
            </a:pPr>
            <a:r>
              <a:rPr lang="en-US" sz="1350" dirty="0">
                <a:solidFill>
                  <a:srgbClr val="E7EEF5"/>
                </a:solidFill>
              </a:rPr>
              <a:t>Trace devices accessing external websites</a:t>
            </a:r>
            <a:endParaRPr lang="en-US" sz="1350" dirty="0"/>
          </a:p>
        </p:txBody>
      </p:sp>
      <p:sp>
        <p:nvSpPr>
          <p:cNvPr id="7" name="Text 5"/>
          <p:cNvSpPr/>
          <p:nvPr/>
        </p:nvSpPr>
        <p:spPr>
          <a:xfrm>
            <a:off x="6263640" y="1737360"/>
            <a:ext cx="5394960" cy="365760"/>
          </a:xfrm>
          <a:prstGeom prst="rect">
            <a:avLst/>
          </a:prstGeom>
          <a:noFill/>
          <a:ln/>
        </p:spPr>
        <p:txBody>
          <a:bodyPr wrap="square" rtlCol="0" anchor="ctr"/>
          <a:lstStyle/>
          <a:p>
            <a:pPr indent="0" marL="0">
              <a:buNone/>
            </a:pPr>
            <a:r>
              <a:rPr lang="en-US" sz="1400" b="1" spc="100" kern="0" dirty="0">
                <a:solidFill>
                  <a:srgbClr val="1C7293"/>
                </a:solidFill>
                <a:latin typeface="Calibri" pitchFamily="34" charset="0"/>
                <a:ea typeface="Calibri" pitchFamily="34" charset="-122"/>
                <a:cs typeface="Calibri" pitchFamily="34" charset="-120"/>
              </a:rPr>
              <a:t>QUICK REVISION</a:t>
            </a:r>
            <a:endParaRPr lang="en-US" sz="1400" dirty="0"/>
          </a:p>
        </p:txBody>
      </p:sp>
      <p:sp>
        <p:nvSpPr>
          <p:cNvPr id="8" name="Text 6"/>
          <p:cNvSpPr/>
          <p:nvPr/>
        </p:nvSpPr>
        <p:spPr>
          <a:xfrm>
            <a:off x="6309360" y="2194560"/>
            <a:ext cx="5394960" cy="3931920"/>
          </a:xfrm>
          <a:prstGeom prst="rect">
            <a:avLst/>
          </a:prstGeom>
          <a:noFill/>
          <a:ln/>
        </p:spPr>
        <p:txBody>
          <a:bodyPr wrap="square" rtlCol="0" anchor="t"/>
          <a:lstStyle/>
          <a:p>
            <a:pPr marL="342900" indent="-342900">
              <a:spcAft>
                <a:spcPts val="900"/>
              </a:spcAft>
              <a:buSzPct val="100000"/>
              <a:buChar char="•"/>
            </a:pPr>
            <a:r>
              <a:rPr lang="en-US" sz="1350" dirty="0">
                <a:solidFill>
                  <a:srgbClr val="1B1B1B"/>
                </a:solidFill>
              </a:rPr>
              <a:t>Gateway connects different networks</a:t>
            </a:r>
            <a:endParaRPr lang="en-US" sz="1350" dirty="0"/>
          </a:p>
          <a:p>
            <a:pPr marL="342900" indent="-342900">
              <a:spcAft>
                <a:spcPts val="900"/>
              </a:spcAft>
              <a:buSzPct val="100000"/>
              <a:buChar char="•"/>
            </a:pPr>
            <a:r>
              <a:rPr lang="en-US" sz="1350" dirty="0">
                <a:solidFill>
                  <a:srgbClr val="1B1B1B"/>
                </a:solidFill>
              </a:rPr>
              <a:t>The Default Gateway is usually your router</a:t>
            </a:r>
            <a:endParaRPr lang="en-US" sz="1350" dirty="0"/>
          </a:p>
          <a:p>
            <a:pPr marL="342900" indent="-342900">
              <a:spcAft>
                <a:spcPts val="900"/>
              </a:spcAft>
              <a:buSzPct val="100000"/>
              <a:buChar char="•"/>
            </a:pPr>
            <a:r>
              <a:rPr lang="en-US" sz="1350" dirty="0">
                <a:solidFill>
                  <a:srgbClr val="1B1B1B"/>
                </a:solidFill>
              </a:rPr>
              <a:t>It forwards packets outside the local network</a:t>
            </a:r>
            <a:endParaRPr lang="en-US" sz="1350" dirty="0"/>
          </a:p>
          <a:p>
            <a:pPr marL="342900" indent="-342900">
              <a:spcAft>
                <a:spcPts val="900"/>
              </a:spcAft>
              <a:buSzPct val="100000"/>
              <a:buChar char="•"/>
            </a:pPr>
            <a:r>
              <a:rPr lang="en-US" sz="1350" dirty="0">
                <a:solidFill>
                  <a:srgbClr val="1B1B1B"/>
                </a:solidFill>
              </a:rPr>
              <a:t>Without a gateway, Internet access is not possible</a:t>
            </a:r>
            <a:endParaRPr lang="en-US" sz="1350" dirty="0"/>
          </a:p>
          <a:p>
            <a:pPr marL="342900" indent="-342900">
              <a:spcAft>
                <a:spcPts val="900"/>
              </a:spcAft>
              <a:buSzPct val="100000"/>
              <a:buChar char="•"/>
            </a:pPr>
            <a:r>
              <a:rPr lang="en-US" sz="1350" dirty="0">
                <a:solidFill>
                  <a:srgbClr val="1B1B1B"/>
                </a:solidFill>
              </a:rPr>
              <a:t>SOC tip: check IP → Subnet → Gateway → DNS → Internet, in that order, when troubleshooting</a:t>
            </a:r>
            <a:endParaRPr lang="en-US" sz="1350" dirty="0"/>
          </a:p>
        </p:txBody>
      </p:sp>
      <p:sp>
        <p:nvSpPr>
          <p:cNvPr id="9" name="Text 7"/>
          <p:cNvSpPr/>
          <p:nvPr/>
        </p:nvSpPr>
        <p:spPr>
          <a:xfrm>
            <a:off x="11521440" y="6446520"/>
            <a:ext cx="548640" cy="320040"/>
          </a:xfrm>
          <a:prstGeom prst="rect">
            <a:avLst/>
          </a:prstGeom>
          <a:noFill/>
          <a:ln/>
        </p:spPr>
        <p:txBody>
          <a:bodyPr wrap="square" rtlCol="0" anchor="ctr"/>
          <a:lstStyle/>
          <a:p>
            <a:pPr algn="r" indent="0" marL="0">
              <a:buNone/>
            </a:pPr>
            <a:r>
              <a:rPr lang="en-US" sz="1000" dirty="0">
                <a:solidFill>
                  <a:srgbClr val="A9B4BE"/>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7315200" cy="320040"/>
          </a:xfrm>
          <a:prstGeom prst="rect">
            <a:avLst/>
          </a:prstGeom>
          <a:noFill/>
          <a:ln/>
        </p:spPr>
        <p:txBody>
          <a:bodyPr wrap="square"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QUICK COMPARISON</a:t>
            </a:r>
            <a:endParaRPr lang="en-US" sz="1100" dirty="0"/>
          </a:p>
        </p:txBody>
      </p:sp>
      <p:sp>
        <p:nvSpPr>
          <p:cNvPr id="3" name="Text 1"/>
          <p:cNvSpPr/>
          <p:nvPr/>
        </p:nvSpPr>
        <p:spPr>
          <a:xfrm>
            <a:off x="457200" y="594360"/>
            <a:ext cx="10058400" cy="54864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DNS vs DHCP vs NAT vs Gateway</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1508760"/>
          <a:ext cx="11155680" cy="914400"/>
        </p:xfrm>
        <a:graphic>
          <a:graphicData uri="http://schemas.openxmlformats.org/drawingml/2006/table">
            <a:tbl>
              <a:tblPr/>
              <a:tblGrid>
                <a:gridCol w="2231136"/>
                <a:gridCol w="2231136"/>
                <a:gridCol w="2231136"/>
                <a:gridCol w="2231136"/>
                <a:gridCol w="2231136"/>
              </a:tblGrid>
              <a:tr h="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Feature</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065A82"/>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DNS</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065A82"/>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DHCP</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065A82"/>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NAT</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065A82"/>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Gateway</a:t>
                      </a:r>
                      <a:endParaRPr lang="en-US" sz="12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065A82"/>
                    </a:solidFill>
                  </a:tcPr>
                </a:tc>
              </a:tr>
              <a:tr h="0">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Full Form</a:t>
                      </a:r>
                      <a:endParaRPr lang="en-US" sz="11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Domain Name System</a:t>
                      </a:r>
                      <a:endParaRPr lang="en-US" sz="11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Dynamic Host Config. Protocol</a:t>
                      </a:r>
                      <a:endParaRPr lang="en-US" sz="11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Network Address Translation</a:t>
                      </a:r>
                      <a:endParaRPr lang="en-US" sz="11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Gateway</a:t>
                      </a:r>
                      <a:endParaRPr lang="en-US" sz="11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Purpose</a:t>
                      </a:r>
                      <a:endParaRPr lang="en-US" sz="11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EAF4F8"/>
                    </a:solidFill>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Domain name → IP address</a:t>
                      </a:r>
                      <a:endParaRPr lang="en-US" sz="11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EAF4F8"/>
                    </a:solidFill>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Assigns IP addresses automatically</a:t>
                      </a:r>
                      <a:endParaRPr lang="en-US" sz="11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EAF4F8"/>
                    </a:solidFill>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Private IP ↔ Public IP</a:t>
                      </a:r>
                      <a:endParaRPr lang="en-US" sz="11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EAF4F8"/>
                    </a:solidFill>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Connects different networks</a:t>
                      </a:r>
                      <a:endParaRPr lang="en-US" sz="11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EAF4F8"/>
                    </a:solidFill>
                  </a:tcPr>
                </a:tc>
              </a:tr>
              <a:tr h="0">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Runs On</a:t>
                      </a:r>
                      <a:endParaRPr lang="en-US" sz="11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DNS Server</a:t>
                      </a:r>
                      <a:endParaRPr lang="en-US" sz="11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Router / Server</a:t>
                      </a:r>
                      <a:endParaRPr lang="en-US" sz="11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Router</a:t>
                      </a:r>
                      <a:endParaRPr lang="en-US" sz="11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Router</a:t>
                      </a:r>
                      <a:endParaRPr lang="en-US" sz="11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Ports</a:t>
                      </a:r>
                      <a:endParaRPr lang="en-US" sz="11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EAF4F8"/>
                    </a:solidFill>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UDP/TCP 53</a:t>
                      </a:r>
                      <a:endParaRPr lang="en-US" sz="11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EAF4F8"/>
                    </a:solidFill>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UDP 67 &amp; 68</a:t>
                      </a:r>
                      <a:endParaRPr lang="en-US" sz="11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EAF4F8"/>
                    </a:solidFill>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No fixed port</a:t>
                      </a:r>
                      <a:endParaRPr lang="en-US" sz="11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EAF4F8"/>
                    </a:solidFill>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No fixed port</a:t>
                      </a:r>
                      <a:endParaRPr lang="en-US" sz="11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EAF4F8"/>
                    </a:solidFill>
                  </a:tcPr>
                </a:tc>
              </a:tr>
              <a:tr h="0">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Example</a:t>
                      </a:r>
                      <a:endParaRPr lang="en-US" sz="11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google.com → 142.250.x.x</a:t>
                      </a:r>
                      <a:endParaRPr lang="en-US" sz="11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Assigns 192.168.1.100</a:t>
                      </a:r>
                      <a:endParaRPr lang="en-US" sz="11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192.168.1.10 → 203.0.113.25</a:t>
                      </a:r>
                      <a:endParaRPr lang="en-US" sz="11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192.168.1.1</a:t>
                      </a:r>
                      <a:endParaRPr lang="en-US" sz="1150" dirty="0">
                        <a:latin typeface="Calibri" charset="0"/>
                        <a:ea typeface="Calibri" charset="0"/>
                        <a:cs typeface="Calibri" charset="0"/>
                      </a:endParaRPr>
                    </a:p>
                  </a:txBody>
                  <a:tcPr marL="101600" marR="101600" marT="50800" marB="50800" anchor="ctr">
                    <a:lnL w="9525" cap="flat" cmpd="sng" algn="ctr">
                      <a:solidFill>
                        <a:srgbClr val="D5E4EE"/>
                      </a:solidFill>
                      <a:prstDash val="solid"/>
                      <a:round/>
                      <a:headEnd type="none" w="med" len="med"/>
                      <a:tailEnd type="none" w="med" len="med"/>
                    </a:lnL>
                    <a:lnR w="9525" cap="flat" cmpd="sng" algn="ctr">
                      <a:solidFill>
                        <a:srgbClr val="D5E4EE"/>
                      </a:solidFill>
                      <a:prstDash val="solid"/>
                      <a:round/>
                      <a:headEnd type="none" w="med" len="med"/>
                      <a:tailEnd type="none" w="med" len="med"/>
                    </a:lnR>
                    <a:lnT w="9525" cap="flat" cmpd="sng" algn="ctr">
                      <a:solidFill>
                        <a:srgbClr val="D5E4EE"/>
                      </a:solidFill>
                      <a:prstDash val="solid"/>
                      <a:round/>
                      <a:headEnd type="none" w="med" len="med"/>
                      <a:tailEnd type="none" w="med" len="med"/>
                    </a:lnT>
                    <a:lnB w="9525" cap="flat" cmpd="sng" algn="ctr">
                      <a:solidFill>
                        <a:srgbClr val="D5E4EE"/>
                      </a:solidFill>
                      <a:prstDash val="solid"/>
                      <a:round/>
                      <a:headEnd type="none" w="med" len="med"/>
                      <a:tailEnd type="none" w="med" len="med"/>
                    </a:lnB>
                    <a:solidFill>
                      <a:srgbClr val="FFFFFF"/>
                    </a:solidFill>
                  </a:tcPr>
                </a:tc>
              </a:tr>
            </a:tbl>
          </a:graphicData>
        </a:graphic>
      </p:graphicFrame>
      <p:sp>
        <p:nvSpPr>
          <p:cNvPr id="5" name="Text 2"/>
          <p:cNvSpPr/>
          <p:nvPr/>
        </p:nvSpPr>
        <p:spPr>
          <a:xfrm>
            <a:off x="11521440" y="6446520"/>
            <a:ext cx="548640" cy="320040"/>
          </a:xfrm>
          <a:prstGeom prst="rect">
            <a:avLst/>
          </a:prstGeom>
          <a:noFill/>
          <a:ln/>
        </p:spPr>
        <p:txBody>
          <a:bodyPr wrap="square" rtlCol="0" anchor="ctr"/>
          <a:lstStyle/>
          <a:p>
            <a:pPr algn="r" indent="0" marL="0">
              <a:buNone/>
            </a:pPr>
            <a:r>
              <a:rPr lang="en-US" sz="1000" dirty="0">
                <a:solidFill>
                  <a:srgbClr val="A9B4BE"/>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065A82">
              <a:alpha val="55000"/>
            </a:srgbClr>
          </a:solidFill>
          <a:ln/>
        </p:spPr>
      </p:sp>
      <p:sp>
        <p:nvSpPr>
          <p:cNvPr id="3" name="Text 1"/>
          <p:cNvSpPr/>
          <p:nvPr/>
        </p:nvSpPr>
        <p:spPr>
          <a:xfrm>
            <a:off x="822960" y="1828800"/>
            <a:ext cx="9144000" cy="365760"/>
          </a:xfrm>
          <a:prstGeom prst="rect">
            <a:avLst/>
          </a:prstGeom>
          <a:noFill/>
          <a:ln/>
        </p:spPr>
        <p:txBody>
          <a:bodyPr wrap="square" rtlCol="0" anchor="ctr"/>
          <a:lstStyle/>
          <a:p>
            <a:pPr indent="0" marL="0">
              <a:buNone/>
            </a:pPr>
            <a:r>
              <a:rPr lang="en-US" sz="1300" b="1" spc="200" kern="0" dirty="0">
                <a:solidFill>
                  <a:srgbClr val="3FC1C9"/>
                </a:solidFill>
                <a:latin typeface="Calibri" pitchFamily="34" charset="0"/>
                <a:ea typeface="Calibri" pitchFamily="34" charset="-122"/>
                <a:cs typeface="Calibri" pitchFamily="34" charset="-120"/>
              </a:rPr>
              <a:t>Covered in this deck</a:t>
            </a:r>
            <a:endParaRPr lang="en-US" sz="1300" dirty="0"/>
          </a:p>
        </p:txBody>
      </p:sp>
      <p:sp>
        <p:nvSpPr>
          <p:cNvPr id="4" name="Text 2"/>
          <p:cNvSpPr/>
          <p:nvPr/>
        </p:nvSpPr>
        <p:spPr>
          <a:xfrm>
            <a:off x="822960" y="2194560"/>
            <a:ext cx="10058400" cy="91440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DNS  ·  DHCP  ·  NAT  ·  Gateway</a:t>
            </a:r>
            <a:endParaRPr lang="en-US" sz="4000" dirty="0"/>
          </a:p>
        </p:txBody>
      </p:sp>
      <p:sp>
        <p:nvSpPr>
          <p:cNvPr id="5" name="Text 3"/>
          <p:cNvSpPr/>
          <p:nvPr/>
        </p:nvSpPr>
        <p:spPr>
          <a:xfrm>
            <a:off x="822960" y="3383280"/>
            <a:ext cx="9601200" cy="548640"/>
          </a:xfrm>
          <a:prstGeom prst="rect">
            <a:avLst/>
          </a:prstGeom>
          <a:noFill/>
          <a:ln/>
        </p:spPr>
        <p:txBody>
          <a:bodyPr wrap="square" rtlCol="0" anchor="ctr"/>
          <a:lstStyle/>
          <a:p>
            <a:pPr indent="0" marL="0">
              <a:buNone/>
            </a:pPr>
            <a:r>
              <a:rPr lang="en-US" sz="1600" i="1" dirty="0">
                <a:solidFill>
                  <a:srgbClr val="CBD9E8"/>
                </a:solidFill>
                <a:latin typeface="Calibri" pitchFamily="34" charset="0"/>
                <a:ea typeface="Calibri" pitchFamily="34" charset="-122"/>
                <a:cs typeface="Calibri" pitchFamily="34" charset="-120"/>
              </a:rPr>
              <a:t>Day 01–07 already completed. Next up: HTTP / HTTPS, ARP, and ICMP.</a:t>
            </a:r>
            <a:endParaRPr lang="en-US" sz="1600" dirty="0"/>
          </a:p>
        </p:txBody>
      </p:sp>
      <p:sp>
        <p:nvSpPr>
          <p:cNvPr id="6" name="Text 4"/>
          <p:cNvSpPr/>
          <p:nvPr/>
        </p:nvSpPr>
        <p:spPr>
          <a:xfrm>
            <a:off x="822960" y="3931920"/>
            <a:ext cx="9601200" cy="457200"/>
          </a:xfrm>
          <a:prstGeom prst="rect">
            <a:avLst/>
          </a:prstGeom>
          <a:noFill/>
          <a:ln/>
        </p:spPr>
        <p:txBody>
          <a:bodyPr wrap="square" rtlCol="0" anchor="ctr"/>
          <a:lstStyle/>
          <a:p>
            <a:pPr indent="0" marL="0">
              <a:buNone/>
            </a:pPr>
            <a:r>
              <a:rPr lang="en-US" sz="1300" dirty="0">
                <a:solidFill>
                  <a:srgbClr val="9FB3C8"/>
                </a:solidFill>
                <a:latin typeface="Calibri" pitchFamily="34" charset="0"/>
                <a:ea typeface="Calibri" pitchFamily="34" charset="-122"/>
                <a:cs typeface="Calibri" pitchFamily="34" charset="-120"/>
              </a:rPr>
              <a:t>A 25-MCQ test is available for each day's topic on request.</a:t>
            </a:r>
            <a:endParaRPr lang="en-US" sz="1300" dirty="0"/>
          </a:p>
        </p:txBody>
      </p:sp>
      <p:sp>
        <p:nvSpPr>
          <p:cNvPr id="7" name="Text 5"/>
          <p:cNvSpPr/>
          <p:nvPr/>
        </p:nvSpPr>
        <p:spPr>
          <a:xfrm>
            <a:off x="11521440" y="6446520"/>
            <a:ext cx="548640" cy="320040"/>
          </a:xfrm>
          <a:prstGeom prst="rect">
            <a:avLst/>
          </a:prstGeom>
          <a:noFill/>
          <a:ln/>
        </p:spPr>
        <p:txBody>
          <a:bodyPr wrap="square" rtlCol="0" anchor="ctr"/>
          <a:lstStyle/>
          <a:p>
            <a:pPr algn="r" indent="0" marL="0">
              <a:buNone/>
            </a:pPr>
            <a:r>
              <a:rPr lang="en-US" sz="1000" dirty="0">
                <a:solidFill>
                  <a:srgbClr val="9FB3C8"/>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2026-07-29T11:19:38Z</dcterms:created>
  <dcterms:modified xsi:type="dcterms:W3CDTF">2026-07-29T11:19:38Z</dcterms:modified>
</cp:coreProperties>
</file>