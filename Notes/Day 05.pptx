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188720"/>
            <a:ext cx="3749040" cy="960120"/>
          </a:xfrm>
          <a:prstGeom prst="rect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863840" y="2606040"/>
            <a:ext cx="3749040" cy="960120"/>
          </a:xfrm>
          <a:prstGeom prst="rect">
            <a:avLst/>
          </a:prstGeom>
          <a:solidFill>
            <a:srgbClr val="1C7293">
              <a:alpha val="5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863840" y="4023360"/>
            <a:ext cx="3749040" cy="960120"/>
          </a:xfrm>
          <a:prstGeom prst="rect">
            <a:avLst/>
          </a:prstGeom>
          <a:solidFill>
            <a:srgbClr val="5FBDB0">
              <a:alpha val="6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196596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BD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 FUNDAMENTALS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73152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OSI Reference Model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how data travels across seven layers, from the physical wire to the user's application.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the OSI Model?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reference model describing how information from a software application on one computer moves through a physical medium to the software application on another computer.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Consists of seven layers — each performs a particular network function.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by the International Organization for Standardization (ISO) in 1984.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Divides the whole communication task into seven smaller, manageable, self-contained tasks.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46304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</p:spPr>
      </p:sp>
      <p:sp>
        <p:nvSpPr>
          <p:cNvPr id="6" name="Text 4"/>
          <p:cNvSpPr/>
          <p:nvPr/>
        </p:nvSpPr>
        <p:spPr>
          <a:xfrm>
            <a:off x="7955280" y="14630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0" y="199339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</p:spPr>
      </p:sp>
      <p:sp>
        <p:nvSpPr>
          <p:cNvPr id="8" name="Text 6"/>
          <p:cNvSpPr/>
          <p:nvPr/>
        </p:nvSpPr>
        <p:spPr>
          <a:xfrm>
            <a:off x="7955280" y="1993392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2523744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7955280" y="2523744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3054096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5FBDB0"/>
          </a:solidFill>
        </p:spPr>
      </p:sp>
      <p:sp>
        <p:nvSpPr>
          <p:cNvPr id="12" name="Text 10"/>
          <p:cNvSpPr/>
          <p:nvPr/>
        </p:nvSpPr>
        <p:spPr>
          <a:xfrm>
            <a:off x="7955280" y="3054096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3584448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</p:spPr>
      </p:sp>
      <p:sp>
        <p:nvSpPr>
          <p:cNvPr id="14" name="Text 12"/>
          <p:cNvSpPr/>
          <p:nvPr/>
        </p:nvSpPr>
        <p:spPr>
          <a:xfrm>
            <a:off x="7955280" y="3584448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41148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</p:spPr>
      </p:sp>
      <p:sp>
        <p:nvSpPr>
          <p:cNvPr id="16" name="Text 14"/>
          <p:cNvSpPr/>
          <p:nvPr/>
        </p:nvSpPr>
        <p:spPr>
          <a:xfrm>
            <a:off x="7955280" y="411480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464515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</p:spPr>
      </p:sp>
      <p:sp>
        <p:nvSpPr>
          <p:cNvPr id="18" name="Text 16"/>
          <p:cNvSpPr/>
          <p:nvPr/>
        </p:nvSpPr>
        <p:spPr>
          <a:xfrm>
            <a:off x="7955280" y="4645152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Groups of Responsibility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layer is self-contained, so the OSI model splits neatly into layers handled by the host and layers handled by the network.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2377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Responsibility</a:t>
            </a:r>
            <a:endParaRPr lang="en-US" sz="1500" dirty="0"/>
          </a:p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the Host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4640" y="2194560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065A82"/>
          </a:solidFill>
        </p:spPr>
      </p:sp>
      <p:sp>
        <p:nvSpPr>
          <p:cNvPr id="7" name="Text 5"/>
          <p:cNvSpPr/>
          <p:nvPr/>
        </p:nvSpPr>
        <p:spPr>
          <a:xfrm>
            <a:off x="2834640" y="219456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2926080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065A82"/>
          </a:solidFill>
        </p:spPr>
      </p:sp>
      <p:sp>
        <p:nvSpPr>
          <p:cNvPr id="9" name="Text 7"/>
          <p:cNvSpPr/>
          <p:nvPr/>
        </p:nvSpPr>
        <p:spPr>
          <a:xfrm>
            <a:off x="2834640" y="292608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3657600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2834640" y="365760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34640" y="4389120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065A82"/>
          </a:solidFill>
        </p:spPr>
      </p:sp>
      <p:sp>
        <p:nvSpPr>
          <p:cNvPr id="13" name="Text 11"/>
          <p:cNvSpPr/>
          <p:nvPr/>
        </p:nvSpPr>
        <p:spPr>
          <a:xfrm>
            <a:off x="2834640" y="438912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" y="5532120"/>
            <a:ext cx="2377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Responsibility</a:t>
            </a:r>
            <a:endParaRPr lang="en-US" sz="1500" dirty="0"/>
          </a:p>
          <a:p>
            <a:pPr marL="0" indent="0" algn="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the Network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34640" y="5440680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1C7293"/>
          </a:solidFill>
        </p:spPr>
      </p:sp>
      <p:sp>
        <p:nvSpPr>
          <p:cNvPr id="16" name="Text 14"/>
          <p:cNvSpPr/>
          <p:nvPr/>
        </p:nvSpPr>
        <p:spPr>
          <a:xfrm>
            <a:off x="2834640" y="544068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34640" y="6172200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2834640" y="617220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834640" y="6903720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1C7293"/>
          </a:solidFill>
        </p:spPr>
      </p:sp>
      <p:sp>
        <p:nvSpPr>
          <p:cNvPr id="20" name="Text 18"/>
          <p:cNvSpPr/>
          <p:nvPr/>
        </p:nvSpPr>
        <p:spPr>
          <a:xfrm>
            <a:off x="2834640" y="690372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06640" y="219456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377440"/>
            <a:ext cx="36576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Upper Layers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applications using software; closest to the user.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Layers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data transfer using hardware and software; the physical layer connects to cables and sends data.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7 Layers of the OSI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548640" y="150876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52728" y="150876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AF3F5"/>
          </a:solidFill>
        </p:spPr>
      </p:sp>
      <p:sp>
        <p:nvSpPr>
          <p:cNvPr id="7" name="Text 5"/>
          <p:cNvSpPr/>
          <p:nvPr/>
        </p:nvSpPr>
        <p:spPr>
          <a:xfrm>
            <a:off x="1252728" y="1508760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30168" y="1508760"/>
            <a:ext cx="798271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services to the user.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0" name="Text 8"/>
          <p:cNvSpPr/>
          <p:nvPr/>
        </p:nvSpPr>
        <p:spPr>
          <a:xfrm>
            <a:off x="548640" y="213055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2728" y="2130552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AF3F5"/>
          </a:solidFill>
        </p:spPr>
      </p:sp>
      <p:sp>
        <p:nvSpPr>
          <p:cNvPr id="12" name="Text 10"/>
          <p:cNvSpPr/>
          <p:nvPr/>
        </p:nvSpPr>
        <p:spPr>
          <a:xfrm>
            <a:off x="1252728" y="2130552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2130552"/>
            <a:ext cx="798271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Translation, compression &amp; encryption.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52344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3"/>
          <p:cNvSpPr/>
          <p:nvPr/>
        </p:nvSpPr>
        <p:spPr>
          <a:xfrm>
            <a:off x="548640" y="2752344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52728" y="2752344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AF3F5"/>
          </a:solidFill>
        </p:spPr>
      </p:sp>
      <p:sp>
        <p:nvSpPr>
          <p:cNvPr id="17" name="Text 15"/>
          <p:cNvSpPr/>
          <p:nvPr/>
        </p:nvSpPr>
        <p:spPr>
          <a:xfrm>
            <a:off x="1252728" y="2752344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30168" y="2752344"/>
            <a:ext cx="798271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Establishes, manages &amp; terminates sessions.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566928" cy="566928"/>
          </a:xfrm>
          <a:prstGeom prst="ellipse">
            <a:avLst/>
          </a:prstGeom>
          <a:solidFill>
            <a:srgbClr val="5FBDB0"/>
          </a:solidFill>
        </p:spPr>
      </p:sp>
      <p:sp>
        <p:nvSpPr>
          <p:cNvPr id="20" name="Text 18"/>
          <p:cNvSpPr/>
          <p:nvPr/>
        </p:nvSpPr>
        <p:spPr>
          <a:xfrm>
            <a:off x="548640" y="337413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52728" y="3374136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AF3F5"/>
          </a:solidFill>
        </p:spPr>
      </p:sp>
      <p:sp>
        <p:nvSpPr>
          <p:cNvPr id="22" name="Text 20"/>
          <p:cNvSpPr/>
          <p:nvPr/>
        </p:nvSpPr>
        <p:spPr>
          <a:xfrm>
            <a:off x="1252728" y="3374136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30168" y="3374136"/>
            <a:ext cx="798271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 message delivery, process to process.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995928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5" name="Text 23"/>
          <p:cNvSpPr/>
          <p:nvPr/>
        </p:nvSpPr>
        <p:spPr>
          <a:xfrm>
            <a:off x="548640" y="399592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52728" y="3995928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AF3F5"/>
          </a:solidFill>
        </p:spPr>
      </p:sp>
      <p:sp>
        <p:nvSpPr>
          <p:cNvPr id="27" name="Text 25"/>
          <p:cNvSpPr/>
          <p:nvPr/>
        </p:nvSpPr>
        <p:spPr>
          <a:xfrm>
            <a:off x="1252728" y="3995928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30168" y="3995928"/>
            <a:ext cx="798271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Moves packets from source to destination.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0" name="Text 28"/>
          <p:cNvSpPr/>
          <p:nvPr/>
        </p:nvSpPr>
        <p:spPr>
          <a:xfrm>
            <a:off x="548640" y="46177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52728" y="461772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AF3F5"/>
          </a:solidFill>
        </p:spPr>
      </p:sp>
      <p:sp>
        <p:nvSpPr>
          <p:cNvPr id="32" name="Text 30"/>
          <p:cNvSpPr/>
          <p:nvPr/>
        </p:nvSpPr>
        <p:spPr>
          <a:xfrm>
            <a:off x="1252728" y="4617720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30168" y="4617720"/>
            <a:ext cx="798271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Error-free transfer of data frames.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239512"/>
            <a:ext cx="566928" cy="5669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5" name="Text 33"/>
          <p:cNvSpPr/>
          <p:nvPr/>
        </p:nvSpPr>
        <p:spPr>
          <a:xfrm>
            <a:off x="548640" y="523951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52728" y="5239512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AF3F5"/>
          </a:solidFill>
        </p:spPr>
      </p:sp>
      <p:sp>
        <p:nvSpPr>
          <p:cNvPr id="37" name="Text 35"/>
          <p:cNvSpPr/>
          <p:nvPr/>
        </p:nvSpPr>
        <p:spPr>
          <a:xfrm>
            <a:off x="1252728" y="5239512"/>
            <a:ext cx="2194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30168" y="5239512"/>
            <a:ext cx="798271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medium through which bits are transmitted.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758952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Physical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Data Link)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Layer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to signal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10101000000010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(raw bits)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EAF3F5"/>
          </a:solidFill>
        </p:spPr>
      </p:sp>
      <p:sp>
        <p:nvSpPr>
          <p:cNvPr id="15" name="Text 13"/>
          <p:cNvSpPr/>
          <p:nvPr/>
        </p:nvSpPr>
        <p:spPr>
          <a:xfrm>
            <a:off x="822960" y="324612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5852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Sends raw data (0s and 1s) over cables or wireless.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Deals with hardware like cables, switches, and network cards.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data into signals for transmission.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3063240"/>
            <a:ext cx="4343400" cy="3200400"/>
          </a:xfrm>
          <a:prstGeom prst="roundRect">
            <a:avLst>
              <a:gd name="adj" fmla="val 2286"/>
            </a:avLst>
          </a:prstGeom>
          <a:solidFill>
            <a:srgbClr val="21295C"/>
          </a:solidFill>
        </p:spPr>
      </p:sp>
      <p:sp>
        <p:nvSpPr>
          <p:cNvPr id="18" name="Text 16"/>
          <p:cNvSpPr/>
          <p:nvPr/>
        </p:nvSpPr>
        <p:spPr>
          <a:xfrm>
            <a:off x="7543800" y="3337560"/>
            <a:ext cx="37947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creates the physical connection between devices.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2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758952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Data-Link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Network)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Header (H2)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Trailer (T2)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Layer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EAF3F5"/>
          </a:solidFill>
        </p:spPr>
      </p:sp>
      <p:sp>
        <p:nvSpPr>
          <p:cNvPr id="15" name="Text 13"/>
          <p:cNvSpPr/>
          <p:nvPr/>
        </p:nvSpPr>
        <p:spPr>
          <a:xfrm>
            <a:off x="822960" y="324612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5852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data transfer between devices on the same network.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Divides data into smaller pieces called frames.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and corrects errors during transmission.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physical addressing using MAC addresses.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3063240"/>
            <a:ext cx="4343400" cy="3200400"/>
          </a:xfrm>
          <a:prstGeom prst="roundRect">
            <a:avLst>
              <a:gd name="adj" fmla="val 2286"/>
            </a:avLst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7543800" y="3337560"/>
            <a:ext cx="37947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 for the error-free transfer of data frames.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ensures data is sent and received without errors.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3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758952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L4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Transport)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Header (H3)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Packet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 Layer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EAF3F5"/>
          </a:solidFill>
        </p:spPr>
      </p:sp>
      <p:sp>
        <p:nvSpPr>
          <p:cNvPr id="15" name="Text 13"/>
          <p:cNvSpPr/>
          <p:nvPr/>
        </p:nvSpPr>
        <p:spPr>
          <a:xfrm>
            <a:off x="822960" y="324612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5852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routing and forwarding of data between networks.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IP addresses for identifying devices.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Breaks data into packets for transmission.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the best path for data to reach its destination.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3063240"/>
            <a:ext cx="4343400" cy="3200400"/>
          </a:xfrm>
          <a:prstGeom prst="roundRect">
            <a:avLst>
              <a:gd name="adj" fmla="val 2286"/>
            </a:avLst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7543800" y="3337560"/>
            <a:ext cx="37947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logical addressing and routing between networks.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 IP addresses (IPv4, IPv6), routers.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5FBDB0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D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4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758952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Transport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5FBDB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L5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Session)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BD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5FBDB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Segments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 (H4) x3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BD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5FBDB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L4 data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Layer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EAF3F5"/>
          </a:solidFill>
        </p:spPr>
      </p:sp>
      <p:sp>
        <p:nvSpPr>
          <p:cNvPr id="15" name="Text 13"/>
          <p:cNvSpPr/>
          <p:nvPr/>
        </p:nvSpPr>
        <p:spPr>
          <a:xfrm>
            <a:off x="822960" y="324612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BD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5852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reliable data transfer between devices.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Breaks large data into smaller segments for easier handling.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protocols like TCP and UDP to manage data flow.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Guarantees data arrives in the correct order without errors.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3063240"/>
            <a:ext cx="4343400" cy="3200400"/>
          </a:xfrm>
          <a:prstGeom prst="roundRect">
            <a:avLst>
              <a:gd name="adj" fmla="val 2286"/>
            </a:avLst>
          </a:prstGeom>
          <a:solidFill>
            <a:srgbClr val="5FBDB0"/>
          </a:solidFill>
        </p:spPr>
      </p:sp>
      <p:sp>
        <p:nvSpPr>
          <p:cNvPr id="18" name="Text 16"/>
          <p:cNvSpPr/>
          <p:nvPr/>
        </p:nvSpPr>
        <p:spPr>
          <a:xfrm>
            <a:off x="7543800" y="3337560"/>
            <a:ext cx="37947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end-to-end communication and reliable delivery.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TCP: reliable, connection-oriented.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UDP: fast, connectionless.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5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758952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Session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L6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Presentation)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syn markers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Header (H5)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L5 data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 Layer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EAF3F5"/>
          </a:solidFill>
        </p:spPr>
      </p:sp>
      <p:sp>
        <p:nvSpPr>
          <p:cNvPr id="15" name="Text 13"/>
          <p:cNvSpPr/>
          <p:nvPr/>
        </p:nvSpPr>
        <p:spPr>
          <a:xfrm>
            <a:off x="822960" y="324612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5852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sessions/connections between devices.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the start, maintenance, and end of communication sessions.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track of dialogue (one-way or two-way).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that data flows smoothly during a session.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3063240"/>
            <a:ext cx="4343400" cy="3200400"/>
          </a:xfrm>
          <a:prstGeom prst="roundRect">
            <a:avLst>
              <a:gd name="adj" fmla="val 2286"/>
            </a:avLst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7543800" y="3337560"/>
            <a:ext cx="37947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Establishes, maintains and synchronizes device interaction.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6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758952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Presentation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L7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Application)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Encode, encrypt,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 + H6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L6 data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Layer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EAF3F5"/>
          </a:solidFill>
        </p:spPr>
      </p:sp>
      <p:sp>
        <p:nvSpPr>
          <p:cNvPr id="15" name="Text 13"/>
          <p:cNvSpPr/>
          <p:nvPr/>
        </p:nvSpPr>
        <p:spPr>
          <a:xfrm>
            <a:off x="822960" y="324612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5852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Translates data into a format the application can understand.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data encryption and decryption for security.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data compression to reduce size.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3063240"/>
            <a:ext cx="4343400" cy="3200400"/>
          </a:xfrm>
          <a:prstGeom prst="roundRect">
            <a:avLst>
              <a:gd name="adj" fmla="val 2286"/>
            </a:avLst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7543800" y="3337560"/>
            <a:ext cx="37947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data is in the right format and secure.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7 OF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758952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X.500 · FTAM · X.400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1572768"/>
            <a:ext cx="320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55064"/>
            <a:ext cx="3328416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L7 data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EAF3F5"/>
          </a:solidFill>
        </p:spPr>
      </p:sp>
      <p:sp>
        <p:nvSpPr>
          <p:cNvPr id="15" name="Text 13"/>
          <p:cNvSpPr/>
          <p:nvPr/>
        </p:nvSpPr>
        <p:spPr>
          <a:xfrm>
            <a:off x="822960" y="324612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5852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interacts with user applications (web browsers, email).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services like file transfers, email, and network management.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Facilitates communication between software applications and the network.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3063240"/>
            <a:ext cx="4343400" cy="3200400"/>
          </a:xfrm>
          <a:prstGeom prst="roundRect">
            <a:avLst>
              <a:gd name="adj" fmla="val 2286"/>
            </a:avLst>
          </a:prstGeom>
          <a:solidFill>
            <a:srgbClr val="21295C"/>
          </a:solidFill>
        </p:spPr>
      </p:sp>
      <p:sp>
        <p:nvSpPr>
          <p:cNvPr id="18" name="Text 16"/>
          <p:cNvSpPr/>
          <p:nvPr/>
        </p:nvSpPr>
        <p:spPr>
          <a:xfrm>
            <a:off x="7543800" y="3337560"/>
            <a:ext cx="37947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window for users and applications to access network services.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 of the OSI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06324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a common reference so different vendors build compatible systems.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</p:spPr>
      </p:sp>
      <p:sp>
        <p:nvSpPr>
          <p:cNvPr id="10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801368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06324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Splits communication into independent, manageable layers.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</p:spPr>
      </p:sp>
      <p:sp>
        <p:nvSpPr>
          <p:cNvPr id="15" name="Shape 13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0" y="1801368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Interoperability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2423160"/>
            <a:ext cx="306324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Lets different types of computers and networks work together.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041648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Troubleshooting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306324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Issues can be isolated to a specific layer.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</p:spPr>
      </p:sp>
      <p:sp>
        <p:nvSpPr>
          <p:cNvPr id="25" name="Shape 23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6" name="Text 24"/>
          <p:cNvSpPr/>
          <p:nvPr/>
        </p:nvSpPr>
        <p:spPr>
          <a:xfrm>
            <a:off x="4526280" y="4069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0" y="4041648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6280" y="4663440"/>
            <a:ext cx="306324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technologies can be added at a single layer without disrupting others.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4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Disadvantages of the OSI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B0413E"/>
          </a:solidFill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572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Seven layers can be harder to learn and apply than simpler models.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B0413E"/>
          </a:solidFill>
        </p:spPr>
      </p:sp>
      <p:sp>
        <p:nvSpPr>
          <p:cNvPr id="11" name="Text 9"/>
          <p:cNvSpPr/>
          <p:nvPr/>
        </p:nvSpPr>
        <p:spPr>
          <a:xfrm>
            <a:off x="626364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Widely Used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560320"/>
            <a:ext cx="4572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networks mostly implement the simpler TCP/IP model instead.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B0413E"/>
          </a:solidFill>
        </p:spPr>
      </p:sp>
      <p:sp>
        <p:nvSpPr>
          <p:cNvPr id="16" name="Text 14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77640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Oversimplification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572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real protocols don't map cleanly onto a single layer.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374904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023360"/>
            <a:ext cx="502920" cy="502920"/>
          </a:xfrm>
          <a:prstGeom prst="ellipse">
            <a:avLst/>
          </a:prstGeom>
          <a:solidFill>
            <a:srgbClr val="B0413E"/>
          </a:solidFill>
        </p:spPr>
      </p:sp>
      <p:sp>
        <p:nvSpPr>
          <p:cNvPr id="21" name="Text 19"/>
          <p:cNvSpPr/>
          <p:nvPr/>
        </p:nvSpPr>
        <p:spPr>
          <a:xfrm>
            <a:off x="6263640" y="4023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977640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Not Define Protocols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4617720"/>
            <a:ext cx="4572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only a reference model — it doesn't specify actual protocols to use.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4982</Words>
  <Application>WPS Presentation</Application>
  <PresentationFormat>On-screen Show (16:9)</PresentationFormat>
  <Paragraphs>386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hamida majeed</cp:lastModifiedBy>
  <cp:revision>2</cp:revision>
  <dcterms:created xsi:type="dcterms:W3CDTF">2026-07-26T13:04:00Z</dcterms:created>
  <dcterms:modified xsi:type="dcterms:W3CDTF">2026-07-26T07:43:53Z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D27266C8110D49CEAACAE6BDF26E1D98_13</vt:lpwstr>
  </property>
  <property fmtid="{D5CDD505-2E9C-101B-9397-08002B2CF9AE}" pid="3" name="KSOProductBuildVer">
    <vt:lpwstr>2057-12.2.0.23206</vt:lpwstr>
  </property>
</Properties>
</file>