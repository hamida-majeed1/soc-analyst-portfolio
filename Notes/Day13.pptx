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10515600" cy="4206240"/>
          </a:xfrm>
          <a:prstGeom prst="roundRect">
            <a:avLst>
              <a:gd name="adj" fmla="val 2609"/>
            </a:avLst>
          </a:prstGeom>
          <a:solidFill>
            <a:srgbClr val="12161A"/>
          </a:solidFill>
          <a:ln w="19050">
            <a:solidFill>
              <a:srgbClr val="1F5C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solidFill>
            <a:srgbClr val="20262C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1563624"/>
            <a:ext cx="128016" cy="128016"/>
          </a:xfrm>
          <a:prstGeom prst="ellipse">
            <a:avLst/>
          </a:prstGeom>
          <a:solidFill>
            <a:srgbClr val="E5675A"/>
          </a:solidFill>
          <a:ln/>
        </p:spPr>
      </p:sp>
      <p:sp>
        <p:nvSpPr>
          <p:cNvPr id="5" name="Shape 3"/>
          <p:cNvSpPr/>
          <p:nvPr/>
        </p:nvSpPr>
        <p:spPr>
          <a:xfrm>
            <a:off x="1344168" y="1563624"/>
            <a:ext cx="128016" cy="128016"/>
          </a:xfrm>
          <a:prstGeom prst="ellipse">
            <a:avLst/>
          </a:prstGeom>
          <a:solidFill>
            <a:srgbClr val="F2C744"/>
          </a:solidFill>
          <a:ln/>
        </p:spPr>
      </p:sp>
      <p:sp>
        <p:nvSpPr>
          <p:cNvPr id="6" name="Shape 4"/>
          <p:cNvSpPr/>
          <p:nvPr/>
        </p:nvSpPr>
        <p:spPr>
          <a:xfrm>
            <a:off x="1636776" y="1563624"/>
            <a:ext cx="128016" cy="128016"/>
          </a:xfrm>
          <a:prstGeom prst="ellipse">
            <a:avLst/>
          </a:prstGeom>
          <a:solidFill>
            <a:srgbClr val="39D07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057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hamida@soc:~$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606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C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9718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2F2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Users, Groups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2F2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&amp; Permissions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1051560" y="4709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 ·  chown  ·  chgrp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Fundamentals — SOC Analyst Track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384048" cy="384048"/>
          </a:xfrm>
          <a:prstGeom prst="ellipse">
            <a:avLst/>
          </a:prstGeom>
          <a:solidFill>
            <a:srgbClr val="39D07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8775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Users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8745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2103120"/>
            <a:ext cx="384048" cy="384048"/>
          </a:xfrm>
          <a:prstGeom prst="ellipse">
            <a:avLst/>
          </a:prstGeom>
          <a:solidFill>
            <a:srgbClr val="39D07A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58775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Groups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2103120"/>
            <a:ext cx="384048" cy="384048"/>
          </a:xfrm>
          <a:prstGeom prst="ellipse">
            <a:avLst/>
          </a:prstGeom>
          <a:solidFill>
            <a:srgbClr val="39D07A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258775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Ownership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749040"/>
            <a:ext cx="384048" cy="384048"/>
          </a:xfrm>
          <a:prstGeom prst="ellipse">
            <a:avLst/>
          </a:prstGeom>
          <a:solidFill>
            <a:srgbClr val="39D07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2336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Permissions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97680" y="35204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3749040"/>
            <a:ext cx="384048" cy="384048"/>
          </a:xfrm>
          <a:prstGeom prst="ellipse">
            <a:avLst/>
          </a:prstGeom>
          <a:solidFill>
            <a:srgbClr val="39D07A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26280" y="42336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Command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35204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75320" y="3749040"/>
            <a:ext cx="384048" cy="384048"/>
          </a:xfrm>
          <a:prstGeom prst="ellipse">
            <a:avLst/>
          </a:prstGeom>
          <a:solidFill>
            <a:srgbClr val="39D07A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75320" y="42336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chown Command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51663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5394960"/>
            <a:ext cx="384048" cy="384048"/>
          </a:xfrm>
          <a:prstGeom prst="ellipse">
            <a:avLst/>
          </a:prstGeom>
          <a:solidFill>
            <a:srgbClr val="39D07A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394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7240" y="587959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chgrp Command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297680" y="51663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26280" y="5394960"/>
            <a:ext cx="384048" cy="384048"/>
          </a:xfrm>
          <a:prstGeom prst="ellipse">
            <a:avLst/>
          </a:prstGeom>
          <a:solidFill>
            <a:srgbClr val="39D07A"/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5394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26280" y="587959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Permissions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046720" y="51663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75320" y="5394960"/>
            <a:ext cx="384048" cy="384048"/>
          </a:xfrm>
          <a:prstGeom prst="ellipse">
            <a:avLst/>
          </a:prstGeom>
          <a:solidFill>
            <a:srgbClr val="39D07A"/>
          </a:solidFill>
          <a:ln/>
        </p:spPr>
      </p:sp>
      <p:sp>
        <p:nvSpPr>
          <p:cNvPr id="38" name="Text 36"/>
          <p:cNvSpPr/>
          <p:nvPr/>
        </p:nvSpPr>
        <p:spPr>
          <a:xfrm>
            <a:off x="8275320" y="5394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75320" y="587959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Permissions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— Users, Groups &amp; Permissions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–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a User? · The Root User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Linux, every person who uses the system is called a user.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Examples:  hamida   ·   root   ·   ali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12161A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779776"/>
            <a:ext cx="4809744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whoami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hamida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name of the currently logged-in user.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24292E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874520"/>
            <a:ext cx="502920" cy="502920"/>
          </a:xfrm>
          <a:prstGeom prst="ellipse">
            <a:avLst/>
          </a:prstGeom>
          <a:solidFill>
            <a:srgbClr val="F2C74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7086600" y="19019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User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45059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user is the administrator of Linux. It has permission to perform every operation on the system.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Root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65760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12161A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785616"/>
            <a:ext cx="4535424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su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or —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-i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4828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Current User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5148072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12161A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1968" y="5276088"/>
            <a:ext cx="4535424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whoami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— Users, Groups &amp; Permissions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–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Create &amp; Delete a User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2429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39D07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User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4892040" cy="685800"/>
          </a:xfrm>
          <a:prstGeom prst="roundRect">
            <a:avLst>
              <a:gd name="adj" fmla="val 10667"/>
            </a:avLst>
          </a:prstGeom>
          <a:solidFill>
            <a:srgbClr val="12161A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779776"/>
            <a:ext cx="4489704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adduser hani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794760"/>
            <a:ext cx="4892040" cy="685800"/>
          </a:xfrm>
          <a:prstGeom prst="roundRect">
            <a:avLst>
              <a:gd name="adj" fmla="val 10667"/>
            </a:avLst>
          </a:prstGeom>
          <a:solidFill>
            <a:srgbClr val="12161A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922776"/>
            <a:ext cx="4489704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adduser hamida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5720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will ask you to set a password and provide some user information.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73736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2429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6520" y="2011680"/>
            <a:ext cx="457200" cy="457200"/>
          </a:xfrm>
          <a:prstGeom prst="ellipse">
            <a:avLst/>
          </a:prstGeom>
          <a:solidFill>
            <a:srgbClr val="E567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20574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User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46520" y="2651760"/>
            <a:ext cx="4892040" cy="685800"/>
          </a:xfrm>
          <a:prstGeom prst="roundRect">
            <a:avLst>
              <a:gd name="adj" fmla="val 10667"/>
            </a:avLst>
          </a:prstGeom>
          <a:solidFill>
            <a:srgbClr val="12161A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2779776"/>
            <a:ext cx="4489704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deluser hani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3794760"/>
            <a:ext cx="4892040" cy="685800"/>
          </a:xfrm>
          <a:prstGeom prst="roundRect">
            <a:avLst>
              <a:gd name="adj" fmla="val 10667"/>
            </a:avLst>
          </a:prstGeom>
          <a:solidFill>
            <a:srgbClr val="12161A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47688" y="3922776"/>
            <a:ext cx="4489704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deluser hamida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— Users, Groups &amp; Permissions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–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a Group?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is a collection of multiple users. All members of the same group can share similar permissions.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468880" cy="594360"/>
          </a:xfrm>
          <a:prstGeom prst="roundRect">
            <a:avLst>
              <a:gd name="adj" fmla="val 46154"/>
            </a:avLst>
          </a:prstGeom>
          <a:solidFill>
            <a:srgbClr val="24292E"/>
          </a:solidFill>
          <a:ln w="12700">
            <a:solidFill>
              <a:srgbClr val="39D0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146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2514600"/>
            <a:ext cx="2468880" cy="594360"/>
          </a:xfrm>
          <a:prstGeom prst="roundRect">
            <a:avLst>
              <a:gd name="adj" fmla="val 46154"/>
            </a:avLst>
          </a:prstGeom>
          <a:solidFill>
            <a:srgbClr val="24292E"/>
          </a:solidFill>
          <a:ln w="12700">
            <a:solidFill>
              <a:srgbClr val="39D0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25146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2468880" cy="594360"/>
          </a:xfrm>
          <a:prstGeom prst="roundRect">
            <a:avLst>
              <a:gd name="adj" fmla="val 46154"/>
            </a:avLst>
          </a:prstGeom>
          <a:solidFill>
            <a:srgbClr val="24292E"/>
          </a:solidFill>
          <a:ln w="12700">
            <a:solidFill>
              <a:srgbClr val="39D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91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3291840"/>
            <a:ext cx="2468880" cy="594360"/>
          </a:xfrm>
          <a:prstGeom prst="roundRect">
            <a:avLst>
              <a:gd name="adj" fmla="val 46154"/>
            </a:avLst>
          </a:prstGeom>
          <a:solidFill>
            <a:srgbClr val="24292E"/>
          </a:solidFill>
          <a:ln w="12700">
            <a:solidFill>
              <a:srgbClr val="39D0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3291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2429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Groups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2286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groups of the current user: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606040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12161A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2734056"/>
            <a:ext cx="453542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groups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639312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2161A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3767328"/>
            <a:ext cx="45354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groups hamida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hamida sudo adm cdrom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Delete a Group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502920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12161A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1968" y="5157216"/>
            <a:ext cx="4535424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groupadd SOC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groupdel SOC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— Users, Groups &amp; Permissions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– 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Add User to Group · File Ownership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2429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User to a Group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4892040" cy="640080"/>
          </a:xfrm>
          <a:prstGeom prst="roundRect">
            <a:avLst>
              <a:gd name="adj" fmla="val 11429"/>
            </a:avLst>
          </a:prstGeom>
          <a:solidFill>
            <a:srgbClr val="12161A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414016"/>
            <a:ext cx="44897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usermod -aG SOC hamida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Append (add without removing existing groups)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-G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Group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24292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File Ownership?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572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has two ownership attributes: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89204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hamida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164592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2429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File Ownership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6520" y="2286000"/>
            <a:ext cx="4892040" cy="640080"/>
          </a:xfrm>
          <a:prstGeom prst="roundRect">
            <a:avLst>
              <a:gd name="adj" fmla="val 11429"/>
            </a:avLst>
          </a:prstGeom>
          <a:solidFill>
            <a:srgbClr val="12161A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2414016"/>
            <a:ext cx="44897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3383280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12161A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3511296"/>
            <a:ext cx="448970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-rw-r--r-- 1 hamida SOC 250 Aug 3 notes.txt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46520" y="42519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hamida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Owner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Group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— Users, Groups &amp; Permissions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 – 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File Permissions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divides users into three categories, and defines three permission types.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B1F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402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rwx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B1F23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22402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43400" y="260604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C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r-x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8138160" y="21031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B1F23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22402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38160" y="260604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567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r--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(r)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31596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you to view the contents of a file.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12161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9377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file.txt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43400" y="39776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(w)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43400" y="431596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you to modify or edit a file.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493776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12161A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49377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nano file.txt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38160" y="39776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(x)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38160" y="431596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you to run a program or script.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493776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12161A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49377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./script.sh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— Users, Groups &amp; Permissions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 – 15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Viewing Permissions &amp; Numeric Values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12161A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73936"/>
            <a:ext cx="462686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-rwxr-xr--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Read, Write, Execute
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2C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Read, Execute
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E56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Read only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Values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24292E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663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5212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461772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24292E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4663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286000" y="5212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461772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24292E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4663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023360" y="5212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45920"/>
          <a:ext cx="5349240" cy="4434840"/>
        </p:xfrm>
        <a:graphic>
          <a:graphicData uri="http://schemas.openxmlformats.org/drawingml/2006/table">
            <a:tbl>
              <a:tblPr/>
              <a:tblGrid>
                <a:gridCol w="2674620"/>
                <a:gridCol w="2674620"/>
              </a:tblGrid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D0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D07A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rwx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9D07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rw-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9D07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r-x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9D07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r--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9D07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-wx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9D07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-w-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9D07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9D07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---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9D07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— Users, Groups &amp; Permissions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chmod — Change Mode (Numeric)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24292E"/>
          </a:solidFill>
          <a:ln w="12700">
            <a:solidFill>
              <a:srgbClr val="E567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67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777 notes.txt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→ rwx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→ rwx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→ rwx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69164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24292E"/>
          </a:solidFill>
          <a:ln w="12700">
            <a:solidFill>
              <a:srgbClr val="39D0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755 script.sh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37744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→ rwx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→ r-x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→ r-x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24292E"/>
          </a:solidFill>
          <a:ln w="12700">
            <a:solidFill>
              <a:srgbClr val="F2C7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206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644 notes.txt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70916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→ rw-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→ r--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→ r--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40233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24292E"/>
          </a:solidFill>
          <a:ln w="12700">
            <a:solidFill>
              <a:srgbClr val="6FA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4206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600 secret.txt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470916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→ rw-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→ ---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→ ---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— Users, Groups &amp; Permissions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Symbolic chmod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188720"/>
          </a:xfrm>
          <a:prstGeom prst="roundRect">
            <a:avLst>
              <a:gd name="adj" fmla="val 6923"/>
            </a:avLst>
          </a:prstGeom>
          <a:solidFill>
            <a:srgbClr val="1B1F2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470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Execute Permission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+x script.sh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1188720"/>
          </a:xfrm>
          <a:prstGeom prst="roundRect">
            <a:avLst>
              <a:gd name="adj" fmla="val 6923"/>
            </a:avLst>
          </a:prstGeom>
          <a:solidFill>
            <a:srgbClr val="1B1F23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8470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Write Permission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2194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-w file.txt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20440" cy="1188720"/>
          </a:xfrm>
          <a:prstGeom prst="roundRect">
            <a:avLst>
              <a:gd name="adj" fmla="val 6923"/>
            </a:avLst>
          </a:prstGeom>
          <a:solidFill>
            <a:srgbClr val="1B1F23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18470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Only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0" y="2194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u+x script.sh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3520440" cy="1188720"/>
          </a:xfrm>
          <a:prstGeom prst="roundRect">
            <a:avLst>
              <a:gd name="adj" fmla="val 6923"/>
            </a:avLst>
          </a:prstGeom>
          <a:solidFill>
            <a:srgbClr val="1B1F2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644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g+w file.txt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154680"/>
            <a:ext cx="3520440" cy="1188720"/>
          </a:xfrm>
          <a:prstGeom prst="roundRect">
            <a:avLst>
              <a:gd name="adj" fmla="val 6923"/>
            </a:avLst>
          </a:prstGeom>
          <a:solidFill>
            <a:srgbClr val="1B1F23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2644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26280" y="3611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o-r file.txt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3154680"/>
            <a:ext cx="3520440" cy="1188720"/>
          </a:xfrm>
          <a:prstGeom prst="roundRect">
            <a:avLst>
              <a:gd name="adj" fmla="val 6923"/>
            </a:avLst>
          </a:prstGeom>
          <a:solidFill>
            <a:srgbClr val="1B1F23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32644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21040" y="3611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a+x script.sh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07492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24292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074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 </a:t>
            </a:r>
            <a:pPr algn="ctr" indent="0" marL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User (Owner)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246120" y="507492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24292E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5074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 </a:t>
            </a:r>
            <a:pPr algn="ctr" indent="0" marL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Group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43600" y="507492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24292E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0" y="5074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 </a:t>
            </a:r>
            <a:pPr algn="ctr" indent="0" marL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Others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641080" y="507492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24292E"/>
          </a:solidFill>
          <a:ln/>
        </p:spPr>
      </p:sp>
      <p:sp>
        <p:nvSpPr>
          <p:cNvPr id="30" name="Text 28"/>
          <p:cNvSpPr/>
          <p:nvPr/>
        </p:nvSpPr>
        <p:spPr>
          <a:xfrm>
            <a:off x="8641080" y="5074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</a:t>
            </a:r>
            <a:pPr algn="ctr" indent="0" marL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All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— Users, Groups &amp; Permissions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18 – 20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chown &amp; chgrp — Change Ownership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2429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chown — Change Owner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4892040" cy="640080"/>
          </a:xfrm>
          <a:prstGeom prst="roundRect">
            <a:avLst>
              <a:gd name="adj" fmla="val 11429"/>
            </a:avLst>
          </a:prstGeom>
          <a:solidFill>
            <a:srgbClr val="12161A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734056"/>
            <a:ext cx="44897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chown owner filename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611880"/>
            <a:ext cx="4892040" cy="640080"/>
          </a:xfrm>
          <a:prstGeom prst="roundRect">
            <a:avLst>
              <a:gd name="adj" fmla="val 11429"/>
            </a:avLst>
          </a:prstGeom>
          <a:solidFill>
            <a:srgbClr val="12161A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739896"/>
            <a:ext cx="44897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chown hamida notes.txt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Owner &amp; Group Together: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617720"/>
            <a:ext cx="4892040" cy="640080"/>
          </a:xfrm>
          <a:prstGeom prst="roundRect">
            <a:avLst>
              <a:gd name="adj" fmla="val 11429"/>
            </a:avLst>
          </a:prstGeom>
          <a:solidFill>
            <a:srgbClr val="12161A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4745736"/>
            <a:ext cx="44897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chown hamida:SOC notes.txt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3492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</a:t>
            </a:r>
            <a:pPr indent="0" marL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hamida    </a:t>
            </a:r>
            <a:pPr indent="0" marL="0">
              <a:buNone/>
            </a:pPr>
            <a:r>
              <a:rPr lang="en-US" sz="125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</a:t>
            </a:r>
            <a:pPr indent="0" marL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SOC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69164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2429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chgrp — Change Group Ownership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46520" y="2377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change the group ownership of a file.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46520" y="3246120"/>
            <a:ext cx="4892040" cy="640080"/>
          </a:xfrm>
          <a:prstGeom prst="roundRect">
            <a:avLst>
              <a:gd name="adj" fmla="val 11429"/>
            </a:avLst>
          </a:prstGeom>
          <a:solidFill>
            <a:srgbClr val="12161A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47688" y="3374136"/>
            <a:ext cx="44897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chgrp SOC notes.txt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— Users, Groups &amp; Permissions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Recursive Permission &amp; Ownership Changes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permissions or ownership for a folder and everything inside it, use the -R (recursive) flag.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24292E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06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Permissions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12161A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3191256"/>
            <a:ext cx="448970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-R 755 Projects/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755 to the folder and every file/subfolder inside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42316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24292E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606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Ownership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46520" y="3063240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12161A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7688" y="3191256"/>
            <a:ext cx="448970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chown -R hamida:SOC Projects/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38862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owner:group to the folder and every file/subfolder inside it.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— Users, Groups &amp; Permissions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22 – 23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Common Permissions &amp; Best Practices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577840" cy="4343400"/>
        </p:xfrm>
        <a:graphic>
          <a:graphicData uri="http://schemas.openxmlformats.org/drawingml/2006/table">
            <a:tbl>
              <a:tblPr/>
              <a:tblGrid>
                <a:gridCol w="1371600"/>
                <a:gridCol w="4206240"/>
              </a:tblGrid>
              <a:tr h="723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777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 has full permissions (unsafe)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has full access; Group and Others have read and execute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owner has full permissions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has read/write; Group and Others have read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owner has read/write permissions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737360"/>
            <a:ext cx="292608" cy="292608"/>
          </a:xfrm>
          <a:prstGeom prst="ellipse">
            <a:avLst/>
          </a:prstGeom>
          <a:solidFill>
            <a:srgbClr val="E5675A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0" y="1737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12280" y="16733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777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1228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security risk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0" y="2606040"/>
            <a:ext cx="292608" cy="292608"/>
          </a:xfrm>
          <a:prstGeom prst="ellipse">
            <a:avLst/>
          </a:prstGeom>
          <a:solidFill>
            <a:srgbClr val="39D07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2606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12280" y="254203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755 for scripts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812280" y="2880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Commonly used for executable scripts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0" y="3474720"/>
            <a:ext cx="292608" cy="292608"/>
          </a:xfrm>
          <a:prstGeom prst="ellipse">
            <a:avLst/>
          </a:prstGeom>
          <a:solidFill>
            <a:srgbClr val="39D07A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3474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12280" y="3410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644 for text files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812280" y="3749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permission for normal files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0" y="4343400"/>
            <a:ext cx="292608" cy="292608"/>
          </a:xfrm>
          <a:prstGeom prst="ellipse">
            <a:avLst/>
          </a:prstGeom>
          <a:solidFill>
            <a:srgbClr val="39D07A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0" y="4343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12280" y="42793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/ 700 for secrets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812280" y="4617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passwords or private keys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0" y="5212080"/>
            <a:ext cx="292608" cy="292608"/>
          </a:xfrm>
          <a:prstGeom prst="ellipse">
            <a:avLst/>
          </a:prstGeom>
          <a:solidFill>
            <a:srgbClr val="39D07A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0" y="5212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12280" y="514807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sudo sparingly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812280" y="5486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necessary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— Users, Groups &amp; Permissions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Cheat Sheet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709160"/>
          </a:xfrm>
          <a:prstGeom prst="roundRect">
            <a:avLst>
              <a:gd name="adj" fmla="val 1942"/>
            </a:avLst>
          </a:prstGeom>
          <a:solidFill>
            <a:srgbClr val="12161A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5394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                        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Show current user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                        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Show current user's groups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adduser hani             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Create a user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deluser hani             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Delete a user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groupadd SOC             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Create a group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groupdel SOC             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Delete a group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usermod -aG SOC hani     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Add user to a group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                         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View permissions and ownership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172200" y="1783080"/>
            <a:ext cx="5394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755 file.sh             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Change file permissions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+x file.sh              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Add execute permission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644 file.txt            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Set file permissions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chown hamida file.txt    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Change file owner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chown hamida:SOC file.txt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Change owner and group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chgrp SOC file.txt       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Change group ownership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-R 755 folder/          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Recursively change permissions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chown -R hamida:SOC folder/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Recursively change ownership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— Users, Groups &amp; Permissions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Interview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24292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764792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whoami command do?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24292E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7830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0" y="1764792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Owner, Group, and Others in Linux?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48640" y="2587752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24292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7919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660904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chmod and chown?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172200" y="2587752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24292E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67919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2660904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 permission values 755, 644, and 600 mean?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3483864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24292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7530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3557016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chmod +x script.sh do?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172200" y="3483864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24292E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57530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66560" y="3557016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purpose of sudo usermod -aG SOC hamida?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48640" y="4379976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24292E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47141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4453128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does the ls -l command display?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172200" y="4379976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24292E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47141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6560" y="4453128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chgrp command used for?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48640" y="5276088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24292E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3675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43000" y="534924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-R option mean in chmod -R and chown -R?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172200" y="5276088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24292E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53675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66560" y="534924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the 777 permission be avoided from a security perspective?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— Users, Groups &amp; Permissions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2026-08-03T15:27:06Z</dcterms:created>
  <dcterms:modified xsi:type="dcterms:W3CDTF">2026-08-03T15:27:06Z</dcterms:modified>
</cp:coreProperties>
</file>