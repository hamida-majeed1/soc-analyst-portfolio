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41C"/>
        </a:solidFill>
        <a:effectLst/>
      </p:bgPr>
    </p:bg>
    <p:spTree>
      <p:nvGrpSpPr>
        <p:cNvPr id="1" name=""/>
        <p:cNvGrpSpPr/>
        <p:nvPr/>
      </p:nvGrpSpPr>
      <p:grpSpPr>
        <a:xfrm>
          <a:off x="0" y="0"/>
          <a:ext cx="0" cy="0"/>
          <a:chOff x="0" y="0"/>
          <a:chExt cx="0" cy="0"/>
        </a:xfrm>
      </p:grpSpPr>
      <p:sp>
        <p:nvSpPr>
          <p:cNvPr id="2" name="Shape 0"/>
          <p:cNvSpPr/>
          <p:nvPr/>
        </p:nvSpPr>
        <p:spPr>
          <a:xfrm>
            <a:off x="822960" y="822960"/>
            <a:ext cx="146304" cy="146304"/>
          </a:xfrm>
          <a:prstGeom prst="ellipse">
            <a:avLst/>
          </a:prstGeom>
          <a:solidFill>
            <a:srgbClr val="EF4444"/>
          </a:solidFill>
        </p:spPr>
      </p:sp>
      <p:sp>
        <p:nvSpPr>
          <p:cNvPr id="3" name="Shape 1"/>
          <p:cNvSpPr/>
          <p:nvPr/>
        </p:nvSpPr>
        <p:spPr>
          <a:xfrm>
            <a:off x="1097280" y="822960"/>
            <a:ext cx="146304" cy="146304"/>
          </a:xfrm>
          <a:prstGeom prst="ellipse">
            <a:avLst/>
          </a:prstGeom>
          <a:solidFill>
            <a:srgbClr val="F59E0B"/>
          </a:solidFill>
        </p:spPr>
      </p:sp>
      <p:sp>
        <p:nvSpPr>
          <p:cNvPr id="4" name="Shape 2"/>
          <p:cNvSpPr/>
          <p:nvPr/>
        </p:nvSpPr>
        <p:spPr>
          <a:xfrm>
            <a:off x="1371600" y="822960"/>
            <a:ext cx="146304" cy="146304"/>
          </a:xfrm>
          <a:prstGeom prst="ellipse">
            <a:avLst/>
          </a:prstGeom>
          <a:solidFill>
            <a:srgbClr val="22C55E"/>
          </a:solidFill>
        </p:spPr>
      </p:sp>
      <p:sp>
        <p:nvSpPr>
          <p:cNvPr id="5" name="Text 3"/>
          <p:cNvSpPr/>
          <p:nvPr/>
        </p:nvSpPr>
        <p:spPr>
          <a:xfrm>
            <a:off x="822960" y="2148840"/>
            <a:ext cx="7315200" cy="548640"/>
          </a:xfrm>
          <a:prstGeom prst="rect">
            <a:avLst/>
          </a:prstGeom>
          <a:noFill/>
        </p:spPr>
        <p:txBody>
          <a:bodyPr wrap="square" rtlCol="0" anchor="ctr"/>
          <a:lstStyle/>
          <a:p>
            <a:pPr marL="0" indent="0">
              <a:buNone/>
            </a:pPr>
            <a:r>
              <a:rPr lang="en-US" sz="1600" b="1" kern="0" spc="400" dirty="0">
                <a:solidFill>
                  <a:srgbClr val="22C55E"/>
                </a:solidFill>
                <a:latin typeface="Calibri" panose="020F0502020204030204" pitchFamily="34" charset="0"/>
                <a:ea typeface="Calibri" panose="020F0502020204030204" pitchFamily="34" charset="-122"/>
                <a:cs typeface="Calibri" panose="020F0502020204030204" pitchFamily="34" charset="-120"/>
              </a:rPr>
              <a:t>DAY 12</a:t>
            </a:r>
            <a:endParaRPr lang="en-US" sz="1600" dirty="0"/>
          </a:p>
        </p:txBody>
      </p:sp>
      <p:sp>
        <p:nvSpPr>
          <p:cNvPr id="6" name="Text 4"/>
          <p:cNvSpPr/>
          <p:nvPr/>
        </p:nvSpPr>
        <p:spPr>
          <a:xfrm>
            <a:off x="822960" y="2606040"/>
            <a:ext cx="10241280" cy="1097280"/>
          </a:xfrm>
          <a:prstGeom prst="rect">
            <a:avLst/>
          </a:prstGeom>
          <a:noFill/>
        </p:spPr>
        <p:txBody>
          <a:bodyPr wrap="square" rtlCol="0" anchor="ctr"/>
          <a:lstStyle/>
          <a:p>
            <a:pPr marL="0" indent="0">
              <a:buNone/>
            </a:pPr>
            <a:r>
              <a:rPr lang="en-US" sz="4400" b="1" dirty="0">
                <a:solidFill>
                  <a:srgbClr val="FFFFFF"/>
                </a:solidFill>
                <a:latin typeface="Cambria" panose="02040503050406030204" pitchFamily="34" charset="0"/>
                <a:ea typeface="Cambria" panose="02040503050406030204" pitchFamily="34" charset="-122"/>
                <a:cs typeface="Cambria" panose="02040503050406030204" pitchFamily="34" charset="-120"/>
              </a:rPr>
              <a:t>Linux Commands</a:t>
            </a:r>
            <a:endParaRPr lang="en-US" sz="4400" dirty="0"/>
          </a:p>
        </p:txBody>
      </p:sp>
      <p:sp>
        <p:nvSpPr>
          <p:cNvPr id="7" name="Text 5"/>
          <p:cNvSpPr/>
          <p:nvPr/>
        </p:nvSpPr>
        <p:spPr>
          <a:xfrm>
            <a:off x="822960" y="3520440"/>
            <a:ext cx="9601200" cy="457200"/>
          </a:xfrm>
          <a:prstGeom prst="rect">
            <a:avLst/>
          </a:prstGeom>
          <a:noFill/>
        </p:spPr>
        <p:txBody>
          <a:bodyPr wrap="square" rtlCol="0" anchor="ctr"/>
          <a:lstStyle/>
          <a:p>
            <a:pPr marL="0" indent="0">
              <a:buNone/>
            </a:pPr>
            <a:r>
              <a:rPr lang="en-US" sz="1500" i="1" dirty="0">
                <a:solidFill>
                  <a:srgbClr val="B7C9BE"/>
                </a:solidFill>
                <a:latin typeface="Calibri" panose="020F0502020204030204" pitchFamily="34" charset="0"/>
                <a:ea typeface="Calibri" panose="020F0502020204030204" pitchFamily="34" charset="-122"/>
                <a:cs typeface="Calibri" panose="020F0502020204030204" pitchFamily="34" charset="-120"/>
              </a:rPr>
              <a:t>Essential terminal commands for Linux system administration &amp; cybersecurity</a:t>
            </a:r>
            <a:endParaRPr lang="en-US" sz="1500" dirty="0"/>
          </a:p>
        </p:txBody>
      </p:sp>
      <p:sp>
        <p:nvSpPr>
          <p:cNvPr id="8" name="Shape 6"/>
          <p:cNvSpPr/>
          <p:nvPr/>
        </p:nvSpPr>
        <p:spPr>
          <a:xfrm>
            <a:off x="822960" y="4114800"/>
            <a:ext cx="2926080" cy="0"/>
          </a:xfrm>
          <a:prstGeom prst="line">
            <a:avLst/>
          </a:prstGeom>
          <a:noFill/>
          <a:ln w="25400">
            <a:solidFill>
              <a:srgbClr val="22C55E"/>
            </a:solidFill>
            <a:prstDash val="solid"/>
          </a:ln>
        </p:spPr>
      </p:sp>
      <p:sp>
        <p:nvSpPr>
          <p:cNvPr id="9" name="Text 7"/>
          <p:cNvSpPr/>
          <p:nvPr/>
        </p:nvSpPr>
        <p:spPr>
          <a:xfrm>
            <a:off x="822960" y="5989320"/>
            <a:ext cx="5486400" cy="365760"/>
          </a:xfrm>
          <a:prstGeom prst="rect">
            <a:avLst/>
          </a:prstGeom>
          <a:noFill/>
        </p:spPr>
        <p:txBody>
          <a:bodyPr wrap="square" rtlCol="0" anchor="ctr"/>
          <a:lstStyle/>
          <a:p>
            <a:pPr marL="0" indent="0">
              <a:buNone/>
            </a:pPr>
            <a:r>
              <a:rPr lang="en-US" sz="1300"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root@day12:~$ _</a:t>
            </a:r>
            <a:endParaRPr lang="en-US" sz="1300" dirty="0"/>
          </a:p>
        </p:txBody>
      </p:sp>
      <p:sp>
        <p:nvSpPr>
          <p:cNvPr id="10" name="Text 8"/>
          <p:cNvSpPr/>
          <p:nvPr/>
        </p:nvSpPr>
        <p:spPr>
          <a:xfrm>
            <a:off x="457200" y="6510528"/>
            <a:ext cx="7315200" cy="274320"/>
          </a:xfrm>
          <a:prstGeom prst="rect">
            <a:avLst/>
          </a:prstGeom>
          <a:noFill/>
        </p:spPr>
        <p:txBody>
          <a:bodyPr wrap="square" rtlCol="0" anchor="ctr"/>
          <a:lstStyle/>
          <a:p>
            <a:pPr marL="0" indent="0" algn="l">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Day 12 · Linux Commands</a:t>
            </a:r>
            <a:endParaRPr lang="en-US" sz="1000" dirty="0"/>
          </a:p>
        </p:txBody>
      </p:sp>
      <p:sp>
        <p:nvSpPr>
          <p:cNvPr id="11" name="Text 9"/>
          <p:cNvSpPr/>
          <p:nvPr/>
        </p:nvSpPr>
        <p:spPr>
          <a:xfrm>
            <a:off x="11274552" y="6510528"/>
            <a:ext cx="457200" cy="274320"/>
          </a:xfrm>
          <a:prstGeom prst="rect">
            <a:avLst/>
          </a:prstGeom>
          <a:noFill/>
        </p:spPr>
        <p:txBody>
          <a:bodyPr wrap="square" rtlCol="0" anchor="ctr"/>
          <a:lstStyle/>
          <a:p>
            <a:pPr marL="0" indent="0" algn="r">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p:spPr>
        <p:txBody>
          <a:bodyPr wrap="square" rtlCol="0" anchor="ctr"/>
          <a:lstStyle/>
          <a:p>
            <a:pPr marL="0" indent="0">
              <a:buNone/>
            </a:pPr>
            <a:r>
              <a:rPr lang="en-US" sz="2800" b="1" dirty="0">
                <a:solidFill>
                  <a:srgbClr val="16241C"/>
                </a:solidFill>
                <a:latin typeface="Cambria" panose="02040503050406030204" pitchFamily="34" charset="0"/>
                <a:ea typeface="Cambria" panose="02040503050406030204" pitchFamily="34" charset="-122"/>
                <a:cs typeface="Cambria" panose="02040503050406030204" pitchFamily="34" charset="-120"/>
              </a:rPr>
              <a:t>Introduction</a:t>
            </a:r>
            <a:endParaRPr lang="en-US" sz="2800" dirty="0"/>
          </a:p>
        </p:txBody>
      </p:sp>
      <p:sp>
        <p:nvSpPr>
          <p:cNvPr id="3" name="Text 1"/>
          <p:cNvSpPr/>
          <p:nvPr/>
        </p:nvSpPr>
        <p:spPr>
          <a:xfrm>
            <a:off x="457200" y="1371600"/>
            <a:ext cx="11274552" cy="914400"/>
          </a:xfrm>
          <a:prstGeom prst="rect">
            <a:avLst/>
          </a:prstGeom>
          <a:noFill/>
        </p:spPr>
        <p:txBody>
          <a:bodyPr wrap="square" rtlCol="0" anchor="ctr"/>
          <a:lstStyle/>
          <a:p>
            <a:pPr marL="0" indent="0">
              <a:lnSpc>
                <a:spcPct val="125000"/>
              </a:lnSpc>
              <a:buNone/>
            </a:pPr>
            <a:r>
              <a:rPr lang="en-US" sz="1400" dirty="0">
                <a:solidFill>
                  <a:srgbClr val="16241C"/>
                </a:solidFill>
                <a:latin typeface="Calibri" panose="020F0502020204030204" pitchFamily="34" charset="0"/>
                <a:ea typeface="Calibri" panose="020F0502020204030204" pitchFamily="34" charset="-122"/>
                <a:cs typeface="Calibri" panose="020F0502020204030204" pitchFamily="34" charset="-120"/>
              </a:rPr>
              <a:t>Linux commands are instructions entered in the terminal to perform tasks such as creating files, managing directories, viewing file contents, changing permissions, and searching for files. These commands are essential for Linux system administration and cybersecurity.</a:t>
            </a:r>
            <a:endParaRPr lang="en-US" sz="1400" dirty="0"/>
          </a:p>
        </p:txBody>
      </p:sp>
      <p:sp>
        <p:nvSpPr>
          <p:cNvPr id="4" name="Text 2"/>
          <p:cNvSpPr/>
          <p:nvPr/>
        </p:nvSpPr>
        <p:spPr>
          <a:xfrm>
            <a:off x="457200" y="2377440"/>
            <a:ext cx="11274552" cy="365760"/>
          </a:xfrm>
          <a:prstGeom prst="rect">
            <a:avLst/>
          </a:prstGeom>
          <a:noFill/>
        </p:spPr>
        <p:txBody>
          <a:bodyPr wrap="square" rtlCol="0" anchor="ctr"/>
          <a:lstStyle/>
          <a:p>
            <a:pPr marL="0" indent="0">
              <a:buNone/>
            </a:pPr>
            <a:r>
              <a:rPr lang="en-US" sz="1800" b="1" dirty="0">
                <a:solidFill>
                  <a:srgbClr val="16A34A"/>
                </a:solidFill>
                <a:latin typeface="Cambria" panose="02040503050406030204" pitchFamily="34" charset="0"/>
                <a:ea typeface="Cambria" panose="02040503050406030204" pitchFamily="34" charset="-122"/>
                <a:cs typeface="Cambria" panose="02040503050406030204" pitchFamily="34" charset="-120"/>
              </a:rPr>
              <a:t>Why Linux Commands are Important in Cybersecurity</a:t>
            </a:r>
            <a:endParaRPr lang="en-US" sz="1800" dirty="0"/>
          </a:p>
        </p:txBody>
      </p:sp>
      <p:sp>
        <p:nvSpPr>
          <p:cNvPr id="5" name="Text 3"/>
          <p:cNvSpPr/>
          <p:nvPr/>
        </p:nvSpPr>
        <p:spPr>
          <a:xfrm>
            <a:off x="457200" y="2788920"/>
            <a:ext cx="11274552" cy="320040"/>
          </a:xfrm>
          <a:prstGeom prst="rect">
            <a:avLst/>
          </a:prstGeom>
          <a:noFill/>
        </p:spPr>
        <p:txBody>
          <a:bodyPr wrap="square" rtlCol="0" anchor="ctr"/>
          <a:lstStyle/>
          <a:p>
            <a:pPr marL="0" indent="0">
              <a:buNone/>
            </a:pPr>
            <a:r>
              <a:rPr lang="en-US" sz="1300" i="1" dirty="0">
                <a:solidFill>
                  <a:srgbClr val="5B6B63"/>
                </a:solidFill>
                <a:latin typeface="Calibri" panose="020F0502020204030204" pitchFamily="34" charset="0"/>
                <a:ea typeface="Calibri" panose="020F0502020204030204" pitchFamily="34" charset="-122"/>
                <a:cs typeface="Calibri" panose="020F0502020204030204" pitchFamily="34" charset="-120"/>
              </a:rPr>
              <a:t>Linux commands help SOC Analysts to:</a:t>
            </a:r>
            <a:endParaRPr lang="en-US" sz="1300" dirty="0"/>
          </a:p>
        </p:txBody>
      </p:sp>
      <p:sp>
        <p:nvSpPr>
          <p:cNvPr id="6" name="Shape 4"/>
          <p:cNvSpPr/>
          <p:nvPr/>
        </p:nvSpPr>
        <p:spPr>
          <a:xfrm>
            <a:off x="457200" y="3291840"/>
            <a:ext cx="5394960" cy="530352"/>
          </a:xfrm>
          <a:prstGeom prst="roundRect">
            <a:avLst>
              <a:gd name="adj" fmla="val 10345"/>
            </a:avLst>
          </a:prstGeom>
          <a:solidFill>
            <a:srgbClr val="F1F5F2"/>
          </a:solidFill>
        </p:spPr>
      </p:sp>
      <p:sp>
        <p:nvSpPr>
          <p:cNvPr id="7" name="Shape 5"/>
          <p:cNvSpPr/>
          <p:nvPr/>
        </p:nvSpPr>
        <p:spPr>
          <a:xfrm>
            <a:off x="594360" y="3410712"/>
            <a:ext cx="292608" cy="292608"/>
          </a:xfrm>
          <a:prstGeom prst="ellipse">
            <a:avLst/>
          </a:prstGeom>
          <a:solidFill>
            <a:srgbClr val="22C55E"/>
          </a:solidFill>
        </p:spPr>
      </p:sp>
      <p:sp>
        <p:nvSpPr>
          <p:cNvPr id="8" name="Text 6"/>
          <p:cNvSpPr/>
          <p:nvPr/>
        </p:nvSpPr>
        <p:spPr>
          <a:xfrm>
            <a:off x="594360" y="3410712"/>
            <a:ext cx="29260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200" dirty="0"/>
          </a:p>
        </p:txBody>
      </p:sp>
      <p:sp>
        <p:nvSpPr>
          <p:cNvPr id="9" name="Text 7"/>
          <p:cNvSpPr/>
          <p:nvPr/>
        </p:nvSpPr>
        <p:spPr>
          <a:xfrm>
            <a:off x="1005840" y="3291840"/>
            <a:ext cx="4709160" cy="530352"/>
          </a:xfrm>
          <a:prstGeom prst="rect">
            <a:avLst/>
          </a:prstGeom>
          <a:noFill/>
        </p:spPr>
        <p:txBody>
          <a:bodyPr wrap="square" rtlCol="0" anchor="ctr"/>
          <a:lstStyle/>
          <a:p>
            <a:pPr marL="0" indent="0">
              <a:buNone/>
            </a:pPr>
            <a:r>
              <a:rPr lang="en-US" sz="1250" dirty="0">
                <a:solidFill>
                  <a:srgbClr val="16241C"/>
                </a:solidFill>
                <a:latin typeface="Calibri" panose="020F0502020204030204" pitchFamily="34" charset="0"/>
                <a:ea typeface="Calibri" panose="020F0502020204030204" pitchFamily="34" charset="-122"/>
                <a:cs typeface="Calibri" panose="020F0502020204030204" pitchFamily="34" charset="-120"/>
              </a:rPr>
              <a:t>Navigate the file system.</a:t>
            </a:r>
            <a:endParaRPr lang="en-US" sz="1250" dirty="0"/>
          </a:p>
        </p:txBody>
      </p:sp>
      <p:sp>
        <p:nvSpPr>
          <p:cNvPr id="10" name="Shape 8"/>
          <p:cNvSpPr/>
          <p:nvPr/>
        </p:nvSpPr>
        <p:spPr>
          <a:xfrm>
            <a:off x="6217920" y="3291840"/>
            <a:ext cx="5394960" cy="530352"/>
          </a:xfrm>
          <a:prstGeom prst="roundRect">
            <a:avLst>
              <a:gd name="adj" fmla="val 10345"/>
            </a:avLst>
          </a:prstGeom>
          <a:solidFill>
            <a:srgbClr val="F1F5F2"/>
          </a:solidFill>
        </p:spPr>
      </p:sp>
      <p:sp>
        <p:nvSpPr>
          <p:cNvPr id="11" name="Shape 9"/>
          <p:cNvSpPr/>
          <p:nvPr/>
        </p:nvSpPr>
        <p:spPr>
          <a:xfrm>
            <a:off x="6355080" y="3410712"/>
            <a:ext cx="292608" cy="292608"/>
          </a:xfrm>
          <a:prstGeom prst="ellipse">
            <a:avLst/>
          </a:prstGeom>
          <a:solidFill>
            <a:srgbClr val="22C55E"/>
          </a:solidFill>
        </p:spPr>
      </p:sp>
      <p:sp>
        <p:nvSpPr>
          <p:cNvPr id="12" name="Text 10"/>
          <p:cNvSpPr/>
          <p:nvPr/>
        </p:nvSpPr>
        <p:spPr>
          <a:xfrm>
            <a:off x="6355080" y="3410712"/>
            <a:ext cx="29260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200" dirty="0"/>
          </a:p>
        </p:txBody>
      </p:sp>
      <p:sp>
        <p:nvSpPr>
          <p:cNvPr id="13" name="Text 11"/>
          <p:cNvSpPr/>
          <p:nvPr/>
        </p:nvSpPr>
        <p:spPr>
          <a:xfrm>
            <a:off x="6766560" y="3291840"/>
            <a:ext cx="4709160" cy="530352"/>
          </a:xfrm>
          <a:prstGeom prst="rect">
            <a:avLst/>
          </a:prstGeom>
          <a:noFill/>
        </p:spPr>
        <p:txBody>
          <a:bodyPr wrap="square" rtlCol="0" anchor="ctr"/>
          <a:lstStyle/>
          <a:p>
            <a:pPr marL="0" indent="0">
              <a:buNone/>
            </a:pPr>
            <a:r>
              <a:rPr lang="en-US" sz="1250" dirty="0">
                <a:solidFill>
                  <a:srgbClr val="16241C"/>
                </a:solidFill>
                <a:latin typeface="Calibri" panose="020F0502020204030204" pitchFamily="34" charset="0"/>
                <a:ea typeface="Calibri" panose="020F0502020204030204" pitchFamily="34" charset="-122"/>
                <a:cs typeface="Calibri" panose="020F0502020204030204" pitchFamily="34" charset="-120"/>
              </a:rPr>
              <a:t>Investigate incidents.</a:t>
            </a:r>
            <a:endParaRPr lang="en-US" sz="1250" dirty="0"/>
          </a:p>
        </p:txBody>
      </p:sp>
      <p:sp>
        <p:nvSpPr>
          <p:cNvPr id="14" name="Shape 12"/>
          <p:cNvSpPr/>
          <p:nvPr/>
        </p:nvSpPr>
        <p:spPr>
          <a:xfrm>
            <a:off x="457200" y="3986784"/>
            <a:ext cx="5394960" cy="530352"/>
          </a:xfrm>
          <a:prstGeom prst="roundRect">
            <a:avLst>
              <a:gd name="adj" fmla="val 10345"/>
            </a:avLst>
          </a:prstGeom>
          <a:solidFill>
            <a:srgbClr val="F1F5F2"/>
          </a:solidFill>
        </p:spPr>
      </p:sp>
      <p:sp>
        <p:nvSpPr>
          <p:cNvPr id="15" name="Shape 13"/>
          <p:cNvSpPr/>
          <p:nvPr/>
        </p:nvSpPr>
        <p:spPr>
          <a:xfrm>
            <a:off x="594360" y="4105656"/>
            <a:ext cx="292608" cy="292608"/>
          </a:xfrm>
          <a:prstGeom prst="ellipse">
            <a:avLst/>
          </a:prstGeom>
          <a:solidFill>
            <a:srgbClr val="22C55E"/>
          </a:solidFill>
        </p:spPr>
      </p:sp>
      <p:sp>
        <p:nvSpPr>
          <p:cNvPr id="16" name="Text 14"/>
          <p:cNvSpPr/>
          <p:nvPr/>
        </p:nvSpPr>
        <p:spPr>
          <a:xfrm>
            <a:off x="594360" y="4105656"/>
            <a:ext cx="29260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200" dirty="0"/>
          </a:p>
        </p:txBody>
      </p:sp>
      <p:sp>
        <p:nvSpPr>
          <p:cNvPr id="17" name="Text 15"/>
          <p:cNvSpPr/>
          <p:nvPr/>
        </p:nvSpPr>
        <p:spPr>
          <a:xfrm>
            <a:off x="1005840" y="3986784"/>
            <a:ext cx="4709160" cy="530352"/>
          </a:xfrm>
          <a:prstGeom prst="rect">
            <a:avLst/>
          </a:prstGeom>
          <a:noFill/>
        </p:spPr>
        <p:txBody>
          <a:bodyPr wrap="square" rtlCol="0" anchor="ctr"/>
          <a:lstStyle/>
          <a:p>
            <a:pPr marL="0" indent="0">
              <a:buNone/>
            </a:pPr>
            <a:r>
              <a:rPr lang="en-US" sz="1250" dirty="0">
                <a:solidFill>
                  <a:srgbClr val="16241C"/>
                </a:solidFill>
                <a:latin typeface="Calibri" panose="020F0502020204030204" pitchFamily="34" charset="0"/>
                <a:ea typeface="Calibri" panose="020F0502020204030204" pitchFamily="34" charset="-122"/>
                <a:cs typeface="Calibri" panose="020F0502020204030204" pitchFamily="34" charset="-120"/>
              </a:rPr>
              <a:t>Analyze log files.</a:t>
            </a:r>
            <a:endParaRPr lang="en-US" sz="1250" dirty="0"/>
          </a:p>
        </p:txBody>
      </p:sp>
      <p:sp>
        <p:nvSpPr>
          <p:cNvPr id="18" name="Shape 16"/>
          <p:cNvSpPr/>
          <p:nvPr/>
        </p:nvSpPr>
        <p:spPr>
          <a:xfrm>
            <a:off x="6217920" y="3986784"/>
            <a:ext cx="5394960" cy="530352"/>
          </a:xfrm>
          <a:prstGeom prst="roundRect">
            <a:avLst>
              <a:gd name="adj" fmla="val 10345"/>
            </a:avLst>
          </a:prstGeom>
          <a:solidFill>
            <a:srgbClr val="F1F5F2"/>
          </a:solidFill>
        </p:spPr>
      </p:sp>
      <p:sp>
        <p:nvSpPr>
          <p:cNvPr id="19" name="Shape 17"/>
          <p:cNvSpPr/>
          <p:nvPr/>
        </p:nvSpPr>
        <p:spPr>
          <a:xfrm>
            <a:off x="6355080" y="4105656"/>
            <a:ext cx="292608" cy="292608"/>
          </a:xfrm>
          <a:prstGeom prst="ellipse">
            <a:avLst/>
          </a:prstGeom>
          <a:solidFill>
            <a:srgbClr val="22C55E"/>
          </a:solidFill>
        </p:spPr>
      </p:sp>
      <p:sp>
        <p:nvSpPr>
          <p:cNvPr id="20" name="Text 18"/>
          <p:cNvSpPr/>
          <p:nvPr/>
        </p:nvSpPr>
        <p:spPr>
          <a:xfrm>
            <a:off x="6355080" y="4105656"/>
            <a:ext cx="29260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200" dirty="0"/>
          </a:p>
        </p:txBody>
      </p:sp>
      <p:sp>
        <p:nvSpPr>
          <p:cNvPr id="21" name="Text 19"/>
          <p:cNvSpPr/>
          <p:nvPr/>
        </p:nvSpPr>
        <p:spPr>
          <a:xfrm>
            <a:off x="6766560" y="3986784"/>
            <a:ext cx="4709160" cy="530352"/>
          </a:xfrm>
          <a:prstGeom prst="rect">
            <a:avLst/>
          </a:prstGeom>
          <a:noFill/>
        </p:spPr>
        <p:txBody>
          <a:bodyPr wrap="square" rtlCol="0" anchor="ctr"/>
          <a:lstStyle/>
          <a:p>
            <a:pPr marL="0" indent="0">
              <a:buNone/>
            </a:pPr>
            <a:r>
              <a:rPr lang="en-US" sz="1250" dirty="0">
                <a:solidFill>
                  <a:srgbClr val="16241C"/>
                </a:solidFill>
                <a:latin typeface="Calibri" panose="020F0502020204030204" pitchFamily="34" charset="0"/>
                <a:ea typeface="Calibri" panose="020F0502020204030204" pitchFamily="34" charset="-122"/>
                <a:cs typeface="Calibri" panose="020F0502020204030204" pitchFamily="34" charset="-120"/>
              </a:rPr>
              <a:t>Manage users and permissions.</a:t>
            </a:r>
            <a:endParaRPr lang="en-US" sz="1250" dirty="0"/>
          </a:p>
        </p:txBody>
      </p:sp>
      <p:sp>
        <p:nvSpPr>
          <p:cNvPr id="22" name="Shape 20"/>
          <p:cNvSpPr/>
          <p:nvPr/>
        </p:nvSpPr>
        <p:spPr>
          <a:xfrm>
            <a:off x="457200" y="4681728"/>
            <a:ext cx="5394960" cy="530352"/>
          </a:xfrm>
          <a:prstGeom prst="roundRect">
            <a:avLst>
              <a:gd name="adj" fmla="val 10345"/>
            </a:avLst>
          </a:prstGeom>
          <a:solidFill>
            <a:srgbClr val="F1F5F2"/>
          </a:solidFill>
        </p:spPr>
      </p:sp>
      <p:sp>
        <p:nvSpPr>
          <p:cNvPr id="23" name="Shape 21"/>
          <p:cNvSpPr/>
          <p:nvPr/>
        </p:nvSpPr>
        <p:spPr>
          <a:xfrm>
            <a:off x="594360" y="4800600"/>
            <a:ext cx="292608" cy="292608"/>
          </a:xfrm>
          <a:prstGeom prst="ellipse">
            <a:avLst/>
          </a:prstGeom>
          <a:solidFill>
            <a:srgbClr val="22C55E"/>
          </a:solidFill>
        </p:spPr>
      </p:sp>
      <p:sp>
        <p:nvSpPr>
          <p:cNvPr id="24" name="Text 22"/>
          <p:cNvSpPr/>
          <p:nvPr/>
        </p:nvSpPr>
        <p:spPr>
          <a:xfrm>
            <a:off x="594360" y="4800600"/>
            <a:ext cx="29260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200" dirty="0"/>
          </a:p>
        </p:txBody>
      </p:sp>
      <p:sp>
        <p:nvSpPr>
          <p:cNvPr id="25" name="Text 23"/>
          <p:cNvSpPr/>
          <p:nvPr/>
        </p:nvSpPr>
        <p:spPr>
          <a:xfrm>
            <a:off x="1005840" y="4681728"/>
            <a:ext cx="4709160" cy="530352"/>
          </a:xfrm>
          <a:prstGeom prst="rect">
            <a:avLst/>
          </a:prstGeom>
          <a:noFill/>
        </p:spPr>
        <p:txBody>
          <a:bodyPr wrap="square" rtlCol="0" anchor="ctr"/>
          <a:lstStyle/>
          <a:p>
            <a:pPr marL="0" indent="0">
              <a:buNone/>
            </a:pPr>
            <a:r>
              <a:rPr lang="en-US" sz="1250" dirty="0">
                <a:solidFill>
                  <a:srgbClr val="16241C"/>
                </a:solidFill>
                <a:latin typeface="Calibri" panose="020F0502020204030204" pitchFamily="34" charset="0"/>
                <a:ea typeface="Calibri" panose="020F0502020204030204" pitchFamily="34" charset="-122"/>
                <a:cs typeface="Calibri" panose="020F0502020204030204" pitchFamily="34" charset="-120"/>
              </a:rPr>
              <a:t>Search for suspicious files.</a:t>
            </a:r>
            <a:endParaRPr lang="en-US" sz="1250" dirty="0"/>
          </a:p>
        </p:txBody>
      </p:sp>
      <p:sp>
        <p:nvSpPr>
          <p:cNvPr id="26" name="Shape 24"/>
          <p:cNvSpPr/>
          <p:nvPr/>
        </p:nvSpPr>
        <p:spPr>
          <a:xfrm>
            <a:off x="6217920" y="4681728"/>
            <a:ext cx="5394960" cy="530352"/>
          </a:xfrm>
          <a:prstGeom prst="roundRect">
            <a:avLst>
              <a:gd name="adj" fmla="val 10345"/>
            </a:avLst>
          </a:prstGeom>
          <a:solidFill>
            <a:srgbClr val="F1F5F2"/>
          </a:solidFill>
        </p:spPr>
      </p:sp>
      <p:sp>
        <p:nvSpPr>
          <p:cNvPr id="27" name="Shape 25"/>
          <p:cNvSpPr/>
          <p:nvPr/>
        </p:nvSpPr>
        <p:spPr>
          <a:xfrm>
            <a:off x="6355080" y="4800600"/>
            <a:ext cx="292608" cy="292608"/>
          </a:xfrm>
          <a:prstGeom prst="ellipse">
            <a:avLst/>
          </a:prstGeom>
          <a:solidFill>
            <a:srgbClr val="22C55E"/>
          </a:solidFill>
        </p:spPr>
      </p:sp>
      <p:sp>
        <p:nvSpPr>
          <p:cNvPr id="28" name="Text 26"/>
          <p:cNvSpPr/>
          <p:nvPr/>
        </p:nvSpPr>
        <p:spPr>
          <a:xfrm>
            <a:off x="6355080" y="4800600"/>
            <a:ext cx="29260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200" dirty="0"/>
          </a:p>
        </p:txBody>
      </p:sp>
      <p:sp>
        <p:nvSpPr>
          <p:cNvPr id="29" name="Text 27"/>
          <p:cNvSpPr/>
          <p:nvPr/>
        </p:nvSpPr>
        <p:spPr>
          <a:xfrm>
            <a:off x="6766560" y="4681728"/>
            <a:ext cx="4709160" cy="530352"/>
          </a:xfrm>
          <a:prstGeom prst="rect">
            <a:avLst/>
          </a:prstGeom>
          <a:noFill/>
        </p:spPr>
        <p:txBody>
          <a:bodyPr wrap="square" rtlCol="0" anchor="ctr"/>
          <a:lstStyle/>
          <a:p>
            <a:pPr marL="0" indent="0">
              <a:buNone/>
            </a:pPr>
            <a:r>
              <a:rPr lang="en-US" sz="1250" dirty="0">
                <a:solidFill>
                  <a:srgbClr val="16241C"/>
                </a:solidFill>
                <a:latin typeface="Calibri" panose="020F0502020204030204" pitchFamily="34" charset="0"/>
                <a:ea typeface="Calibri" panose="020F0502020204030204" pitchFamily="34" charset="-122"/>
                <a:cs typeface="Calibri" panose="020F0502020204030204" pitchFamily="34" charset="-120"/>
              </a:rPr>
              <a:t>Collect forensic evidence.</a:t>
            </a:r>
            <a:endParaRPr lang="en-US" sz="1250" dirty="0"/>
          </a:p>
        </p:txBody>
      </p:sp>
      <p:sp>
        <p:nvSpPr>
          <p:cNvPr id="30" name="Shape 28"/>
          <p:cNvSpPr/>
          <p:nvPr/>
        </p:nvSpPr>
        <p:spPr>
          <a:xfrm>
            <a:off x="457200" y="5376672"/>
            <a:ext cx="5394960" cy="530352"/>
          </a:xfrm>
          <a:prstGeom prst="roundRect">
            <a:avLst>
              <a:gd name="adj" fmla="val 10345"/>
            </a:avLst>
          </a:prstGeom>
          <a:solidFill>
            <a:srgbClr val="F1F5F2"/>
          </a:solidFill>
        </p:spPr>
      </p:sp>
      <p:sp>
        <p:nvSpPr>
          <p:cNvPr id="31" name="Shape 29"/>
          <p:cNvSpPr/>
          <p:nvPr/>
        </p:nvSpPr>
        <p:spPr>
          <a:xfrm>
            <a:off x="594360" y="5495544"/>
            <a:ext cx="292608" cy="292608"/>
          </a:xfrm>
          <a:prstGeom prst="ellipse">
            <a:avLst/>
          </a:prstGeom>
          <a:solidFill>
            <a:srgbClr val="22C55E"/>
          </a:solidFill>
        </p:spPr>
      </p:sp>
      <p:sp>
        <p:nvSpPr>
          <p:cNvPr id="32" name="Text 30"/>
          <p:cNvSpPr/>
          <p:nvPr/>
        </p:nvSpPr>
        <p:spPr>
          <a:xfrm>
            <a:off x="594360" y="5495544"/>
            <a:ext cx="29260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7</a:t>
            </a:r>
            <a:endParaRPr lang="en-US" sz="1200" dirty="0"/>
          </a:p>
        </p:txBody>
      </p:sp>
      <p:sp>
        <p:nvSpPr>
          <p:cNvPr id="33" name="Text 31"/>
          <p:cNvSpPr/>
          <p:nvPr/>
        </p:nvSpPr>
        <p:spPr>
          <a:xfrm>
            <a:off x="1005840" y="5376672"/>
            <a:ext cx="4709160" cy="530352"/>
          </a:xfrm>
          <a:prstGeom prst="rect">
            <a:avLst/>
          </a:prstGeom>
          <a:noFill/>
        </p:spPr>
        <p:txBody>
          <a:bodyPr wrap="square" rtlCol="0" anchor="ctr"/>
          <a:lstStyle/>
          <a:p>
            <a:pPr marL="0" indent="0">
              <a:buNone/>
            </a:pPr>
            <a:r>
              <a:rPr lang="en-US" sz="1250" dirty="0">
                <a:solidFill>
                  <a:srgbClr val="16241C"/>
                </a:solidFill>
                <a:latin typeface="Calibri" panose="020F0502020204030204" pitchFamily="34" charset="0"/>
                <a:ea typeface="Calibri" panose="020F0502020204030204" pitchFamily="34" charset="-122"/>
                <a:cs typeface="Calibri" panose="020F0502020204030204" pitchFamily="34" charset="-120"/>
              </a:rPr>
              <a:t>Monitor system activity.</a:t>
            </a:r>
            <a:endParaRPr lang="en-US" sz="1250" dirty="0"/>
          </a:p>
        </p:txBody>
      </p:sp>
      <p:sp>
        <p:nvSpPr>
          <p:cNvPr id="34" name="Text 32"/>
          <p:cNvSpPr/>
          <p:nvPr/>
        </p:nvSpPr>
        <p:spPr>
          <a:xfrm>
            <a:off x="457200" y="6510528"/>
            <a:ext cx="7315200" cy="274320"/>
          </a:xfrm>
          <a:prstGeom prst="rect">
            <a:avLst/>
          </a:prstGeom>
          <a:noFill/>
        </p:spPr>
        <p:txBody>
          <a:bodyPr wrap="square" rtlCol="0" anchor="ctr"/>
          <a:lstStyle/>
          <a:p>
            <a:pPr marL="0" indent="0" algn="l">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Day 12 · Linux Commands</a:t>
            </a:r>
            <a:endParaRPr lang="en-US" sz="1000" dirty="0"/>
          </a:p>
        </p:txBody>
      </p:sp>
      <p:sp>
        <p:nvSpPr>
          <p:cNvPr id="35" name="Text 33"/>
          <p:cNvSpPr/>
          <p:nvPr/>
        </p:nvSpPr>
        <p:spPr>
          <a:xfrm>
            <a:off x="11274552" y="6510528"/>
            <a:ext cx="457200" cy="274320"/>
          </a:xfrm>
          <a:prstGeom prst="rect">
            <a:avLst/>
          </a:prstGeom>
          <a:noFill/>
        </p:spPr>
        <p:txBody>
          <a:bodyPr wrap="square" rtlCol="0" anchor="ctr"/>
          <a:lstStyle/>
          <a:p>
            <a:pPr marL="0" indent="0" algn="r">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p:spPr>
        <p:txBody>
          <a:bodyPr wrap="square" rtlCol="0" anchor="ctr"/>
          <a:lstStyle/>
          <a:p>
            <a:pPr marL="0" indent="0">
              <a:buNone/>
            </a:pPr>
            <a:r>
              <a:rPr lang="en-US" sz="2800" b="1" dirty="0">
                <a:solidFill>
                  <a:srgbClr val="16241C"/>
                </a:solidFill>
                <a:latin typeface="Cambria" panose="02040503050406030204" pitchFamily="34" charset="0"/>
                <a:ea typeface="Cambria" panose="02040503050406030204" pitchFamily="34" charset="-122"/>
                <a:cs typeface="Cambria" panose="02040503050406030204" pitchFamily="34" charset="-120"/>
              </a:rPr>
              <a:t>pwd &amp; ls</a:t>
            </a:r>
            <a:endParaRPr lang="en-US" sz="2800" dirty="0"/>
          </a:p>
        </p:txBody>
      </p:sp>
      <p:sp>
        <p:nvSpPr>
          <p:cNvPr id="3" name="Shape 1"/>
          <p:cNvSpPr/>
          <p:nvPr/>
        </p:nvSpPr>
        <p:spPr>
          <a:xfrm>
            <a:off x="457200" y="1417320"/>
            <a:ext cx="5349240" cy="4892040"/>
          </a:xfrm>
          <a:prstGeom prst="roundRect">
            <a:avLst>
              <a:gd name="adj" fmla="val 1869"/>
            </a:avLst>
          </a:prstGeom>
          <a:solidFill>
            <a:srgbClr val="F1F5F2"/>
          </a:solidFill>
        </p:spPr>
      </p:sp>
      <p:sp>
        <p:nvSpPr>
          <p:cNvPr id="4" name="Shape 2"/>
          <p:cNvSpPr/>
          <p:nvPr/>
        </p:nvSpPr>
        <p:spPr>
          <a:xfrm>
            <a:off x="640080" y="1600200"/>
            <a:ext cx="365760" cy="365760"/>
          </a:xfrm>
          <a:prstGeom prst="ellipse">
            <a:avLst/>
          </a:prstGeom>
          <a:solidFill>
            <a:srgbClr val="22C55E"/>
          </a:solidFill>
        </p:spPr>
      </p:sp>
      <p:sp>
        <p:nvSpPr>
          <p:cNvPr id="5" name="Text 3"/>
          <p:cNvSpPr/>
          <p:nvPr/>
        </p:nvSpPr>
        <p:spPr>
          <a:xfrm>
            <a:off x="640080" y="1600200"/>
            <a:ext cx="365760" cy="36576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6" name="Text 4"/>
          <p:cNvSpPr/>
          <p:nvPr/>
        </p:nvSpPr>
        <p:spPr>
          <a:xfrm>
            <a:off x="1143000" y="1563624"/>
            <a:ext cx="4434840" cy="438912"/>
          </a:xfrm>
          <a:prstGeom prst="rect">
            <a:avLst/>
          </a:prstGeom>
          <a:noFill/>
        </p:spPr>
        <p:txBody>
          <a:bodyPr wrap="square" rtlCol="0" anchor="ctr"/>
          <a:lstStyle/>
          <a:p>
            <a:pPr marL="0" indent="0">
              <a:buNone/>
            </a:pPr>
            <a:r>
              <a:rPr lang="en-US" sz="17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pwd</a:t>
            </a:r>
            <a:endParaRPr lang="en-US" sz="1700" dirty="0"/>
          </a:p>
        </p:txBody>
      </p:sp>
      <p:sp>
        <p:nvSpPr>
          <p:cNvPr id="7" name="Text 5"/>
          <p:cNvSpPr/>
          <p:nvPr/>
        </p:nvSpPr>
        <p:spPr>
          <a:xfrm>
            <a:off x="685800" y="2039112"/>
            <a:ext cx="4892040" cy="384048"/>
          </a:xfrm>
          <a:prstGeom prst="rect">
            <a:avLst/>
          </a:prstGeom>
          <a:noFill/>
        </p:spPr>
        <p:txBody>
          <a:bodyPr wrap="square" rtlCol="0" anchor="ctr"/>
          <a:lstStyle/>
          <a:p>
            <a:pPr marL="0" indent="0">
              <a:lnSpc>
                <a:spcPct val="110000"/>
              </a:lnSpc>
              <a:buNone/>
            </a:pPr>
            <a:r>
              <a:rPr lang="en-US" sz="1150" dirty="0">
                <a:solidFill>
                  <a:srgbClr val="16241C"/>
                </a:solidFill>
                <a:latin typeface="Calibri" panose="020F0502020204030204" pitchFamily="34" charset="0"/>
                <a:ea typeface="Calibri" panose="020F0502020204030204" pitchFamily="34" charset="-122"/>
                <a:cs typeface="Calibri" panose="020F0502020204030204" pitchFamily="34" charset="-120"/>
              </a:rPr>
              <a:t>Print Working Directory — displays the current directory.</a:t>
            </a:r>
            <a:endParaRPr lang="en-US" sz="1150" dirty="0"/>
          </a:p>
        </p:txBody>
      </p:sp>
      <p:sp>
        <p:nvSpPr>
          <p:cNvPr id="8" name="Shape 6"/>
          <p:cNvSpPr/>
          <p:nvPr/>
        </p:nvSpPr>
        <p:spPr>
          <a:xfrm>
            <a:off x="685800" y="2459736"/>
            <a:ext cx="4892040" cy="3712464"/>
          </a:xfrm>
          <a:prstGeom prst="roundRect">
            <a:avLst>
              <a:gd name="adj" fmla="val 1478"/>
            </a:avLst>
          </a:prstGeom>
          <a:solidFill>
            <a:srgbClr val="0D1912"/>
          </a:solidFill>
        </p:spPr>
      </p:sp>
      <p:sp>
        <p:nvSpPr>
          <p:cNvPr id="9" name="Text 7"/>
          <p:cNvSpPr/>
          <p:nvPr/>
        </p:nvSpPr>
        <p:spPr>
          <a:xfrm>
            <a:off x="822960" y="2551176"/>
            <a:ext cx="4617720" cy="3529584"/>
          </a:xfrm>
          <a:prstGeom prst="rect">
            <a:avLst/>
          </a:prstGeom>
          <a:noFill/>
        </p:spPr>
        <p:txBody>
          <a:bodyPr wrap="square" rtlCol="0" anchor="t"/>
          <a:lstStyle/>
          <a:p>
            <a:pPr marL="0" indent="0">
              <a:lnSpc>
                <a:spcPct val="120000"/>
              </a:lnSpc>
              <a:buNone/>
            </a:pPr>
            <a:r>
              <a:rPr lang="en-US" sz="1050" dirty="0">
                <a:solidFill>
                  <a:srgbClr val="CFEFE0"/>
                </a:solidFill>
                <a:latin typeface="Courier New" panose="02070309020205020404" pitchFamily="34" charset="0"/>
                <a:ea typeface="Courier New" panose="02070309020205020404" pitchFamily="34" charset="-122"/>
                <a:cs typeface="Courier New" panose="02070309020205020404" pitchFamily="34" charset="-120"/>
              </a:rPr>
              <a:t>Syntax: pwd</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Example</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 pwd</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/home/hamida</a:t>
            </a:r>
            <a:endParaRPr lang="en-US" sz="1050" dirty="0"/>
          </a:p>
        </p:txBody>
      </p:sp>
      <p:sp>
        <p:nvSpPr>
          <p:cNvPr id="10" name="Shape 8"/>
          <p:cNvSpPr/>
          <p:nvPr/>
        </p:nvSpPr>
        <p:spPr>
          <a:xfrm>
            <a:off x="6080760" y="1417320"/>
            <a:ext cx="5349240" cy="4892040"/>
          </a:xfrm>
          <a:prstGeom prst="roundRect">
            <a:avLst>
              <a:gd name="adj" fmla="val 1869"/>
            </a:avLst>
          </a:prstGeom>
          <a:solidFill>
            <a:srgbClr val="F1F5F2"/>
          </a:solidFill>
        </p:spPr>
      </p:sp>
      <p:sp>
        <p:nvSpPr>
          <p:cNvPr id="11" name="Shape 9"/>
          <p:cNvSpPr/>
          <p:nvPr/>
        </p:nvSpPr>
        <p:spPr>
          <a:xfrm>
            <a:off x="6263640" y="1600200"/>
            <a:ext cx="365760" cy="365760"/>
          </a:xfrm>
          <a:prstGeom prst="ellipse">
            <a:avLst/>
          </a:prstGeom>
          <a:solidFill>
            <a:srgbClr val="22C55E"/>
          </a:solidFill>
        </p:spPr>
      </p:sp>
      <p:sp>
        <p:nvSpPr>
          <p:cNvPr id="12" name="Text 10"/>
          <p:cNvSpPr/>
          <p:nvPr/>
        </p:nvSpPr>
        <p:spPr>
          <a:xfrm>
            <a:off x="6263640" y="1600200"/>
            <a:ext cx="365760" cy="36576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13" name="Text 11"/>
          <p:cNvSpPr/>
          <p:nvPr/>
        </p:nvSpPr>
        <p:spPr>
          <a:xfrm>
            <a:off x="6766560" y="1563624"/>
            <a:ext cx="4434840" cy="438912"/>
          </a:xfrm>
          <a:prstGeom prst="rect">
            <a:avLst/>
          </a:prstGeom>
          <a:noFill/>
        </p:spPr>
        <p:txBody>
          <a:bodyPr wrap="square" rtlCol="0" anchor="ctr"/>
          <a:lstStyle/>
          <a:p>
            <a:pPr marL="0" indent="0">
              <a:buNone/>
            </a:pPr>
            <a:r>
              <a:rPr lang="en-US" sz="17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ls</a:t>
            </a:r>
            <a:endParaRPr lang="en-US" sz="1700" dirty="0"/>
          </a:p>
        </p:txBody>
      </p:sp>
      <p:sp>
        <p:nvSpPr>
          <p:cNvPr id="14" name="Text 12"/>
          <p:cNvSpPr/>
          <p:nvPr/>
        </p:nvSpPr>
        <p:spPr>
          <a:xfrm>
            <a:off x="6309360" y="2039112"/>
            <a:ext cx="4892040" cy="384048"/>
          </a:xfrm>
          <a:prstGeom prst="rect">
            <a:avLst/>
          </a:prstGeom>
          <a:noFill/>
        </p:spPr>
        <p:txBody>
          <a:bodyPr wrap="square" rtlCol="0" anchor="ctr"/>
          <a:lstStyle/>
          <a:p>
            <a:pPr marL="0" indent="0">
              <a:lnSpc>
                <a:spcPct val="110000"/>
              </a:lnSpc>
              <a:buNone/>
            </a:pPr>
            <a:r>
              <a:rPr lang="en-US" sz="1150" dirty="0">
                <a:solidFill>
                  <a:srgbClr val="16241C"/>
                </a:solidFill>
                <a:latin typeface="Calibri" panose="020F0502020204030204" pitchFamily="34" charset="0"/>
                <a:ea typeface="Calibri" panose="020F0502020204030204" pitchFamily="34" charset="-122"/>
                <a:cs typeface="Calibri" panose="020F0502020204030204" pitchFamily="34" charset="-120"/>
              </a:rPr>
              <a:t>List — displays files and folders.</a:t>
            </a:r>
            <a:endParaRPr lang="en-US" sz="1150" dirty="0"/>
          </a:p>
        </p:txBody>
      </p:sp>
      <p:sp>
        <p:nvSpPr>
          <p:cNvPr id="15" name="Shape 13"/>
          <p:cNvSpPr/>
          <p:nvPr/>
        </p:nvSpPr>
        <p:spPr>
          <a:xfrm>
            <a:off x="6309360" y="2459736"/>
            <a:ext cx="4892040" cy="3712464"/>
          </a:xfrm>
          <a:prstGeom prst="roundRect">
            <a:avLst>
              <a:gd name="adj" fmla="val 1478"/>
            </a:avLst>
          </a:prstGeom>
          <a:solidFill>
            <a:srgbClr val="0D1912"/>
          </a:solidFill>
        </p:spPr>
      </p:sp>
      <p:sp>
        <p:nvSpPr>
          <p:cNvPr id="16" name="Text 14"/>
          <p:cNvSpPr/>
          <p:nvPr/>
        </p:nvSpPr>
        <p:spPr>
          <a:xfrm>
            <a:off x="6446520" y="2551176"/>
            <a:ext cx="4617720" cy="3529584"/>
          </a:xfrm>
          <a:prstGeom prst="rect">
            <a:avLst/>
          </a:prstGeom>
          <a:noFill/>
        </p:spPr>
        <p:txBody>
          <a:bodyPr wrap="square" rtlCol="0" anchor="t"/>
          <a:lstStyle/>
          <a:p>
            <a:pPr marL="0" indent="0">
              <a:lnSpc>
                <a:spcPct val="120000"/>
              </a:lnSpc>
              <a:buNone/>
            </a:pPr>
            <a:r>
              <a:rPr lang="en-US" sz="1050" dirty="0">
                <a:solidFill>
                  <a:srgbClr val="CFEFE0"/>
                </a:solidFill>
                <a:latin typeface="Courier New" panose="02070309020205020404" pitchFamily="34" charset="0"/>
                <a:ea typeface="Courier New" panose="02070309020205020404" pitchFamily="34" charset="-122"/>
                <a:cs typeface="Courier New" panose="02070309020205020404" pitchFamily="34" charset="-120"/>
              </a:rPr>
              <a:t>Syntax: ls</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Example</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Documents  Downloads  Desktop</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Useful options</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ls -l   → detailed information</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ls -a   → shows hidden files</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ls -lh  → human-readable file sizes</a:t>
            </a:r>
            <a:endParaRPr lang="en-US" sz="1050" dirty="0"/>
          </a:p>
        </p:txBody>
      </p:sp>
      <p:sp>
        <p:nvSpPr>
          <p:cNvPr id="17" name="Text 15"/>
          <p:cNvSpPr/>
          <p:nvPr/>
        </p:nvSpPr>
        <p:spPr>
          <a:xfrm>
            <a:off x="457200" y="6510528"/>
            <a:ext cx="7315200" cy="274320"/>
          </a:xfrm>
          <a:prstGeom prst="rect">
            <a:avLst/>
          </a:prstGeom>
          <a:noFill/>
        </p:spPr>
        <p:txBody>
          <a:bodyPr wrap="square" rtlCol="0" anchor="ctr"/>
          <a:lstStyle/>
          <a:p>
            <a:pPr marL="0" indent="0" algn="l">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Day 12 · Linux Commands</a:t>
            </a:r>
            <a:endParaRPr lang="en-US" sz="1000" dirty="0"/>
          </a:p>
        </p:txBody>
      </p:sp>
      <p:sp>
        <p:nvSpPr>
          <p:cNvPr id="18" name="Text 16"/>
          <p:cNvSpPr/>
          <p:nvPr/>
        </p:nvSpPr>
        <p:spPr>
          <a:xfrm>
            <a:off x="11274552" y="6510528"/>
            <a:ext cx="457200" cy="274320"/>
          </a:xfrm>
          <a:prstGeom prst="rect">
            <a:avLst/>
          </a:prstGeom>
          <a:noFill/>
        </p:spPr>
        <p:txBody>
          <a:bodyPr wrap="square" rtlCol="0" anchor="ctr"/>
          <a:lstStyle/>
          <a:p>
            <a:pPr marL="0" indent="0" algn="r">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p:spPr>
        <p:txBody>
          <a:bodyPr wrap="square" rtlCol="0" anchor="ctr"/>
          <a:lstStyle/>
          <a:p>
            <a:pPr marL="0" indent="0">
              <a:buNone/>
            </a:pPr>
            <a:r>
              <a:rPr lang="en-US" sz="2800" b="1" dirty="0">
                <a:solidFill>
                  <a:srgbClr val="16241C"/>
                </a:solidFill>
                <a:latin typeface="Cambria" panose="02040503050406030204" pitchFamily="34" charset="0"/>
                <a:ea typeface="Cambria" panose="02040503050406030204" pitchFamily="34" charset="-122"/>
                <a:cs typeface="Cambria" panose="02040503050406030204" pitchFamily="34" charset="-120"/>
              </a:rPr>
              <a:t>cd &amp; mkdir</a:t>
            </a:r>
            <a:endParaRPr lang="en-US" sz="2800" dirty="0"/>
          </a:p>
        </p:txBody>
      </p:sp>
      <p:sp>
        <p:nvSpPr>
          <p:cNvPr id="3" name="Shape 1"/>
          <p:cNvSpPr/>
          <p:nvPr/>
        </p:nvSpPr>
        <p:spPr>
          <a:xfrm>
            <a:off x="457200" y="1417320"/>
            <a:ext cx="5349240" cy="4892040"/>
          </a:xfrm>
          <a:prstGeom prst="roundRect">
            <a:avLst>
              <a:gd name="adj" fmla="val 1869"/>
            </a:avLst>
          </a:prstGeom>
          <a:solidFill>
            <a:srgbClr val="F1F5F2"/>
          </a:solidFill>
        </p:spPr>
      </p:sp>
      <p:sp>
        <p:nvSpPr>
          <p:cNvPr id="4" name="Shape 2"/>
          <p:cNvSpPr/>
          <p:nvPr/>
        </p:nvSpPr>
        <p:spPr>
          <a:xfrm>
            <a:off x="640080" y="1600200"/>
            <a:ext cx="365760" cy="365760"/>
          </a:xfrm>
          <a:prstGeom prst="ellipse">
            <a:avLst/>
          </a:prstGeom>
          <a:solidFill>
            <a:srgbClr val="22C55E"/>
          </a:solidFill>
        </p:spPr>
      </p:sp>
      <p:sp>
        <p:nvSpPr>
          <p:cNvPr id="5" name="Text 3"/>
          <p:cNvSpPr/>
          <p:nvPr/>
        </p:nvSpPr>
        <p:spPr>
          <a:xfrm>
            <a:off x="640080" y="1600200"/>
            <a:ext cx="365760" cy="36576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6" name="Text 4"/>
          <p:cNvSpPr/>
          <p:nvPr/>
        </p:nvSpPr>
        <p:spPr>
          <a:xfrm>
            <a:off x="1143000" y="1563624"/>
            <a:ext cx="4434840" cy="438912"/>
          </a:xfrm>
          <a:prstGeom prst="rect">
            <a:avLst/>
          </a:prstGeom>
          <a:noFill/>
        </p:spPr>
        <p:txBody>
          <a:bodyPr wrap="square" rtlCol="0" anchor="ctr"/>
          <a:lstStyle/>
          <a:p>
            <a:pPr marL="0" indent="0">
              <a:buNone/>
            </a:pPr>
            <a:r>
              <a:rPr lang="en-US" sz="17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cd</a:t>
            </a:r>
            <a:endParaRPr lang="en-US" sz="1700" dirty="0"/>
          </a:p>
        </p:txBody>
      </p:sp>
      <p:sp>
        <p:nvSpPr>
          <p:cNvPr id="7" name="Text 5"/>
          <p:cNvSpPr/>
          <p:nvPr/>
        </p:nvSpPr>
        <p:spPr>
          <a:xfrm>
            <a:off x="685800" y="2039112"/>
            <a:ext cx="4892040" cy="384048"/>
          </a:xfrm>
          <a:prstGeom prst="rect">
            <a:avLst/>
          </a:prstGeom>
          <a:noFill/>
        </p:spPr>
        <p:txBody>
          <a:bodyPr wrap="square" rtlCol="0" anchor="ctr"/>
          <a:lstStyle/>
          <a:p>
            <a:pPr marL="0" indent="0">
              <a:lnSpc>
                <a:spcPct val="110000"/>
              </a:lnSpc>
              <a:buNone/>
            </a:pPr>
            <a:r>
              <a:rPr lang="en-US" sz="1150" dirty="0">
                <a:solidFill>
                  <a:srgbClr val="16241C"/>
                </a:solidFill>
                <a:latin typeface="Calibri" panose="020F0502020204030204" pitchFamily="34" charset="0"/>
                <a:ea typeface="Calibri" panose="020F0502020204030204" pitchFamily="34" charset="-122"/>
                <a:cs typeface="Calibri" panose="020F0502020204030204" pitchFamily="34" charset="-120"/>
              </a:rPr>
              <a:t>Change Directory — moves from one directory to another.</a:t>
            </a:r>
            <a:endParaRPr lang="en-US" sz="1150" dirty="0"/>
          </a:p>
        </p:txBody>
      </p:sp>
      <p:sp>
        <p:nvSpPr>
          <p:cNvPr id="8" name="Shape 6"/>
          <p:cNvSpPr/>
          <p:nvPr/>
        </p:nvSpPr>
        <p:spPr>
          <a:xfrm>
            <a:off x="685800" y="2459736"/>
            <a:ext cx="4892040" cy="3712464"/>
          </a:xfrm>
          <a:prstGeom prst="roundRect">
            <a:avLst>
              <a:gd name="adj" fmla="val 1478"/>
            </a:avLst>
          </a:prstGeom>
          <a:solidFill>
            <a:srgbClr val="0D1912"/>
          </a:solidFill>
        </p:spPr>
      </p:sp>
      <p:sp>
        <p:nvSpPr>
          <p:cNvPr id="9" name="Text 7"/>
          <p:cNvSpPr/>
          <p:nvPr/>
        </p:nvSpPr>
        <p:spPr>
          <a:xfrm>
            <a:off x="822960" y="2551176"/>
            <a:ext cx="4617720" cy="3529584"/>
          </a:xfrm>
          <a:prstGeom prst="rect">
            <a:avLst/>
          </a:prstGeom>
          <a:noFill/>
        </p:spPr>
        <p:txBody>
          <a:bodyPr wrap="square" rtlCol="0" anchor="t"/>
          <a:lstStyle/>
          <a:p>
            <a:pPr marL="0" indent="0">
              <a:lnSpc>
                <a:spcPct val="120000"/>
              </a:lnSpc>
              <a:buNone/>
            </a:pPr>
            <a:r>
              <a:rPr lang="en-US" sz="1050" dirty="0">
                <a:solidFill>
                  <a:srgbClr val="CFEFE0"/>
                </a:solidFill>
                <a:latin typeface="Courier New" panose="02070309020205020404" pitchFamily="34" charset="0"/>
                <a:ea typeface="Courier New" panose="02070309020205020404" pitchFamily="34" charset="-122"/>
                <a:cs typeface="Courier New" panose="02070309020205020404" pitchFamily="34" charset="-120"/>
              </a:rPr>
              <a:t>Syntax: cd folder_name</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Go to Documents</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cd Documents</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Go back one directory</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cd ..</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Go to Home</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cd ~</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Go to Root</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cd /</a:t>
            </a:r>
            <a:endParaRPr lang="en-US" sz="1050" dirty="0"/>
          </a:p>
        </p:txBody>
      </p:sp>
      <p:sp>
        <p:nvSpPr>
          <p:cNvPr id="10" name="Shape 8"/>
          <p:cNvSpPr/>
          <p:nvPr/>
        </p:nvSpPr>
        <p:spPr>
          <a:xfrm>
            <a:off x="6080760" y="1417320"/>
            <a:ext cx="5349240" cy="4892040"/>
          </a:xfrm>
          <a:prstGeom prst="roundRect">
            <a:avLst>
              <a:gd name="adj" fmla="val 1869"/>
            </a:avLst>
          </a:prstGeom>
          <a:solidFill>
            <a:srgbClr val="F1F5F2"/>
          </a:solidFill>
        </p:spPr>
      </p:sp>
      <p:sp>
        <p:nvSpPr>
          <p:cNvPr id="11" name="Shape 9"/>
          <p:cNvSpPr/>
          <p:nvPr/>
        </p:nvSpPr>
        <p:spPr>
          <a:xfrm>
            <a:off x="6263640" y="1600200"/>
            <a:ext cx="365760" cy="365760"/>
          </a:xfrm>
          <a:prstGeom prst="ellipse">
            <a:avLst/>
          </a:prstGeom>
          <a:solidFill>
            <a:srgbClr val="22C55E"/>
          </a:solidFill>
        </p:spPr>
      </p:sp>
      <p:sp>
        <p:nvSpPr>
          <p:cNvPr id="12" name="Text 10"/>
          <p:cNvSpPr/>
          <p:nvPr/>
        </p:nvSpPr>
        <p:spPr>
          <a:xfrm>
            <a:off x="6263640" y="1600200"/>
            <a:ext cx="365760" cy="36576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13" name="Text 11"/>
          <p:cNvSpPr/>
          <p:nvPr/>
        </p:nvSpPr>
        <p:spPr>
          <a:xfrm>
            <a:off x="6766560" y="1563624"/>
            <a:ext cx="4434840" cy="438912"/>
          </a:xfrm>
          <a:prstGeom prst="rect">
            <a:avLst/>
          </a:prstGeom>
          <a:noFill/>
        </p:spPr>
        <p:txBody>
          <a:bodyPr wrap="square" rtlCol="0" anchor="ctr"/>
          <a:lstStyle/>
          <a:p>
            <a:pPr marL="0" indent="0">
              <a:buNone/>
            </a:pPr>
            <a:r>
              <a:rPr lang="en-US" sz="17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mkdir</a:t>
            </a:r>
            <a:endParaRPr lang="en-US" sz="1700" dirty="0"/>
          </a:p>
        </p:txBody>
      </p:sp>
      <p:sp>
        <p:nvSpPr>
          <p:cNvPr id="14" name="Text 12"/>
          <p:cNvSpPr/>
          <p:nvPr/>
        </p:nvSpPr>
        <p:spPr>
          <a:xfrm>
            <a:off x="6309360" y="2039112"/>
            <a:ext cx="4892040" cy="384048"/>
          </a:xfrm>
          <a:prstGeom prst="rect">
            <a:avLst/>
          </a:prstGeom>
          <a:noFill/>
        </p:spPr>
        <p:txBody>
          <a:bodyPr wrap="square" rtlCol="0" anchor="ctr"/>
          <a:lstStyle/>
          <a:p>
            <a:pPr marL="0" indent="0">
              <a:lnSpc>
                <a:spcPct val="110000"/>
              </a:lnSpc>
              <a:buNone/>
            </a:pPr>
            <a:r>
              <a:rPr lang="en-US" sz="1150" dirty="0">
                <a:solidFill>
                  <a:srgbClr val="16241C"/>
                </a:solidFill>
                <a:latin typeface="Calibri" panose="020F0502020204030204" pitchFamily="34" charset="0"/>
                <a:ea typeface="Calibri" panose="020F0502020204030204" pitchFamily="34" charset="-122"/>
                <a:cs typeface="Calibri" panose="020F0502020204030204" pitchFamily="34" charset="-120"/>
              </a:rPr>
              <a:t>Make Directory — creates a new folder.</a:t>
            </a:r>
            <a:endParaRPr lang="en-US" sz="1150" dirty="0"/>
          </a:p>
        </p:txBody>
      </p:sp>
      <p:sp>
        <p:nvSpPr>
          <p:cNvPr id="15" name="Shape 13"/>
          <p:cNvSpPr/>
          <p:nvPr/>
        </p:nvSpPr>
        <p:spPr>
          <a:xfrm>
            <a:off x="6309360" y="2459736"/>
            <a:ext cx="4892040" cy="3712464"/>
          </a:xfrm>
          <a:prstGeom prst="roundRect">
            <a:avLst>
              <a:gd name="adj" fmla="val 1478"/>
            </a:avLst>
          </a:prstGeom>
          <a:solidFill>
            <a:srgbClr val="0D1912"/>
          </a:solidFill>
        </p:spPr>
      </p:sp>
      <p:sp>
        <p:nvSpPr>
          <p:cNvPr id="16" name="Text 14"/>
          <p:cNvSpPr/>
          <p:nvPr/>
        </p:nvSpPr>
        <p:spPr>
          <a:xfrm>
            <a:off x="6446520" y="2551176"/>
            <a:ext cx="4617720" cy="3529584"/>
          </a:xfrm>
          <a:prstGeom prst="rect">
            <a:avLst/>
          </a:prstGeom>
          <a:noFill/>
        </p:spPr>
        <p:txBody>
          <a:bodyPr wrap="square" rtlCol="0" anchor="t"/>
          <a:lstStyle/>
          <a:p>
            <a:pPr marL="0" indent="0">
              <a:lnSpc>
                <a:spcPct val="120000"/>
              </a:lnSpc>
              <a:buNone/>
            </a:pPr>
            <a:r>
              <a:rPr lang="en-US" sz="1050" dirty="0">
                <a:solidFill>
                  <a:srgbClr val="CFEFE0"/>
                </a:solidFill>
                <a:latin typeface="Courier New" panose="02070309020205020404" pitchFamily="34" charset="0"/>
                <a:ea typeface="Courier New" panose="02070309020205020404" pitchFamily="34" charset="-122"/>
                <a:cs typeface="Courier New" panose="02070309020205020404" pitchFamily="34" charset="-120"/>
              </a:rPr>
              <a:t>Syntax: mkdir folder_name</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Creates a folder named SOC</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mkdir SOC</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Create multiple folders</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mkdir Logs Reports Evidence</a:t>
            </a:r>
            <a:endParaRPr lang="en-US" sz="1050" dirty="0"/>
          </a:p>
        </p:txBody>
      </p:sp>
      <p:sp>
        <p:nvSpPr>
          <p:cNvPr id="17" name="Text 15"/>
          <p:cNvSpPr/>
          <p:nvPr/>
        </p:nvSpPr>
        <p:spPr>
          <a:xfrm>
            <a:off x="457200" y="6510528"/>
            <a:ext cx="7315200" cy="274320"/>
          </a:xfrm>
          <a:prstGeom prst="rect">
            <a:avLst/>
          </a:prstGeom>
          <a:noFill/>
        </p:spPr>
        <p:txBody>
          <a:bodyPr wrap="square" rtlCol="0" anchor="ctr"/>
          <a:lstStyle/>
          <a:p>
            <a:pPr marL="0" indent="0" algn="l">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Day 12 · Linux Commands</a:t>
            </a:r>
            <a:endParaRPr lang="en-US" sz="1000" dirty="0"/>
          </a:p>
        </p:txBody>
      </p:sp>
      <p:sp>
        <p:nvSpPr>
          <p:cNvPr id="18" name="Text 16"/>
          <p:cNvSpPr/>
          <p:nvPr/>
        </p:nvSpPr>
        <p:spPr>
          <a:xfrm>
            <a:off x="11274552" y="6510528"/>
            <a:ext cx="457200" cy="274320"/>
          </a:xfrm>
          <a:prstGeom prst="rect">
            <a:avLst/>
          </a:prstGeom>
          <a:noFill/>
        </p:spPr>
        <p:txBody>
          <a:bodyPr wrap="square" rtlCol="0" anchor="ctr"/>
          <a:lstStyle/>
          <a:p>
            <a:pPr marL="0" indent="0" algn="r">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p:spPr>
        <p:txBody>
          <a:bodyPr wrap="square" rtlCol="0" anchor="ctr"/>
          <a:lstStyle/>
          <a:p>
            <a:pPr marL="0" indent="0">
              <a:buNone/>
            </a:pPr>
            <a:r>
              <a:rPr lang="en-US" sz="2800" b="1" dirty="0">
                <a:solidFill>
                  <a:srgbClr val="16241C"/>
                </a:solidFill>
                <a:latin typeface="Cambria" panose="02040503050406030204" pitchFamily="34" charset="0"/>
                <a:ea typeface="Cambria" panose="02040503050406030204" pitchFamily="34" charset="-122"/>
                <a:cs typeface="Cambria" panose="02040503050406030204" pitchFamily="34" charset="-120"/>
              </a:rPr>
              <a:t>rmdir &amp; touch</a:t>
            </a:r>
            <a:endParaRPr lang="en-US" sz="2800" dirty="0"/>
          </a:p>
        </p:txBody>
      </p:sp>
      <p:sp>
        <p:nvSpPr>
          <p:cNvPr id="3" name="Shape 1"/>
          <p:cNvSpPr/>
          <p:nvPr/>
        </p:nvSpPr>
        <p:spPr>
          <a:xfrm>
            <a:off x="457200" y="1417320"/>
            <a:ext cx="5349240" cy="4892040"/>
          </a:xfrm>
          <a:prstGeom prst="roundRect">
            <a:avLst>
              <a:gd name="adj" fmla="val 1869"/>
            </a:avLst>
          </a:prstGeom>
          <a:solidFill>
            <a:srgbClr val="F1F5F2"/>
          </a:solidFill>
        </p:spPr>
      </p:sp>
      <p:sp>
        <p:nvSpPr>
          <p:cNvPr id="4" name="Shape 2"/>
          <p:cNvSpPr/>
          <p:nvPr/>
        </p:nvSpPr>
        <p:spPr>
          <a:xfrm>
            <a:off x="640080" y="1600200"/>
            <a:ext cx="365760" cy="365760"/>
          </a:xfrm>
          <a:prstGeom prst="ellipse">
            <a:avLst/>
          </a:prstGeom>
          <a:solidFill>
            <a:srgbClr val="22C55E"/>
          </a:solidFill>
        </p:spPr>
      </p:sp>
      <p:sp>
        <p:nvSpPr>
          <p:cNvPr id="5" name="Text 3"/>
          <p:cNvSpPr/>
          <p:nvPr/>
        </p:nvSpPr>
        <p:spPr>
          <a:xfrm>
            <a:off x="640080" y="1600200"/>
            <a:ext cx="365760" cy="36576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400" dirty="0"/>
          </a:p>
        </p:txBody>
      </p:sp>
      <p:sp>
        <p:nvSpPr>
          <p:cNvPr id="6" name="Text 4"/>
          <p:cNvSpPr/>
          <p:nvPr/>
        </p:nvSpPr>
        <p:spPr>
          <a:xfrm>
            <a:off x="1143000" y="1563624"/>
            <a:ext cx="4434840" cy="438912"/>
          </a:xfrm>
          <a:prstGeom prst="rect">
            <a:avLst/>
          </a:prstGeom>
          <a:noFill/>
        </p:spPr>
        <p:txBody>
          <a:bodyPr wrap="square" rtlCol="0" anchor="ctr"/>
          <a:lstStyle/>
          <a:p>
            <a:pPr marL="0" indent="0">
              <a:buNone/>
            </a:pPr>
            <a:r>
              <a:rPr lang="en-US" sz="17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rmdir</a:t>
            </a:r>
            <a:endParaRPr lang="en-US" sz="1700" dirty="0"/>
          </a:p>
        </p:txBody>
      </p:sp>
      <p:sp>
        <p:nvSpPr>
          <p:cNvPr id="7" name="Text 5"/>
          <p:cNvSpPr/>
          <p:nvPr/>
        </p:nvSpPr>
        <p:spPr>
          <a:xfrm>
            <a:off x="685800" y="2039112"/>
            <a:ext cx="4892040" cy="384048"/>
          </a:xfrm>
          <a:prstGeom prst="rect">
            <a:avLst/>
          </a:prstGeom>
          <a:noFill/>
        </p:spPr>
        <p:txBody>
          <a:bodyPr wrap="square" rtlCol="0" anchor="ctr"/>
          <a:lstStyle/>
          <a:p>
            <a:pPr marL="0" indent="0">
              <a:lnSpc>
                <a:spcPct val="110000"/>
              </a:lnSpc>
              <a:buNone/>
            </a:pPr>
            <a:r>
              <a:rPr lang="en-US" sz="1150" dirty="0">
                <a:solidFill>
                  <a:srgbClr val="16241C"/>
                </a:solidFill>
                <a:latin typeface="Calibri" panose="020F0502020204030204" pitchFamily="34" charset="0"/>
                <a:ea typeface="Calibri" panose="020F0502020204030204" pitchFamily="34" charset="-122"/>
                <a:cs typeface="Calibri" panose="020F0502020204030204" pitchFamily="34" charset="-120"/>
              </a:rPr>
              <a:t>Removes an empty folder.</a:t>
            </a:r>
            <a:endParaRPr lang="en-US" sz="1150" dirty="0"/>
          </a:p>
        </p:txBody>
      </p:sp>
      <p:sp>
        <p:nvSpPr>
          <p:cNvPr id="8" name="Shape 6"/>
          <p:cNvSpPr/>
          <p:nvPr/>
        </p:nvSpPr>
        <p:spPr>
          <a:xfrm>
            <a:off x="685800" y="2459736"/>
            <a:ext cx="4892040" cy="3712464"/>
          </a:xfrm>
          <a:prstGeom prst="roundRect">
            <a:avLst>
              <a:gd name="adj" fmla="val 1478"/>
            </a:avLst>
          </a:prstGeom>
          <a:solidFill>
            <a:srgbClr val="0D1912"/>
          </a:solidFill>
        </p:spPr>
      </p:sp>
      <p:sp>
        <p:nvSpPr>
          <p:cNvPr id="9" name="Text 7"/>
          <p:cNvSpPr/>
          <p:nvPr/>
        </p:nvSpPr>
        <p:spPr>
          <a:xfrm>
            <a:off x="822960" y="2551176"/>
            <a:ext cx="4617720" cy="3529584"/>
          </a:xfrm>
          <a:prstGeom prst="rect">
            <a:avLst/>
          </a:prstGeom>
          <a:noFill/>
        </p:spPr>
        <p:txBody>
          <a:bodyPr wrap="square" rtlCol="0" anchor="t"/>
          <a:lstStyle/>
          <a:p>
            <a:pPr marL="0" indent="0">
              <a:lnSpc>
                <a:spcPct val="120000"/>
              </a:lnSpc>
              <a:buNone/>
            </a:pPr>
            <a:r>
              <a:rPr lang="en-US" sz="1050" dirty="0">
                <a:solidFill>
                  <a:srgbClr val="CFEFE0"/>
                </a:solidFill>
                <a:latin typeface="Courier New" panose="02070309020205020404" pitchFamily="34" charset="0"/>
                <a:ea typeface="Courier New" panose="02070309020205020404" pitchFamily="34" charset="-122"/>
                <a:cs typeface="Courier New" panose="02070309020205020404" pitchFamily="34" charset="-120"/>
              </a:rPr>
              <a:t>Syntax: rmdir folder_name</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Example</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rmdir Test</a:t>
            </a:r>
            <a:endParaRPr lang="en-US" sz="1050" dirty="0"/>
          </a:p>
        </p:txBody>
      </p:sp>
      <p:sp>
        <p:nvSpPr>
          <p:cNvPr id="10" name="Shape 8"/>
          <p:cNvSpPr/>
          <p:nvPr/>
        </p:nvSpPr>
        <p:spPr>
          <a:xfrm>
            <a:off x="6080760" y="1417320"/>
            <a:ext cx="5349240" cy="4892040"/>
          </a:xfrm>
          <a:prstGeom prst="roundRect">
            <a:avLst>
              <a:gd name="adj" fmla="val 1869"/>
            </a:avLst>
          </a:prstGeom>
          <a:solidFill>
            <a:srgbClr val="F1F5F2"/>
          </a:solidFill>
        </p:spPr>
      </p:sp>
      <p:sp>
        <p:nvSpPr>
          <p:cNvPr id="11" name="Shape 9"/>
          <p:cNvSpPr/>
          <p:nvPr/>
        </p:nvSpPr>
        <p:spPr>
          <a:xfrm>
            <a:off x="6263640" y="1600200"/>
            <a:ext cx="365760" cy="365760"/>
          </a:xfrm>
          <a:prstGeom prst="ellipse">
            <a:avLst/>
          </a:prstGeom>
          <a:solidFill>
            <a:srgbClr val="22C55E"/>
          </a:solidFill>
        </p:spPr>
      </p:sp>
      <p:sp>
        <p:nvSpPr>
          <p:cNvPr id="12" name="Text 10"/>
          <p:cNvSpPr/>
          <p:nvPr/>
        </p:nvSpPr>
        <p:spPr>
          <a:xfrm>
            <a:off x="6263640" y="1600200"/>
            <a:ext cx="365760" cy="36576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400" dirty="0"/>
          </a:p>
        </p:txBody>
      </p:sp>
      <p:sp>
        <p:nvSpPr>
          <p:cNvPr id="13" name="Text 11"/>
          <p:cNvSpPr/>
          <p:nvPr/>
        </p:nvSpPr>
        <p:spPr>
          <a:xfrm>
            <a:off x="6766560" y="1563624"/>
            <a:ext cx="4434840" cy="438912"/>
          </a:xfrm>
          <a:prstGeom prst="rect">
            <a:avLst/>
          </a:prstGeom>
          <a:noFill/>
        </p:spPr>
        <p:txBody>
          <a:bodyPr wrap="square" rtlCol="0" anchor="ctr"/>
          <a:lstStyle/>
          <a:p>
            <a:pPr marL="0" indent="0">
              <a:buNone/>
            </a:pPr>
            <a:r>
              <a:rPr lang="en-US" sz="17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touch</a:t>
            </a:r>
            <a:endParaRPr lang="en-US" sz="1700" dirty="0"/>
          </a:p>
        </p:txBody>
      </p:sp>
      <p:sp>
        <p:nvSpPr>
          <p:cNvPr id="14" name="Text 12"/>
          <p:cNvSpPr/>
          <p:nvPr/>
        </p:nvSpPr>
        <p:spPr>
          <a:xfrm>
            <a:off x="6309360" y="2039112"/>
            <a:ext cx="4892040" cy="384048"/>
          </a:xfrm>
          <a:prstGeom prst="rect">
            <a:avLst/>
          </a:prstGeom>
          <a:noFill/>
        </p:spPr>
        <p:txBody>
          <a:bodyPr wrap="square" rtlCol="0" anchor="ctr"/>
          <a:lstStyle/>
          <a:p>
            <a:pPr marL="0" indent="0">
              <a:lnSpc>
                <a:spcPct val="110000"/>
              </a:lnSpc>
              <a:buNone/>
            </a:pPr>
            <a:r>
              <a:rPr lang="en-US" sz="1150" dirty="0">
                <a:solidFill>
                  <a:srgbClr val="16241C"/>
                </a:solidFill>
                <a:latin typeface="Calibri" panose="020F0502020204030204" pitchFamily="34" charset="0"/>
                <a:ea typeface="Calibri" panose="020F0502020204030204" pitchFamily="34" charset="-122"/>
                <a:cs typeface="Calibri" panose="020F0502020204030204" pitchFamily="34" charset="-120"/>
              </a:rPr>
              <a:t>Creates an empty file.</a:t>
            </a:r>
            <a:endParaRPr lang="en-US" sz="1150" dirty="0"/>
          </a:p>
        </p:txBody>
      </p:sp>
      <p:sp>
        <p:nvSpPr>
          <p:cNvPr id="15" name="Shape 13"/>
          <p:cNvSpPr/>
          <p:nvPr/>
        </p:nvSpPr>
        <p:spPr>
          <a:xfrm>
            <a:off x="6309360" y="2459736"/>
            <a:ext cx="4892040" cy="3712464"/>
          </a:xfrm>
          <a:prstGeom prst="roundRect">
            <a:avLst>
              <a:gd name="adj" fmla="val 1478"/>
            </a:avLst>
          </a:prstGeom>
          <a:solidFill>
            <a:srgbClr val="0D1912"/>
          </a:solidFill>
        </p:spPr>
      </p:sp>
      <p:sp>
        <p:nvSpPr>
          <p:cNvPr id="16" name="Text 14"/>
          <p:cNvSpPr/>
          <p:nvPr/>
        </p:nvSpPr>
        <p:spPr>
          <a:xfrm>
            <a:off x="6446520" y="2551176"/>
            <a:ext cx="4617720" cy="3529584"/>
          </a:xfrm>
          <a:prstGeom prst="rect">
            <a:avLst/>
          </a:prstGeom>
          <a:noFill/>
        </p:spPr>
        <p:txBody>
          <a:bodyPr wrap="square" rtlCol="0" anchor="t"/>
          <a:lstStyle/>
          <a:p>
            <a:pPr marL="0" indent="0">
              <a:lnSpc>
                <a:spcPct val="120000"/>
              </a:lnSpc>
              <a:buNone/>
            </a:pPr>
            <a:r>
              <a:rPr lang="en-US" sz="1050" dirty="0">
                <a:solidFill>
                  <a:srgbClr val="CFEFE0"/>
                </a:solidFill>
                <a:latin typeface="Courier New" panose="02070309020205020404" pitchFamily="34" charset="0"/>
                <a:ea typeface="Courier New" panose="02070309020205020404" pitchFamily="34" charset="-122"/>
                <a:cs typeface="Courier New" panose="02070309020205020404" pitchFamily="34" charset="-120"/>
              </a:rPr>
              <a:t>Syntax: touch filename</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Example</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touch notes.txt</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Create multiple files</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touch file1.txt file2.txt</a:t>
            </a:r>
            <a:endParaRPr lang="en-US" sz="1050" dirty="0"/>
          </a:p>
        </p:txBody>
      </p:sp>
      <p:sp>
        <p:nvSpPr>
          <p:cNvPr id="17" name="Text 15"/>
          <p:cNvSpPr/>
          <p:nvPr/>
        </p:nvSpPr>
        <p:spPr>
          <a:xfrm>
            <a:off x="457200" y="6510528"/>
            <a:ext cx="7315200" cy="274320"/>
          </a:xfrm>
          <a:prstGeom prst="rect">
            <a:avLst/>
          </a:prstGeom>
          <a:noFill/>
        </p:spPr>
        <p:txBody>
          <a:bodyPr wrap="square" rtlCol="0" anchor="ctr"/>
          <a:lstStyle/>
          <a:p>
            <a:pPr marL="0" indent="0" algn="l">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Day 12 · Linux Commands</a:t>
            </a:r>
            <a:endParaRPr lang="en-US" sz="1000" dirty="0"/>
          </a:p>
        </p:txBody>
      </p:sp>
      <p:sp>
        <p:nvSpPr>
          <p:cNvPr id="18" name="Text 16"/>
          <p:cNvSpPr/>
          <p:nvPr/>
        </p:nvSpPr>
        <p:spPr>
          <a:xfrm>
            <a:off x="11274552" y="6510528"/>
            <a:ext cx="457200" cy="274320"/>
          </a:xfrm>
          <a:prstGeom prst="rect">
            <a:avLst/>
          </a:prstGeom>
          <a:noFill/>
        </p:spPr>
        <p:txBody>
          <a:bodyPr wrap="square" rtlCol="0" anchor="ctr"/>
          <a:lstStyle/>
          <a:p>
            <a:pPr marL="0" indent="0" algn="r">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p:spPr>
        <p:txBody>
          <a:bodyPr wrap="square" rtlCol="0" anchor="ctr"/>
          <a:lstStyle/>
          <a:p>
            <a:pPr marL="0" indent="0">
              <a:buNone/>
            </a:pPr>
            <a:r>
              <a:rPr lang="en-US" sz="2800" b="1" dirty="0">
                <a:solidFill>
                  <a:srgbClr val="16241C"/>
                </a:solidFill>
                <a:latin typeface="Cambria" panose="02040503050406030204" pitchFamily="34" charset="0"/>
                <a:ea typeface="Cambria" panose="02040503050406030204" pitchFamily="34" charset="-122"/>
                <a:cs typeface="Cambria" panose="02040503050406030204" pitchFamily="34" charset="-120"/>
              </a:rPr>
              <a:t>cp &amp; mv</a:t>
            </a:r>
            <a:endParaRPr lang="en-US" sz="2800" dirty="0"/>
          </a:p>
        </p:txBody>
      </p:sp>
      <p:sp>
        <p:nvSpPr>
          <p:cNvPr id="3" name="Shape 1"/>
          <p:cNvSpPr/>
          <p:nvPr/>
        </p:nvSpPr>
        <p:spPr>
          <a:xfrm>
            <a:off x="457200" y="1417320"/>
            <a:ext cx="5349240" cy="4892040"/>
          </a:xfrm>
          <a:prstGeom prst="roundRect">
            <a:avLst>
              <a:gd name="adj" fmla="val 1869"/>
            </a:avLst>
          </a:prstGeom>
          <a:solidFill>
            <a:srgbClr val="F1F5F2"/>
          </a:solidFill>
        </p:spPr>
      </p:sp>
      <p:sp>
        <p:nvSpPr>
          <p:cNvPr id="4" name="Shape 2"/>
          <p:cNvSpPr/>
          <p:nvPr/>
        </p:nvSpPr>
        <p:spPr>
          <a:xfrm>
            <a:off x="640080" y="1600200"/>
            <a:ext cx="365760" cy="365760"/>
          </a:xfrm>
          <a:prstGeom prst="ellipse">
            <a:avLst/>
          </a:prstGeom>
          <a:solidFill>
            <a:srgbClr val="22C55E"/>
          </a:solidFill>
        </p:spPr>
      </p:sp>
      <p:sp>
        <p:nvSpPr>
          <p:cNvPr id="5" name="Text 3"/>
          <p:cNvSpPr/>
          <p:nvPr/>
        </p:nvSpPr>
        <p:spPr>
          <a:xfrm>
            <a:off x="640080" y="1600200"/>
            <a:ext cx="365760" cy="36576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7</a:t>
            </a:r>
            <a:endParaRPr lang="en-US" sz="1400" dirty="0"/>
          </a:p>
        </p:txBody>
      </p:sp>
      <p:sp>
        <p:nvSpPr>
          <p:cNvPr id="6" name="Text 4"/>
          <p:cNvSpPr/>
          <p:nvPr/>
        </p:nvSpPr>
        <p:spPr>
          <a:xfrm>
            <a:off x="1143000" y="1563624"/>
            <a:ext cx="4434840" cy="438912"/>
          </a:xfrm>
          <a:prstGeom prst="rect">
            <a:avLst/>
          </a:prstGeom>
          <a:noFill/>
        </p:spPr>
        <p:txBody>
          <a:bodyPr wrap="square" rtlCol="0" anchor="ctr"/>
          <a:lstStyle/>
          <a:p>
            <a:pPr marL="0" indent="0">
              <a:buNone/>
            </a:pPr>
            <a:r>
              <a:rPr lang="en-US" sz="17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cp</a:t>
            </a:r>
            <a:endParaRPr lang="en-US" sz="1700" dirty="0"/>
          </a:p>
        </p:txBody>
      </p:sp>
      <p:sp>
        <p:nvSpPr>
          <p:cNvPr id="7" name="Text 5"/>
          <p:cNvSpPr/>
          <p:nvPr/>
        </p:nvSpPr>
        <p:spPr>
          <a:xfrm>
            <a:off x="685800" y="2039112"/>
            <a:ext cx="4892040" cy="384048"/>
          </a:xfrm>
          <a:prstGeom prst="rect">
            <a:avLst/>
          </a:prstGeom>
          <a:noFill/>
        </p:spPr>
        <p:txBody>
          <a:bodyPr wrap="square" rtlCol="0" anchor="ctr"/>
          <a:lstStyle/>
          <a:p>
            <a:pPr marL="0" indent="0">
              <a:lnSpc>
                <a:spcPct val="110000"/>
              </a:lnSpc>
              <a:buNone/>
            </a:pPr>
            <a:r>
              <a:rPr lang="en-US" sz="1150" dirty="0">
                <a:solidFill>
                  <a:srgbClr val="16241C"/>
                </a:solidFill>
                <a:latin typeface="Calibri" panose="020F0502020204030204" pitchFamily="34" charset="0"/>
                <a:ea typeface="Calibri" panose="020F0502020204030204" pitchFamily="34" charset="-122"/>
                <a:cs typeface="Calibri" panose="020F0502020204030204" pitchFamily="34" charset="-120"/>
              </a:rPr>
              <a:t>Copy — copies files or folders.</a:t>
            </a:r>
            <a:endParaRPr lang="en-US" sz="1150" dirty="0"/>
          </a:p>
        </p:txBody>
      </p:sp>
      <p:sp>
        <p:nvSpPr>
          <p:cNvPr id="8" name="Shape 6"/>
          <p:cNvSpPr/>
          <p:nvPr/>
        </p:nvSpPr>
        <p:spPr>
          <a:xfrm>
            <a:off x="685800" y="2459736"/>
            <a:ext cx="4892040" cy="3712464"/>
          </a:xfrm>
          <a:prstGeom prst="roundRect">
            <a:avLst>
              <a:gd name="adj" fmla="val 1478"/>
            </a:avLst>
          </a:prstGeom>
          <a:solidFill>
            <a:srgbClr val="0D1912"/>
          </a:solidFill>
        </p:spPr>
      </p:sp>
      <p:sp>
        <p:nvSpPr>
          <p:cNvPr id="9" name="Text 7"/>
          <p:cNvSpPr/>
          <p:nvPr/>
        </p:nvSpPr>
        <p:spPr>
          <a:xfrm>
            <a:off x="822960" y="2551176"/>
            <a:ext cx="4617720" cy="3529584"/>
          </a:xfrm>
          <a:prstGeom prst="rect">
            <a:avLst/>
          </a:prstGeom>
          <a:noFill/>
        </p:spPr>
        <p:txBody>
          <a:bodyPr wrap="square" rtlCol="0" anchor="t"/>
          <a:lstStyle/>
          <a:p>
            <a:pPr marL="0" indent="0">
              <a:lnSpc>
                <a:spcPct val="120000"/>
              </a:lnSpc>
              <a:buNone/>
            </a:pPr>
            <a:r>
              <a:rPr lang="en-US" sz="1050" dirty="0">
                <a:solidFill>
                  <a:srgbClr val="CFEFE0"/>
                </a:solidFill>
                <a:latin typeface="Courier New" panose="02070309020205020404" pitchFamily="34" charset="0"/>
                <a:ea typeface="Courier New" panose="02070309020205020404" pitchFamily="34" charset="-122"/>
                <a:cs typeface="Courier New" panose="02070309020205020404" pitchFamily="34" charset="-120"/>
              </a:rPr>
              <a:t>Syntax: cp source destination</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Example</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cp notes.txt backup.txt</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Copy a folder</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cp -r Folder BackupFolder</a:t>
            </a:r>
            <a:endParaRPr lang="en-US" sz="1050" dirty="0"/>
          </a:p>
        </p:txBody>
      </p:sp>
      <p:sp>
        <p:nvSpPr>
          <p:cNvPr id="10" name="Shape 8"/>
          <p:cNvSpPr/>
          <p:nvPr/>
        </p:nvSpPr>
        <p:spPr>
          <a:xfrm>
            <a:off x="6080760" y="1417320"/>
            <a:ext cx="5349240" cy="4892040"/>
          </a:xfrm>
          <a:prstGeom prst="roundRect">
            <a:avLst>
              <a:gd name="adj" fmla="val 1869"/>
            </a:avLst>
          </a:prstGeom>
          <a:solidFill>
            <a:srgbClr val="F1F5F2"/>
          </a:solidFill>
        </p:spPr>
      </p:sp>
      <p:sp>
        <p:nvSpPr>
          <p:cNvPr id="11" name="Shape 9"/>
          <p:cNvSpPr/>
          <p:nvPr/>
        </p:nvSpPr>
        <p:spPr>
          <a:xfrm>
            <a:off x="6263640" y="1600200"/>
            <a:ext cx="365760" cy="365760"/>
          </a:xfrm>
          <a:prstGeom prst="ellipse">
            <a:avLst/>
          </a:prstGeom>
          <a:solidFill>
            <a:srgbClr val="22C55E"/>
          </a:solidFill>
        </p:spPr>
      </p:sp>
      <p:sp>
        <p:nvSpPr>
          <p:cNvPr id="12" name="Text 10"/>
          <p:cNvSpPr/>
          <p:nvPr/>
        </p:nvSpPr>
        <p:spPr>
          <a:xfrm>
            <a:off x="6263640" y="1600200"/>
            <a:ext cx="365760" cy="36576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8</a:t>
            </a:r>
            <a:endParaRPr lang="en-US" sz="1400" dirty="0"/>
          </a:p>
        </p:txBody>
      </p:sp>
      <p:sp>
        <p:nvSpPr>
          <p:cNvPr id="13" name="Text 11"/>
          <p:cNvSpPr/>
          <p:nvPr/>
        </p:nvSpPr>
        <p:spPr>
          <a:xfrm>
            <a:off x="6766560" y="1563624"/>
            <a:ext cx="4434840" cy="438912"/>
          </a:xfrm>
          <a:prstGeom prst="rect">
            <a:avLst/>
          </a:prstGeom>
          <a:noFill/>
        </p:spPr>
        <p:txBody>
          <a:bodyPr wrap="square" rtlCol="0" anchor="ctr"/>
          <a:lstStyle/>
          <a:p>
            <a:pPr marL="0" indent="0">
              <a:buNone/>
            </a:pPr>
            <a:r>
              <a:rPr lang="en-US" sz="17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mv</a:t>
            </a:r>
            <a:endParaRPr lang="en-US" sz="1700" dirty="0"/>
          </a:p>
        </p:txBody>
      </p:sp>
      <p:sp>
        <p:nvSpPr>
          <p:cNvPr id="14" name="Text 12"/>
          <p:cNvSpPr/>
          <p:nvPr/>
        </p:nvSpPr>
        <p:spPr>
          <a:xfrm>
            <a:off x="6309360" y="2039112"/>
            <a:ext cx="4892040" cy="384048"/>
          </a:xfrm>
          <a:prstGeom prst="rect">
            <a:avLst/>
          </a:prstGeom>
          <a:noFill/>
        </p:spPr>
        <p:txBody>
          <a:bodyPr wrap="square" rtlCol="0" anchor="ctr"/>
          <a:lstStyle/>
          <a:p>
            <a:pPr marL="0" indent="0">
              <a:lnSpc>
                <a:spcPct val="110000"/>
              </a:lnSpc>
              <a:buNone/>
            </a:pPr>
            <a:r>
              <a:rPr lang="en-US" sz="1150" dirty="0">
                <a:solidFill>
                  <a:srgbClr val="16241C"/>
                </a:solidFill>
                <a:latin typeface="Calibri" panose="020F0502020204030204" pitchFamily="34" charset="0"/>
                <a:ea typeface="Calibri" panose="020F0502020204030204" pitchFamily="34" charset="-122"/>
                <a:cs typeface="Calibri" panose="020F0502020204030204" pitchFamily="34" charset="-120"/>
              </a:rPr>
              <a:t>Move — moves or renames files.</a:t>
            </a:r>
            <a:endParaRPr lang="en-US" sz="1150" dirty="0"/>
          </a:p>
        </p:txBody>
      </p:sp>
      <p:sp>
        <p:nvSpPr>
          <p:cNvPr id="15" name="Shape 13"/>
          <p:cNvSpPr/>
          <p:nvPr/>
        </p:nvSpPr>
        <p:spPr>
          <a:xfrm>
            <a:off x="6309360" y="2459736"/>
            <a:ext cx="4892040" cy="3712464"/>
          </a:xfrm>
          <a:prstGeom prst="roundRect">
            <a:avLst>
              <a:gd name="adj" fmla="val 1478"/>
            </a:avLst>
          </a:prstGeom>
          <a:solidFill>
            <a:srgbClr val="0D1912"/>
          </a:solidFill>
        </p:spPr>
      </p:sp>
      <p:sp>
        <p:nvSpPr>
          <p:cNvPr id="16" name="Text 14"/>
          <p:cNvSpPr/>
          <p:nvPr/>
        </p:nvSpPr>
        <p:spPr>
          <a:xfrm>
            <a:off x="6446520" y="2551176"/>
            <a:ext cx="4617720" cy="3529584"/>
          </a:xfrm>
          <a:prstGeom prst="rect">
            <a:avLst/>
          </a:prstGeom>
          <a:noFill/>
        </p:spPr>
        <p:txBody>
          <a:bodyPr wrap="square" rtlCol="0" anchor="t"/>
          <a:lstStyle/>
          <a:p>
            <a:pPr marL="0" indent="0">
              <a:lnSpc>
                <a:spcPct val="120000"/>
              </a:lnSpc>
              <a:buNone/>
            </a:pPr>
            <a:r>
              <a:rPr lang="en-US" sz="1050" dirty="0">
                <a:solidFill>
                  <a:srgbClr val="CFEFE0"/>
                </a:solidFill>
                <a:latin typeface="Courier New" panose="02070309020205020404" pitchFamily="34" charset="0"/>
                <a:ea typeface="Courier New" panose="02070309020205020404" pitchFamily="34" charset="-122"/>
                <a:cs typeface="Courier New" panose="02070309020205020404" pitchFamily="34" charset="-120"/>
              </a:rPr>
              <a:t>Syntax: mv old new</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Rename file</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mv notes.txt report.txt</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Move file</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mv report.txt Documents/</a:t>
            </a:r>
            <a:endParaRPr lang="en-US" sz="1050" dirty="0"/>
          </a:p>
        </p:txBody>
      </p:sp>
      <p:sp>
        <p:nvSpPr>
          <p:cNvPr id="17" name="Text 15"/>
          <p:cNvSpPr/>
          <p:nvPr/>
        </p:nvSpPr>
        <p:spPr>
          <a:xfrm>
            <a:off x="457200" y="6510528"/>
            <a:ext cx="7315200" cy="274320"/>
          </a:xfrm>
          <a:prstGeom prst="rect">
            <a:avLst/>
          </a:prstGeom>
          <a:noFill/>
        </p:spPr>
        <p:txBody>
          <a:bodyPr wrap="square" rtlCol="0" anchor="ctr"/>
          <a:lstStyle/>
          <a:p>
            <a:pPr marL="0" indent="0" algn="l">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Day 12 · Linux Commands</a:t>
            </a:r>
            <a:endParaRPr lang="en-US" sz="1000" dirty="0"/>
          </a:p>
        </p:txBody>
      </p:sp>
      <p:sp>
        <p:nvSpPr>
          <p:cNvPr id="18" name="Text 16"/>
          <p:cNvSpPr/>
          <p:nvPr/>
        </p:nvSpPr>
        <p:spPr>
          <a:xfrm>
            <a:off x="11274552" y="6510528"/>
            <a:ext cx="457200" cy="274320"/>
          </a:xfrm>
          <a:prstGeom prst="rect">
            <a:avLst/>
          </a:prstGeom>
          <a:noFill/>
        </p:spPr>
        <p:txBody>
          <a:bodyPr wrap="square" rtlCol="0" anchor="ctr"/>
          <a:lstStyle/>
          <a:p>
            <a:pPr marL="0" indent="0" algn="r">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p:spPr>
        <p:txBody>
          <a:bodyPr wrap="square" rtlCol="0" anchor="ctr"/>
          <a:lstStyle/>
          <a:p>
            <a:pPr marL="0" indent="0">
              <a:buNone/>
            </a:pPr>
            <a:r>
              <a:rPr lang="en-US" sz="2800" b="1" dirty="0">
                <a:solidFill>
                  <a:srgbClr val="16241C"/>
                </a:solidFill>
                <a:latin typeface="Cambria" panose="02040503050406030204" pitchFamily="34" charset="0"/>
                <a:ea typeface="Cambria" panose="02040503050406030204" pitchFamily="34" charset="-122"/>
                <a:cs typeface="Cambria" panose="02040503050406030204" pitchFamily="34" charset="-120"/>
              </a:rPr>
              <a:t>rm &amp; cat</a:t>
            </a:r>
            <a:endParaRPr lang="en-US" sz="2800" dirty="0"/>
          </a:p>
        </p:txBody>
      </p:sp>
      <p:sp>
        <p:nvSpPr>
          <p:cNvPr id="3" name="Shape 1"/>
          <p:cNvSpPr/>
          <p:nvPr/>
        </p:nvSpPr>
        <p:spPr>
          <a:xfrm>
            <a:off x="457200" y="1417320"/>
            <a:ext cx="5349240" cy="4251960"/>
          </a:xfrm>
          <a:prstGeom prst="roundRect">
            <a:avLst>
              <a:gd name="adj" fmla="val 2151"/>
            </a:avLst>
          </a:prstGeom>
          <a:solidFill>
            <a:srgbClr val="F1F5F2"/>
          </a:solidFill>
        </p:spPr>
      </p:sp>
      <p:sp>
        <p:nvSpPr>
          <p:cNvPr id="4" name="Shape 2"/>
          <p:cNvSpPr/>
          <p:nvPr/>
        </p:nvSpPr>
        <p:spPr>
          <a:xfrm>
            <a:off x="640080" y="1600200"/>
            <a:ext cx="365760" cy="365760"/>
          </a:xfrm>
          <a:prstGeom prst="ellipse">
            <a:avLst/>
          </a:prstGeom>
          <a:solidFill>
            <a:srgbClr val="22C55E"/>
          </a:solidFill>
        </p:spPr>
      </p:sp>
      <p:sp>
        <p:nvSpPr>
          <p:cNvPr id="5" name="Text 3"/>
          <p:cNvSpPr/>
          <p:nvPr/>
        </p:nvSpPr>
        <p:spPr>
          <a:xfrm>
            <a:off x="640080" y="1600200"/>
            <a:ext cx="365760" cy="36576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9</a:t>
            </a:r>
            <a:endParaRPr lang="en-US" sz="1400" dirty="0"/>
          </a:p>
        </p:txBody>
      </p:sp>
      <p:sp>
        <p:nvSpPr>
          <p:cNvPr id="6" name="Text 4"/>
          <p:cNvSpPr/>
          <p:nvPr/>
        </p:nvSpPr>
        <p:spPr>
          <a:xfrm>
            <a:off x="1143000" y="1563624"/>
            <a:ext cx="4434840" cy="438912"/>
          </a:xfrm>
          <a:prstGeom prst="rect">
            <a:avLst/>
          </a:prstGeom>
          <a:noFill/>
        </p:spPr>
        <p:txBody>
          <a:bodyPr wrap="square" rtlCol="0" anchor="ctr"/>
          <a:lstStyle/>
          <a:p>
            <a:pPr marL="0" indent="0">
              <a:buNone/>
            </a:pPr>
            <a:r>
              <a:rPr lang="en-US" sz="17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rm</a:t>
            </a:r>
            <a:endParaRPr lang="en-US" sz="1700" dirty="0"/>
          </a:p>
        </p:txBody>
      </p:sp>
      <p:sp>
        <p:nvSpPr>
          <p:cNvPr id="7" name="Text 5"/>
          <p:cNvSpPr/>
          <p:nvPr/>
        </p:nvSpPr>
        <p:spPr>
          <a:xfrm>
            <a:off x="685800" y="2039112"/>
            <a:ext cx="4892040" cy="384048"/>
          </a:xfrm>
          <a:prstGeom prst="rect">
            <a:avLst/>
          </a:prstGeom>
          <a:noFill/>
        </p:spPr>
        <p:txBody>
          <a:bodyPr wrap="square" rtlCol="0" anchor="ctr"/>
          <a:lstStyle/>
          <a:p>
            <a:pPr marL="0" indent="0">
              <a:lnSpc>
                <a:spcPct val="110000"/>
              </a:lnSpc>
              <a:buNone/>
            </a:pPr>
            <a:r>
              <a:rPr lang="en-US" sz="1150" dirty="0">
                <a:solidFill>
                  <a:srgbClr val="16241C"/>
                </a:solidFill>
                <a:latin typeface="Calibri" panose="020F0502020204030204" pitchFamily="34" charset="0"/>
                <a:ea typeface="Calibri" panose="020F0502020204030204" pitchFamily="34" charset="-122"/>
                <a:cs typeface="Calibri" panose="020F0502020204030204" pitchFamily="34" charset="-120"/>
              </a:rPr>
              <a:t>Remove — deletes files.</a:t>
            </a:r>
            <a:endParaRPr lang="en-US" sz="1150" dirty="0"/>
          </a:p>
        </p:txBody>
      </p:sp>
      <p:sp>
        <p:nvSpPr>
          <p:cNvPr id="8" name="Shape 6"/>
          <p:cNvSpPr/>
          <p:nvPr/>
        </p:nvSpPr>
        <p:spPr>
          <a:xfrm>
            <a:off x="685800" y="2459736"/>
            <a:ext cx="4892040" cy="3072384"/>
          </a:xfrm>
          <a:prstGeom prst="roundRect">
            <a:avLst>
              <a:gd name="adj" fmla="val 1786"/>
            </a:avLst>
          </a:prstGeom>
          <a:solidFill>
            <a:srgbClr val="0D1912"/>
          </a:solidFill>
        </p:spPr>
      </p:sp>
      <p:sp>
        <p:nvSpPr>
          <p:cNvPr id="9" name="Text 7"/>
          <p:cNvSpPr/>
          <p:nvPr/>
        </p:nvSpPr>
        <p:spPr>
          <a:xfrm>
            <a:off x="822960" y="2551176"/>
            <a:ext cx="4617720" cy="2889504"/>
          </a:xfrm>
          <a:prstGeom prst="rect">
            <a:avLst/>
          </a:prstGeom>
          <a:noFill/>
        </p:spPr>
        <p:txBody>
          <a:bodyPr wrap="square" rtlCol="0" anchor="t"/>
          <a:lstStyle/>
          <a:p>
            <a:pPr marL="0" indent="0">
              <a:lnSpc>
                <a:spcPct val="120000"/>
              </a:lnSpc>
              <a:buNone/>
            </a:pPr>
            <a:r>
              <a:rPr lang="en-US" sz="1050" dirty="0">
                <a:solidFill>
                  <a:srgbClr val="CFEFE0"/>
                </a:solidFill>
                <a:latin typeface="Courier New" panose="02070309020205020404" pitchFamily="34" charset="0"/>
                <a:ea typeface="Courier New" panose="02070309020205020404" pitchFamily="34" charset="-122"/>
                <a:cs typeface="Courier New" panose="02070309020205020404" pitchFamily="34" charset="-120"/>
              </a:rPr>
              <a:t>Syntax: rm filename</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Example</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rm report.txt</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Delete folder</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rm -r Folder</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Force delete</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rm -rf Folder</a:t>
            </a:r>
            <a:endParaRPr lang="en-US" sz="1050" dirty="0"/>
          </a:p>
        </p:txBody>
      </p:sp>
      <p:sp>
        <p:nvSpPr>
          <p:cNvPr id="10" name="Shape 8"/>
          <p:cNvSpPr/>
          <p:nvPr/>
        </p:nvSpPr>
        <p:spPr>
          <a:xfrm>
            <a:off x="6080760" y="1417320"/>
            <a:ext cx="5349240" cy="4251960"/>
          </a:xfrm>
          <a:prstGeom prst="roundRect">
            <a:avLst>
              <a:gd name="adj" fmla="val 2151"/>
            </a:avLst>
          </a:prstGeom>
          <a:solidFill>
            <a:srgbClr val="F1F5F2"/>
          </a:solidFill>
        </p:spPr>
      </p:sp>
      <p:sp>
        <p:nvSpPr>
          <p:cNvPr id="11" name="Shape 9"/>
          <p:cNvSpPr/>
          <p:nvPr/>
        </p:nvSpPr>
        <p:spPr>
          <a:xfrm>
            <a:off x="6263640" y="1600200"/>
            <a:ext cx="365760" cy="365760"/>
          </a:xfrm>
          <a:prstGeom prst="ellipse">
            <a:avLst/>
          </a:prstGeom>
          <a:solidFill>
            <a:srgbClr val="22C55E"/>
          </a:solidFill>
        </p:spPr>
      </p:sp>
      <p:sp>
        <p:nvSpPr>
          <p:cNvPr id="12" name="Text 10"/>
          <p:cNvSpPr/>
          <p:nvPr/>
        </p:nvSpPr>
        <p:spPr>
          <a:xfrm>
            <a:off x="6263640" y="1600200"/>
            <a:ext cx="365760" cy="36576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a:t>
            </a:r>
            <a:endParaRPr lang="en-US" sz="1400" dirty="0"/>
          </a:p>
        </p:txBody>
      </p:sp>
      <p:sp>
        <p:nvSpPr>
          <p:cNvPr id="13" name="Text 11"/>
          <p:cNvSpPr/>
          <p:nvPr/>
        </p:nvSpPr>
        <p:spPr>
          <a:xfrm>
            <a:off x="6766560" y="1563624"/>
            <a:ext cx="4434840" cy="438912"/>
          </a:xfrm>
          <a:prstGeom prst="rect">
            <a:avLst/>
          </a:prstGeom>
          <a:noFill/>
        </p:spPr>
        <p:txBody>
          <a:bodyPr wrap="square" rtlCol="0" anchor="ctr"/>
          <a:lstStyle/>
          <a:p>
            <a:pPr marL="0" indent="0">
              <a:buNone/>
            </a:pPr>
            <a:r>
              <a:rPr lang="en-US" sz="17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cat</a:t>
            </a:r>
            <a:endParaRPr lang="en-US" sz="1700" dirty="0"/>
          </a:p>
        </p:txBody>
      </p:sp>
      <p:sp>
        <p:nvSpPr>
          <p:cNvPr id="14" name="Text 12"/>
          <p:cNvSpPr/>
          <p:nvPr/>
        </p:nvSpPr>
        <p:spPr>
          <a:xfrm>
            <a:off x="6309360" y="2039112"/>
            <a:ext cx="4892040" cy="384048"/>
          </a:xfrm>
          <a:prstGeom prst="rect">
            <a:avLst/>
          </a:prstGeom>
          <a:noFill/>
        </p:spPr>
        <p:txBody>
          <a:bodyPr wrap="square" rtlCol="0" anchor="ctr"/>
          <a:lstStyle/>
          <a:p>
            <a:pPr marL="0" indent="0">
              <a:lnSpc>
                <a:spcPct val="110000"/>
              </a:lnSpc>
              <a:buNone/>
            </a:pPr>
            <a:r>
              <a:rPr lang="en-US" sz="1150" dirty="0">
                <a:solidFill>
                  <a:srgbClr val="16241C"/>
                </a:solidFill>
                <a:latin typeface="Calibri" panose="020F0502020204030204" pitchFamily="34" charset="0"/>
                <a:ea typeface="Calibri" panose="020F0502020204030204" pitchFamily="34" charset="-122"/>
                <a:cs typeface="Calibri" panose="020F0502020204030204" pitchFamily="34" charset="-120"/>
              </a:rPr>
              <a:t>Concatenate — displays the contents of a file.</a:t>
            </a:r>
            <a:endParaRPr lang="en-US" sz="1150" dirty="0"/>
          </a:p>
        </p:txBody>
      </p:sp>
      <p:sp>
        <p:nvSpPr>
          <p:cNvPr id="15" name="Shape 13"/>
          <p:cNvSpPr/>
          <p:nvPr/>
        </p:nvSpPr>
        <p:spPr>
          <a:xfrm>
            <a:off x="6309360" y="2459736"/>
            <a:ext cx="4892040" cy="3072384"/>
          </a:xfrm>
          <a:prstGeom prst="roundRect">
            <a:avLst>
              <a:gd name="adj" fmla="val 1786"/>
            </a:avLst>
          </a:prstGeom>
          <a:solidFill>
            <a:srgbClr val="0D1912"/>
          </a:solidFill>
        </p:spPr>
      </p:sp>
      <p:sp>
        <p:nvSpPr>
          <p:cNvPr id="16" name="Text 14"/>
          <p:cNvSpPr/>
          <p:nvPr/>
        </p:nvSpPr>
        <p:spPr>
          <a:xfrm>
            <a:off x="6446520" y="2551176"/>
            <a:ext cx="4617720" cy="2889504"/>
          </a:xfrm>
          <a:prstGeom prst="rect">
            <a:avLst/>
          </a:prstGeom>
          <a:noFill/>
        </p:spPr>
        <p:txBody>
          <a:bodyPr wrap="square" rtlCol="0" anchor="t"/>
          <a:lstStyle/>
          <a:p>
            <a:pPr marL="0" indent="0">
              <a:lnSpc>
                <a:spcPct val="120000"/>
              </a:lnSpc>
              <a:buNone/>
            </a:pPr>
            <a:r>
              <a:rPr lang="en-US" sz="1050" dirty="0">
                <a:solidFill>
                  <a:srgbClr val="CFEFE0"/>
                </a:solidFill>
                <a:latin typeface="Courier New" panose="02070309020205020404" pitchFamily="34" charset="0"/>
                <a:ea typeface="Courier New" panose="02070309020205020404" pitchFamily="34" charset="-122"/>
                <a:cs typeface="Courier New" panose="02070309020205020404" pitchFamily="34" charset="-120"/>
              </a:rPr>
              <a:t>Syntax: cat filename</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Example</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cat notes.txt</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Create a file (exit: Ctrl + D)</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cat &gt; notes.txt</a:t>
            </a:r>
            <a:endParaRPr lang="en-US" sz="1050" dirty="0"/>
          </a:p>
        </p:txBody>
      </p:sp>
      <p:sp>
        <p:nvSpPr>
          <p:cNvPr id="17" name="Shape 15"/>
          <p:cNvSpPr/>
          <p:nvPr/>
        </p:nvSpPr>
        <p:spPr>
          <a:xfrm>
            <a:off x="457200" y="5806440"/>
            <a:ext cx="11274552" cy="502920"/>
          </a:xfrm>
          <a:prstGeom prst="roundRect">
            <a:avLst>
              <a:gd name="adj" fmla="val 10909"/>
            </a:avLst>
          </a:prstGeom>
          <a:solidFill>
            <a:srgbClr val="FDECEC"/>
          </a:solidFill>
        </p:spPr>
      </p:sp>
      <p:sp>
        <p:nvSpPr>
          <p:cNvPr id="18" name="Text 16"/>
          <p:cNvSpPr/>
          <p:nvPr/>
        </p:nvSpPr>
        <p:spPr>
          <a:xfrm>
            <a:off x="594360" y="5806440"/>
            <a:ext cx="11000232" cy="502920"/>
          </a:xfrm>
          <a:prstGeom prst="rect">
            <a:avLst/>
          </a:prstGeom>
          <a:noFill/>
        </p:spPr>
        <p:txBody>
          <a:bodyPr wrap="square" rtlCol="0" anchor="ctr"/>
          <a:lstStyle/>
          <a:p>
            <a:pPr marL="0" indent="0">
              <a:buNone/>
            </a:pPr>
            <a:r>
              <a:rPr lang="en-US" sz="1150" b="1" dirty="0">
                <a:solidFill>
                  <a:srgbClr val="A32D2D"/>
                </a:solidFill>
                <a:latin typeface="Calibri" panose="020F0502020204030204" pitchFamily="34" charset="0"/>
                <a:ea typeface="Calibri" panose="020F0502020204030204" pitchFamily="34" charset="-122"/>
                <a:cs typeface="Calibri" panose="020F0502020204030204" pitchFamily="34" charset="-120"/>
              </a:rPr>
              <a:t>⚠ Warning: rm -rf permanently deletes files and folders without confirmation. Use it carefully.</a:t>
            </a:r>
            <a:endParaRPr lang="en-US" sz="1150" dirty="0"/>
          </a:p>
        </p:txBody>
      </p:sp>
      <p:sp>
        <p:nvSpPr>
          <p:cNvPr id="19" name="Text 17"/>
          <p:cNvSpPr/>
          <p:nvPr/>
        </p:nvSpPr>
        <p:spPr>
          <a:xfrm>
            <a:off x="457200" y="6510528"/>
            <a:ext cx="7315200" cy="274320"/>
          </a:xfrm>
          <a:prstGeom prst="rect">
            <a:avLst/>
          </a:prstGeom>
          <a:noFill/>
        </p:spPr>
        <p:txBody>
          <a:bodyPr wrap="square" rtlCol="0" anchor="ctr"/>
          <a:lstStyle/>
          <a:p>
            <a:pPr marL="0" indent="0" algn="l">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Day 12 · Linux Commands</a:t>
            </a:r>
            <a:endParaRPr lang="en-US" sz="1000" dirty="0"/>
          </a:p>
        </p:txBody>
      </p:sp>
      <p:sp>
        <p:nvSpPr>
          <p:cNvPr id="20" name="Text 18"/>
          <p:cNvSpPr/>
          <p:nvPr/>
        </p:nvSpPr>
        <p:spPr>
          <a:xfrm>
            <a:off x="11274552" y="6510528"/>
            <a:ext cx="457200" cy="274320"/>
          </a:xfrm>
          <a:prstGeom prst="rect">
            <a:avLst/>
          </a:prstGeom>
          <a:noFill/>
        </p:spPr>
        <p:txBody>
          <a:bodyPr wrap="square" rtlCol="0" anchor="ctr"/>
          <a:lstStyle/>
          <a:p>
            <a:pPr marL="0" indent="0" algn="r">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p:spPr>
        <p:txBody>
          <a:bodyPr wrap="square" rtlCol="0" anchor="ctr"/>
          <a:lstStyle/>
          <a:p>
            <a:pPr marL="0" indent="0">
              <a:buNone/>
            </a:pPr>
            <a:r>
              <a:rPr lang="en-US" sz="2800" b="1" dirty="0">
                <a:solidFill>
                  <a:srgbClr val="16241C"/>
                </a:solidFill>
                <a:latin typeface="Cambria" panose="02040503050406030204" pitchFamily="34" charset="0"/>
                <a:ea typeface="Cambria" panose="02040503050406030204" pitchFamily="34" charset="-122"/>
                <a:cs typeface="Cambria" panose="02040503050406030204" pitchFamily="34" charset="-120"/>
              </a:rPr>
              <a:t>nano &amp; chown</a:t>
            </a:r>
            <a:endParaRPr lang="en-US" sz="2800" dirty="0"/>
          </a:p>
        </p:txBody>
      </p:sp>
      <p:sp>
        <p:nvSpPr>
          <p:cNvPr id="3" name="Shape 1"/>
          <p:cNvSpPr/>
          <p:nvPr/>
        </p:nvSpPr>
        <p:spPr>
          <a:xfrm>
            <a:off x="457200" y="1417320"/>
            <a:ext cx="5349240" cy="4892040"/>
          </a:xfrm>
          <a:prstGeom prst="roundRect">
            <a:avLst>
              <a:gd name="adj" fmla="val 1869"/>
            </a:avLst>
          </a:prstGeom>
          <a:solidFill>
            <a:srgbClr val="F1F5F2"/>
          </a:solidFill>
        </p:spPr>
      </p:sp>
      <p:sp>
        <p:nvSpPr>
          <p:cNvPr id="4" name="Shape 2"/>
          <p:cNvSpPr/>
          <p:nvPr/>
        </p:nvSpPr>
        <p:spPr>
          <a:xfrm>
            <a:off x="640080" y="1600200"/>
            <a:ext cx="365760" cy="365760"/>
          </a:xfrm>
          <a:prstGeom prst="ellipse">
            <a:avLst/>
          </a:prstGeom>
          <a:solidFill>
            <a:srgbClr val="22C55E"/>
          </a:solidFill>
        </p:spPr>
      </p:sp>
      <p:sp>
        <p:nvSpPr>
          <p:cNvPr id="5" name="Text 3"/>
          <p:cNvSpPr/>
          <p:nvPr/>
        </p:nvSpPr>
        <p:spPr>
          <a:xfrm>
            <a:off x="640080" y="1600200"/>
            <a:ext cx="365760" cy="36576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11</a:t>
            </a:r>
            <a:endParaRPr lang="en-US" sz="1400" dirty="0"/>
          </a:p>
        </p:txBody>
      </p:sp>
      <p:sp>
        <p:nvSpPr>
          <p:cNvPr id="6" name="Text 4"/>
          <p:cNvSpPr/>
          <p:nvPr/>
        </p:nvSpPr>
        <p:spPr>
          <a:xfrm>
            <a:off x="1143000" y="1563624"/>
            <a:ext cx="4434840" cy="438912"/>
          </a:xfrm>
          <a:prstGeom prst="rect">
            <a:avLst/>
          </a:prstGeom>
          <a:noFill/>
        </p:spPr>
        <p:txBody>
          <a:bodyPr wrap="square" rtlCol="0" anchor="ctr"/>
          <a:lstStyle/>
          <a:p>
            <a:pPr marL="0" indent="0">
              <a:buNone/>
            </a:pPr>
            <a:r>
              <a:rPr lang="en-US" sz="17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nano</a:t>
            </a:r>
            <a:endParaRPr lang="en-US" sz="1700" dirty="0"/>
          </a:p>
        </p:txBody>
      </p:sp>
      <p:sp>
        <p:nvSpPr>
          <p:cNvPr id="7" name="Text 5"/>
          <p:cNvSpPr/>
          <p:nvPr/>
        </p:nvSpPr>
        <p:spPr>
          <a:xfrm>
            <a:off x="685800" y="2039112"/>
            <a:ext cx="4892040" cy="384048"/>
          </a:xfrm>
          <a:prstGeom prst="rect">
            <a:avLst/>
          </a:prstGeom>
          <a:noFill/>
        </p:spPr>
        <p:txBody>
          <a:bodyPr wrap="square" rtlCol="0" anchor="ctr"/>
          <a:lstStyle/>
          <a:p>
            <a:pPr marL="0" indent="0">
              <a:lnSpc>
                <a:spcPct val="110000"/>
              </a:lnSpc>
              <a:buNone/>
            </a:pPr>
            <a:r>
              <a:rPr lang="en-US" sz="1150" dirty="0">
                <a:solidFill>
                  <a:srgbClr val="16241C"/>
                </a:solidFill>
                <a:latin typeface="Calibri" panose="020F0502020204030204" pitchFamily="34" charset="0"/>
                <a:ea typeface="Calibri" panose="020F0502020204030204" pitchFamily="34" charset="-122"/>
                <a:cs typeface="Calibri" panose="020F0502020204030204" pitchFamily="34" charset="-120"/>
              </a:rPr>
              <a:t>A simple text editor.</a:t>
            </a:r>
            <a:endParaRPr lang="en-US" sz="1150" dirty="0"/>
          </a:p>
        </p:txBody>
      </p:sp>
      <p:sp>
        <p:nvSpPr>
          <p:cNvPr id="8" name="Shape 6"/>
          <p:cNvSpPr/>
          <p:nvPr/>
        </p:nvSpPr>
        <p:spPr>
          <a:xfrm>
            <a:off x="685800" y="2459736"/>
            <a:ext cx="4892040" cy="3712464"/>
          </a:xfrm>
          <a:prstGeom prst="roundRect">
            <a:avLst>
              <a:gd name="adj" fmla="val 1478"/>
            </a:avLst>
          </a:prstGeom>
          <a:solidFill>
            <a:srgbClr val="0D1912"/>
          </a:solidFill>
        </p:spPr>
      </p:sp>
      <p:sp>
        <p:nvSpPr>
          <p:cNvPr id="9" name="Text 7"/>
          <p:cNvSpPr/>
          <p:nvPr/>
        </p:nvSpPr>
        <p:spPr>
          <a:xfrm>
            <a:off x="822960" y="2551176"/>
            <a:ext cx="4617720" cy="3529584"/>
          </a:xfrm>
          <a:prstGeom prst="rect">
            <a:avLst/>
          </a:prstGeom>
          <a:noFill/>
        </p:spPr>
        <p:txBody>
          <a:bodyPr wrap="square" rtlCol="0" anchor="t"/>
          <a:lstStyle/>
          <a:p>
            <a:pPr marL="0" indent="0">
              <a:lnSpc>
                <a:spcPct val="120000"/>
              </a:lnSpc>
              <a:buNone/>
            </a:pPr>
            <a:r>
              <a:rPr lang="en-US" sz="1050" dirty="0">
                <a:solidFill>
                  <a:srgbClr val="CFEFE0"/>
                </a:solidFill>
                <a:latin typeface="Courier New" panose="02070309020205020404" pitchFamily="34" charset="0"/>
                <a:ea typeface="Courier New" panose="02070309020205020404" pitchFamily="34" charset="-122"/>
                <a:cs typeface="Courier New" panose="02070309020205020404" pitchFamily="34" charset="-120"/>
              </a:rPr>
              <a:t>Syntax: nano filename</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Example</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nano notes.txt</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Save file</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Ctrl + O</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Exit</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Ctrl + X</a:t>
            </a:r>
            <a:endParaRPr lang="en-US" sz="1050" dirty="0"/>
          </a:p>
        </p:txBody>
      </p:sp>
      <p:sp>
        <p:nvSpPr>
          <p:cNvPr id="10" name="Shape 8"/>
          <p:cNvSpPr/>
          <p:nvPr/>
        </p:nvSpPr>
        <p:spPr>
          <a:xfrm>
            <a:off x="6080760" y="1417320"/>
            <a:ext cx="5349240" cy="4892040"/>
          </a:xfrm>
          <a:prstGeom prst="roundRect">
            <a:avLst>
              <a:gd name="adj" fmla="val 1869"/>
            </a:avLst>
          </a:prstGeom>
          <a:solidFill>
            <a:srgbClr val="F1F5F2"/>
          </a:solidFill>
        </p:spPr>
      </p:sp>
      <p:sp>
        <p:nvSpPr>
          <p:cNvPr id="11" name="Shape 9"/>
          <p:cNvSpPr/>
          <p:nvPr/>
        </p:nvSpPr>
        <p:spPr>
          <a:xfrm>
            <a:off x="6263640" y="1600200"/>
            <a:ext cx="365760" cy="365760"/>
          </a:xfrm>
          <a:prstGeom prst="ellipse">
            <a:avLst/>
          </a:prstGeom>
          <a:solidFill>
            <a:srgbClr val="22C55E"/>
          </a:solidFill>
        </p:spPr>
      </p:sp>
      <p:sp>
        <p:nvSpPr>
          <p:cNvPr id="12" name="Text 10"/>
          <p:cNvSpPr/>
          <p:nvPr/>
        </p:nvSpPr>
        <p:spPr>
          <a:xfrm>
            <a:off x="6263640" y="1600200"/>
            <a:ext cx="365760" cy="36576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13</a:t>
            </a:r>
            <a:endParaRPr lang="en-US" sz="1400" dirty="0"/>
          </a:p>
        </p:txBody>
      </p:sp>
      <p:sp>
        <p:nvSpPr>
          <p:cNvPr id="13" name="Text 11"/>
          <p:cNvSpPr/>
          <p:nvPr/>
        </p:nvSpPr>
        <p:spPr>
          <a:xfrm>
            <a:off x="6766560" y="1563624"/>
            <a:ext cx="4434840" cy="438912"/>
          </a:xfrm>
          <a:prstGeom prst="rect">
            <a:avLst/>
          </a:prstGeom>
          <a:noFill/>
        </p:spPr>
        <p:txBody>
          <a:bodyPr wrap="square" rtlCol="0" anchor="ctr"/>
          <a:lstStyle/>
          <a:p>
            <a:pPr marL="0" indent="0">
              <a:buNone/>
            </a:pPr>
            <a:r>
              <a:rPr lang="en-US" sz="17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chown</a:t>
            </a:r>
            <a:endParaRPr lang="en-US" sz="1700" dirty="0"/>
          </a:p>
        </p:txBody>
      </p:sp>
      <p:sp>
        <p:nvSpPr>
          <p:cNvPr id="14" name="Text 12"/>
          <p:cNvSpPr/>
          <p:nvPr/>
        </p:nvSpPr>
        <p:spPr>
          <a:xfrm>
            <a:off x="6309360" y="2039112"/>
            <a:ext cx="4892040" cy="384048"/>
          </a:xfrm>
          <a:prstGeom prst="rect">
            <a:avLst/>
          </a:prstGeom>
          <a:noFill/>
        </p:spPr>
        <p:txBody>
          <a:bodyPr wrap="square" rtlCol="0" anchor="ctr"/>
          <a:lstStyle/>
          <a:p>
            <a:pPr marL="0" indent="0">
              <a:lnSpc>
                <a:spcPct val="110000"/>
              </a:lnSpc>
              <a:buNone/>
            </a:pPr>
            <a:r>
              <a:rPr lang="en-US" sz="1150" dirty="0">
                <a:solidFill>
                  <a:srgbClr val="16241C"/>
                </a:solidFill>
                <a:latin typeface="Calibri" panose="020F0502020204030204" pitchFamily="34" charset="0"/>
                <a:ea typeface="Calibri" panose="020F0502020204030204" pitchFamily="34" charset="-122"/>
                <a:cs typeface="Calibri" panose="020F0502020204030204" pitchFamily="34" charset="-120"/>
              </a:rPr>
              <a:t>Change Owner — changes the owner of a file.</a:t>
            </a:r>
            <a:endParaRPr lang="en-US" sz="1150" dirty="0"/>
          </a:p>
        </p:txBody>
      </p:sp>
      <p:sp>
        <p:nvSpPr>
          <p:cNvPr id="15" name="Shape 13"/>
          <p:cNvSpPr/>
          <p:nvPr/>
        </p:nvSpPr>
        <p:spPr>
          <a:xfrm>
            <a:off x="6309360" y="2459736"/>
            <a:ext cx="4892040" cy="3712464"/>
          </a:xfrm>
          <a:prstGeom prst="roundRect">
            <a:avLst>
              <a:gd name="adj" fmla="val 1478"/>
            </a:avLst>
          </a:prstGeom>
          <a:solidFill>
            <a:srgbClr val="0D1912"/>
          </a:solidFill>
        </p:spPr>
      </p:sp>
      <p:sp>
        <p:nvSpPr>
          <p:cNvPr id="16" name="Text 14"/>
          <p:cNvSpPr/>
          <p:nvPr/>
        </p:nvSpPr>
        <p:spPr>
          <a:xfrm>
            <a:off x="6446520" y="2551176"/>
            <a:ext cx="4617720" cy="3529584"/>
          </a:xfrm>
          <a:prstGeom prst="rect">
            <a:avLst/>
          </a:prstGeom>
          <a:noFill/>
        </p:spPr>
        <p:txBody>
          <a:bodyPr wrap="square" rtlCol="0" anchor="t"/>
          <a:lstStyle/>
          <a:p>
            <a:pPr marL="0" indent="0">
              <a:lnSpc>
                <a:spcPct val="120000"/>
              </a:lnSpc>
              <a:buNone/>
            </a:pPr>
            <a:r>
              <a:rPr lang="en-US" sz="1050" dirty="0">
                <a:solidFill>
                  <a:srgbClr val="CFEFE0"/>
                </a:solidFill>
                <a:latin typeface="Courier New" panose="02070309020205020404" pitchFamily="34" charset="0"/>
                <a:ea typeface="Courier New" panose="02070309020205020404" pitchFamily="34" charset="-122"/>
                <a:cs typeface="Courier New" panose="02070309020205020404" pitchFamily="34" charset="-120"/>
              </a:rPr>
              <a:t>Syntax: sudo chown user filename</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Example</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sudo chown hamida notes.txt</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Change owner and group</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sudo chown hamida:developers notes.txt</a:t>
            </a:r>
            <a:endParaRPr lang="en-US" sz="1050" dirty="0"/>
          </a:p>
        </p:txBody>
      </p:sp>
      <p:sp>
        <p:nvSpPr>
          <p:cNvPr id="17" name="Text 15"/>
          <p:cNvSpPr/>
          <p:nvPr/>
        </p:nvSpPr>
        <p:spPr>
          <a:xfrm>
            <a:off x="457200" y="6510528"/>
            <a:ext cx="7315200" cy="274320"/>
          </a:xfrm>
          <a:prstGeom prst="rect">
            <a:avLst/>
          </a:prstGeom>
          <a:noFill/>
        </p:spPr>
        <p:txBody>
          <a:bodyPr wrap="square" rtlCol="0" anchor="ctr"/>
          <a:lstStyle/>
          <a:p>
            <a:pPr marL="0" indent="0" algn="l">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Day 12 · Linux Commands</a:t>
            </a:r>
            <a:endParaRPr lang="en-US" sz="1000" dirty="0"/>
          </a:p>
        </p:txBody>
      </p:sp>
      <p:sp>
        <p:nvSpPr>
          <p:cNvPr id="18" name="Text 16"/>
          <p:cNvSpPr/>
          <p:nvPr/>
        </p:nvSpPr>
        <p:spPr>
          <a:xfrm>
            <a:off x="11274552" y="6510528"/>
            <a:ext cx="457200" cy="274320"/>
          </a:xfrm>
          <a:prstGeom prst="rect">
            <a:avLst/>
          </a:prstGeom>
          <a:noFill/>
        </p:spPr>
        <p:txBody>
          <a:bodyPr wrap="square" rtlCol="0" anchor="ctr"/>
          <a:lstStyle/>
          <a:p>
            <a:pPr marL="0" indent="0" algn="r">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p:spPr>
        <p:txBody>
          <a:bodyPr wrap="square" rtlCol="0" anchor="ctr"/>
          <a:lstStyle/>
          <a:p>
            <a:pPr marL="0" indent="0">
              <a:buNone/>
            </a:pPr>
            <a:r>
              <a:rPr lang="en-US" sz="2800" b="1" dirty="0">
                <a:solidFill>
                  <a:srgbClr val="16241C"/>
                </a:solidFill>
                <a:latin typeface="Cambria" panose="02040503050406030204" pitchFamily="34" charset="0"/>
                <a:ea typeface="Cambria" panose="02040503050406030204" pitchFamily="34" charset="-122"/>
                <a:cs typeface="Cambria" panose="02040503050406030204" pitchFamily="34" charset="-120"/>
              </a:rPr>
              <a:t>chmod (Change Mode)</a:t>
            </a:r>
            <a:endParaRPr lang="en-US" sz="2800" dirty="0"/>
          </a:p>
        </p:txBody>
      </p:sp>
      <p:sp>
        <p:nvSpPr>
          <p:cNvPr id="3" name="Text 1"/>
          <p:cNvSpPr/>
          <p:nvPr/>
        </p:nvSpPr>
        <p:spPr>
          <a:xfrm>
            <a:off x="457200" y="932688"/>
            <a:ext cx="11274552" cy="365760"/>
          </a:xfrm>
          <a:prstGeom prst="rect">
            <a:avLst/>
          </a:prstGeom>
          <a:noFill/>
        </p:spPr>
        <p:txBody>
          <a:bodyPr wrap="square" rtlCol="0" anchor="ctr"/>
          <a:lstStyle/>
          <a:p>
            <a:pPr marL="0" indent="0">
              <a:buNone/>
            </a:pPr>
            <a:r>
              <a:rPr lang="en-US" sz="1350" i="1" dirty="0">
                <a:solidFill>
                  <a:srgbClr val="5B6B63"/>
                </a:solidFill>
                <a:latin typeface="Calibri" panose="020F0502020204030204" pitchFamily="34" charset="0"/>
                <a:ea typeface="Calibri" panose="020F0502020204030204" pitchFamily="34" charset="-122"/>
                <a:cs typeface="Calibri" panose="020F0502020204030204" pitchFamily="34" charset="-120"/>
              </a:rPr>
              <a:t>Changes file permissions.</a:t>
            </a:r>
            <a:endParaRPr lang="en-US" sz="1350" dirty="0"/>
          </a:p>
        </p:txBody>
      </p:sp>
      <p:sp>
        <p:nvSpPr>
          <p:cNvPr id="4" name="Shape 2"/>
          <p:cNvSpPr/>
          <p:nvPr/>
        </p:nvSpPr>
        <p:spPr>
          <a:xfrm>
            <a:off x="457200" y="1508760"/>
            <a:ext cx="365760" cy="365760"/>
          </a:xfrm>
          <a:prstGeom prst="ellipse">
            <a:avLst/>
          </a:prstGeom>
          <a:solidFill>
            <a:srgbClr val="22C55E"/>
          </a:solidFill>
        </p:spPr>
      </p:sp>
      <p:sp>
        <p:nvSpPr>
          <p:cNvPr id="5" name="Text 3"/>
          <p:cNvSpPr/>
          <p:nvPr/>
        </p:nvSpPr>
        <p:spPr>
          <a:xfrm>
            <a:off x="457200" y="1508760"/>
            <a:ext cx="365760" cy="36576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12</a:t>
            </a:r>
            <a:endParaRPr lang="en-US" sz="1400" dirty="0"/>
          </a:p>
        </p:txBody>
      </p:sp>
      <p:sp>
        <p:nvSpPr>
          <p:cNvPr id="6" name="Text 4"/>
          <p:cNvSpPr/>
          <p:nvPr/>
        </p:nvSpPr>
        <p:spPr>
          <a:xfrm>
            <a:off x="960120" y="1463040"/>
            <a:ext cx="2743200" cy="438912"/>
          </a:xfrm>
          <a:prstGeom prst="rect">
            <a:avLst/>
          </a:prstGeom>
          <a:noFill/>
        </p:spPr>
        <p:txBody>
          <a:bodyPr wrap="square" rtlCol="0" anchor="ctr"/>
          <a:lstStyle/>
          <a:p>
            <a:pPr marL="0" indent="0">
              <a:buNone/>
            </a:pPr>
            <a:r>
              <a:rPr lang="en-US" sz="18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chmod</a:t>
            </a:r>
            <a:endParaRPr lang="en-US" sz="1800" dirty="0"/>
          </a:p>
        </p:txBody>
      </p:sp>
      <p:sp>
        <p:nvSpPr>
          <p:cNvPr id="7" name="Shape 5"/>
          <p:cNvSpPr/>
          <p:nvPr/>
        </p:nvSpPr>
        <p:spPr>
          <a:xfrm>
            <a:off x="457200" y="2057400"/>
            <a:ext cx="5303520" cy="914400"/>
          </a:xfrm>
          <a:prstGeom prst="roundRect">
            <a:avLst>
              <a:gd name="adj" fmla="val 6000"/>
            </a:avLst>
          </a:prstGeom>
          <a:solidFill>
            <a:srgbClr val="0D1912"/>
          </a:solidFill>
        </p:spPr>
      </p:sp>
      <p:sp>
        <p:nvSpPr>
          <p:cNvPr id="8" name="Text 6"/>
          <p:cNvSpPr/>
          <p:nvPr/>
        </p:nvSpPr>
        <p:spPr>
          <a:xfrm>
            <a:off x="685800" y="2194560"/>
            <a:ext cx="4846320" cy="685800"/>
          </a:xfrm>
          <a:prstGeom prst="rect">
            <a:avLst/>
          </a:prstGeom>
          <a:noFill/>
        </p:spPr>
        <p:txBody>
          <a:bodyPr wrap="square" rtlCol="0" anchor="ctr"/>
          <a:lstStyle/>
          <a:p>
            <a:pPr marL="0" indent="0">
              <a:lnSpc>
                <a:spcPct val="125000"/>
              </a:lnSpc>
              <a:buNone/>
            </a:pPr>
            <a:r>
              <a:rPr lang="en-US" sz="1200" dirty="0">
                <a:solidFill>
                  <a:srgbClr val="CFEFE0"/>
                </a:solidFill>
                <a:latin typeface="Courier New" panose="02070309020205020404" pitchFamily="34" charset="0"/>
                <a:ea typeface="Courier New" panose="02070309020205020404" pitchFamily="34" charset="-122"/>
                <a:cs typeface="Courier New" panose="02070309020205020404" pitchFamily="34" charset="-120"/>
              </a:rPr>
              <a:t>Syntax: chmod permission filename</a:t>
            </a:r>
            <a:endParaRPr lang="en-US" sz="1200" dirty="0"/>
          </a:p>
          <a:p>
            <a:pPr marL="0" indent="0">
              <a:lnSpc>
                <a:spcPct val="125000"/>
              </a:lnSpc>
              <a:buNone/>
            </a:pPr>
            <a:r>
              <a:rPr lang="en-US" sz="130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chmod 755 script.sh</a:t>
            </a:r>
            <a:endParaRPr lang="en-US" sz="1200" dirty="0"/>
          </a:p>
          <a:p>
            <a:pPr marL="0" indent="0">
              <a:lnSpc>
                <a:spcPct val="125000"/>
              </a:lnSpc>
              <a:buNone/>
            </a:pPr>
            <a:r>
              <a:rPr lang="en-US" sz="130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chmod 644 notes.txt</a:t>
            </a:r>
            <a:endParaRPr lang="en-US" sz="1200" dirty="0"/>
          </a:p>
        </p:txBody>
      </p:sp>
      <p:sp>
        <p:nvSpPr>
          <p:cNvPr id="9" name="Text 7"/>
          <p:cNvSpPr/>
          <p:nvPr/>
        </p:nvSpPr>
        <p:spPr>
          <a:xfrm>
            <a:off x="457200" y="3154680"/>
            <a:ext cx="5303520" cy="320040"/>
          </a:xfrm>
          <a:prstGeom prst="rect">
            <a:avLst/>
          </a:prstGeom>
          <a:noFill/>
        </p:spPr>
        <p:txBody>
          <a:bodyPr wrap="square" rtlCol="0" anchor="ctr"/>
          <a:lstStyle/>
          <a:p>
            <a:pPr marL="0" indent="0">
              <a:buNone/>
            </a:pPr>
            <a:r>
              <a:rPr lang="en-US" sz="1500" b="1" dirty="0">
                <a:solidFill>
                  <a:srgbClr val="16A34A"/>
                </a:solidFill>
                <a:latin typeface="Cambria" panose="02040503050406030204" pitchFamily="34" charset="0"/>
                <a:ea typeface="Cambria" panose="02040503050406030204" pitchFamily="34" charset="-122"/>
                <a:cs typeface="Cambria" panose="02040503050406030204" pitchFamily="34" charset="-120"/>
              </a:rPr>
              <a:t>Permission Numbers</a:t>
            </a:r>
            <a:endParaRPr lang="en-US" sz="1500" dirty="0"/>
          </a:p>
        </p:txBody>
      </p:sp>
      <p:graphicFrame>
        <p:nvGraphicFramePr>
          <p:cNvPr id="10" name="Table 0"/>
          <p:cNvGraphicFramePr>
            <a:graphicFrameLocks noGrp="1"/>
          </p:cNvGraphicFramePr>
          <p:nvPr/>
        </p:nvGraphicFramePr>
        <p:xfrm>
          <a:off x="457200" y="3520440"/>
          <a:ext cx="5303520" cy="2743200"/>
        </p:xfrm>
        <a:graphic>
          <a:graphicData uri="http://schemas.openxmlformats.org/drawingml/2006/table">
            <a:tbl>
              <a:tblPr/>
              <a:tblGrid>
                <a:gridCol w="1188720"/>
                <a:gridCol w="4114800"/>
              </a:tblGrid>
              <a:tr h="457200">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Number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16241C"/>
                    </a:solidFill>
                  </a:tcPr>
                </a:tc>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Permission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16241C"/>
                    </a:solidFill>
                  </a:tcPr>
                </a:tc>
              </a:tr>
              <a:tr h="457200">
                <a:tc>
                  <a:txBody>
                    <a:bodyPr/>
                    <a:lstStyle/>
                    <a:p>
                      <a:pPr marL="0" indent="0" algn="ctr">
                        <a:buNone/>
                      </a:pPr>
                      <a:r>
                        <a:rPr lang="en-US" sz="13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7</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c>
                  <a:txBody>
                    <a:bodyPr/>
                    <a:lstStyle/>
                    <a:p>
                      <a:pPr marL="0" indent="0">
                        <a:buNone/>
                      </a:pPr>
                      <a:r>
                        <a:rPr lang="en-US" sz="1250" dirty="0">
                          <a:solidFill>
                            <a:srgbClr val="16241C"/>
                          </a:solidFill>
                          <a:latin typeface="Calibri" panose="020F0502020204030204" pitchFamily="34" charset="0"/>
                          <a:ea typeface="Calibri" panose="020F0502020204030204" pitchFamily="34" charset="-122"/>
                          <a:cs typeface="Calibri" panose="020F0502020204030204" pitchFamily="34" charset="-120"/>
                        </a:rPr>
                        <a:t>Read + Write + Execute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r>
              <a:tr h="457200">
                <a:tc>
                  <a:txBody>
                    <a:bodyPr/>
                    <a:lstStyle/>
                    <a:p>
                      <a:pPr marL="0" indent="0" algn="ctr">
                        <a:buNone/>
                      </a:pPr>
                      <a:r>
                        <a:rPr lang="en-US" sz="13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6</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c>
                  <a:txBody>
                    <a:bodyPr/>
                    <a:lstStyle/>
                    <a:p>
                      <a:pPr marL="0" indent="0">
                        <a:buNone/>
                      </a:pPr>
                      <a:r>
                        <a:rPr lang="en-US" sz="1250" dirty="0">
                          <a:solidFill>
                            <a:srgbClr val="16241C"/>
                          </a:solidFill>
                          <a:latin typeface="Calibri" panose="020F0502020204030204" pitchFamily="34" charset="0"/>
                          <a:ea typeface="Calibri" panose="020F0502020204030204" pitchFamily="34" charset="-122"/>
                          <a:cs typeface="Calibri" panose="020F0502020204030204" pitchFamily="34" charset="-120"/>
                        </a:rPr>
                        <a:t>Read + Write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r>
              <a:tr h="457200">
                <a:tc>
                  <a:txBody>
                    <a:bodyPr/>
                    <a:lstStyle/>
                    <a:p>
                      <a:pPr marL="0" indent="0" algn="ctr">
                        <a:buNone/>
                      </a:pPr>
                      <a:r>
                        <a:rPr lang="en-US" sz="13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5</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c>
                  <a:txBody>
                    <a:bodyPr/>
                    <a:lstStyle/>
                    <a:p>
                      <a:pPr marL="0" indent="0">
                        <a:buNone/>
                      </a:pPr>
                      <a:r>
                        <a:rPr lang="en-US" sz="1250" dirty="0">
                          <a:solidFill>
                            <a:srgbClr val="16241C"/>
                          </a:solidFill>
                          <a:latin typeface="Calibri" panose="020F0502020204030204" pitchFamily="34" charset="0"/>
                          <a:ea typeface="Calibri" panose="020F0502020204030204" pitchFamily="34" charset="-122"/>
                          <a:cs typeface="Calibri" panose="020F0502020204030204" pitchFamily="34" charset="-120"/>
                        </a:rPr>
                        <a:t>Read + Execute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r>
              <a:tr h="457200">
                <a:tc>
                  <a:txBody>
                    <a:bodyPr/>
                    <a:lstStyle/>
                    <a:p>
                      <a:pPr marL="0" indent="0" algn="ctr">
                        <a:buNone/>
                      </a:pPr>
                      <a:r>
                        <a:rPr lang="en-US" sz="13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4</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c>
                  <a:txBody>
                    <a:bodyPr/>
                    <a:lstStyle/>
                    <a:p>
                      <a:pPr marL="0" indent="0">
                        <a:buNone/>
                      </a:pPr>
                      <a:r>
                        <a:rPr lang="en-US" sz="1250" dirty="0">
                          <a:solidFill>
                            <a:srgbClr val="16241C"/>
                          </a:solidFill>
                          <a:latin typeface="Calibri" panose="020F0502020204030204" pitchFamily="34" charset="0"/>
                          <a:ea typeface="Calibri" panose="020F0502020204030204" pitchFamily="34" charset="-122"/>
                          <a:cs typeface="Calibri" panose="020F0502020204030204" pitchFamily="34" charset="-120"/>
                        </a:rPr>
                        <a:t>Read Only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r>
              <a:tr h="457200">
                <a:tc>
                  <a:txBody>
                    <a:bodyPr/>
                    <a:lstStyle/>
                    <a:p>
                      <a:pPr marL="0" indent="0" algn="ctr">
                        <a:buNone/>
                      </a:pPr>
                      <a:r>
                        <a:rPr lang="en-US" sz="13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0</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c>
                  <a:txBody>
                    <a:bodyPr/>
                    <a:lstStyle/>
                    <a:p>
                      <a:pPr marL="0" indent="0">
                        <a:buNone/>
                      </a:pPr>
                      <a:r>
                        <a:rPr lang="en-US" sz="1250" dirty="0">
                          <a:solidFill>
                            <a:srgbClr val="16241C"/>
                          </a:solidFill>
                          <a:latin typeface="Calibri" panose="020F0502020204030204" pitchFamily="34" charset="0"/>
                          <a:ea typeface="Calibri" panose="020F0502020204030204" pitchFamily="34" charset="-122"/>
                          <a:cs typeface="Calibri" panose="020F0502020204030204" pitchFamily="34" charset="-120"/>
                        </a:rPr>
                        <a:t>No Permission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r>
            </a:tbl>
          </a:graphicData>
        </a:graphic>
      </p:graphicFrame>
      <p:sp>
        <p:nvSpPr>
          <p:cNvPr id="11" name="Shape 8"/>
          <p:cNvSpPr/>
          <p:nvPr/>
        </p:nvSpPr>
        <p:spPr>
          <a:xfrm>
            <a:off x="6400800" y="1508760"/>
            <a:ext cx="5330952" cy="4754880"/>
          </a:xfrm>
          <a:prstGeom prst="roundRect">
            <a:avLst>
              <a:gd name="adj" fmla="val 1923"/>
            </a:avLst>
          </a:prstGeom>
          <a:solidFill>
            <a:srgbClr val="16241C"/>
          </a:solidFill>
        </p:spPr>
      </p:sp>
      <p:sp>
        <p:nvSpPr>
          <p:cNvPr id="12" name="Text 9"/>
          <p:cNvSpPr/>
          <p:nvPr/>
        </p:nvSpPr>
        <p:spPr>
          <a:xfrm>
            <a:off x="6675120" y="1737360"/>
            <a:ext cx="4846320" cy="365760"/>
          </a:xfrm>
          <a:prstGeom prst="rect">
            <a:avLst/>
          </a:prstGeom>
          <a:noFill/>
        </p:spPr>
        <p:txBody>
          <a:bodyPr wrap="square" rtlCol="0" anchor="ctr"/>
          <a:lstStyle/>
          <a:p>
            <a:pPr marL="0" indent="0">
              <a:buNone/>
            </a:pPr>
            <a:r>
              <a:rPr lang="en-US" sz="150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chmod 755 script.sh</a:t>
            </a:r>
            <a:endParaRPr lang="en-US" sz="1500" dirty="0"/>
          </a:p>
        </p:txBody>
      </p:sp>
      <p:sp>
        <p:nvSpPr>
          <p:cNvPr id="13" name="Text 10"/>
          <p:cNvSpPr/>
          <p:nvPr/>
        </p:nvSpPr>
        <p:spPr>
          <a:xfrm>
            <a:off x="6675120" y="2103120"/>
            <a:ext cx="4846320" cy="320040"/>
          </a:xfrm>
          <a:prstGeom prst="rect">
            <a:avLst/>
          </a:prstGeom>
          <a:noFill/>
        </p:spPr>
        <p:txBody>
          <a:bodyPr wrap="square" rtlCol="0" anchor="ctr"/>
          <a:lstStyle/>
          <a:p>
            <a:pPr marL="0" indent="0">
              <a:buNone/>
            </a:pPr>
            <a:r>
              <a:rPr lang="en-US" sz="1150" i="1" dirty="0">
                <a:solidFill>
                  <a:srgbClr val="B7C9BE"/>
                </a:solidFill>
                <a:latin typeface="Calibri" panose="020F0502020204030204" pitchFamily="34" charset="0"/>
                <a:ea typeface="Calibri" panose="020F0502020204030204" pitchFamily="34" charset="-122"/>
                <a:cs typeface="Calibri" panose="020F0502020204030204" pitchFamily="34" charset="-120"/>
              </a:rPr>
              <a:t>Three permission groups: owner, group, others</a:t>
            </a:r>
            <a:endParaRPr lang="en-US" sz="1150" dirty="0"/>
          </a:p>
        </p:txBody>
      </p:sp>
      <p:sp>
        <p:nvSpPr>
          <p:cNvPr id="14" name="Shape 11"/>
          <p:cNvSpPr/>
          <p:nvPr/>
        </p:nvSpPr>
        <p:spPr>
          <a:xfrm>
            <a:off x="6675120" y="2606040"/>
            <a:ext cx="4754880" cy="777240"/>
          </a:xfrm>
          <a:prstGeom prst="roundRect">
            <a:avLst>
              <a:gd name="adj" fmla="val 9412"/>
            </a:avLst>
          </a:prstGeom>
          <a:solidFill>
            <a:srgbClr val="1E2F24"/>
          </a:solidFill>
        </p:spPr>
      </p:sp>
      <p:sp>
        <p:nvSpPr>
          <p:cNvPr id="15" name="Shape 12"/>
          <p:cNvSpPr/>
          <p:nvPr/>
        </p:nvSpPr>
        <p:spPr>
          <a:xfrm>
            <a:off x="6858000" y="2807208"/>
            <a:ext cx="384048" cy="384048"/>
          </a:xfrm>
          <a:prstGeom prst="ellipse">
            <a:avLst/>
          </a:prstGeom>
          <a:solidFill>
            <a:srgbClr val="22C55E"/>
          </a:solidFill>
        </p:spPr>
      </p:sp>
      <p:sp>
        <p:nvSpPr>
          <p:cNvPr id="16" name="Text 13"/>
          <p:cNvSpPr/>
          <p:nvPr/>
        </p:nvSpPr>
        <p:spPr>
          <a:xfrm>
            <a:off x="6858000" y="2807208"/>
            <a:ext cx="384048" cy="384048"/>
          </a:xfrm>
          <a:prstGeom prst="rect">
            <a:avLst/>
          </a:prstGeom>
          <a:noFill/>
        </p:spPr>
        <p:txBody>
          <a:bodyPr wrap="square" rtlCol="0" anchor="ctr"/>
          <a:lstStyle/>
          <a:p>
            <a:pPr marL="0" indent="0" algn="ctr">
              <a:buNone/>
            </a:pPr>
            <a:r>
              <a:rPr lang="en-US" sz="1500" b="1"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7</a:t>
            </a:r>
            <a:endParaRPr lang="en-US" sz="1500" dirty="0"/>
          </a:p>
        </p:txBody>
      </p:sp>
      <p:sp>
        <p:nvSpPr>
          <p:cNvPr id="17" name="Text 14"/>
          <p:cNvSpPr/>
          <p:nvPr/>
        </p:nvSpPr>
        <p:spPr>
          <a:xfrm>
            <a:off x="7406640" y="2697480"/>
            <a:ext cx="1828800" cy="274320"/>
          </a:xfrm>
          <a:prstGeom prst="rect">
            <a:avLst/>
          </a:prstGeom>
          <a:noFill/>
        </p:spPr>
        <p:txBody>
          <a:bodyPr wrap="square"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Owner</a:t>
            </a:r>
            <a:endParaRPr lang="en-US" sz="1300" dirty="0"/>
          </a:p>
        </p:txBody>
      </p:sp>
      <p:sp>
        <p:nvSpPr>
          <p:cNvPr id="18" name="Text 15"/>
          <p:cNvSpPr/>
          <p:nvPr/>
        </p:nvSpPr>
        <p:spPr>
          <a:xfrm>
            <a:off x="7406640" y="2990088"/>
            <a:ext cx="3840480" cy="320040"/>
          </a:xfrm>
          <a:prstGeom prst="rect">
            <a:avLst/>
          </a:prstGeom>
          <a:noFill/>
        </p:spPr>
        <p:txBody>
          <a:bodyPr wrap="square" rtlCol="0" anchor="ctr"/>
          <a:lstStyle/>
          <a:p>
            <a:pPr marL="0" indent="0">
              <a:buNone/>
            </a:pPr>
            <a:r>
              <a:rPr lang="en-US" sz="1100" dirty="0">
                <a:solidFill>
                  <a:srgbClr val="B7C9BE"/>
                </a:solidFill>
                <a:latin typeface="Calibri" panose="020F0502020204030204" pitchFamily="34" charset="0"/>
                <a:ea typeface="Calibri" panose="020F0502020204030204" pitchFamily="34" charset="-122"/>
                <a:cs typeface="Calibri" panose="020F0502020204030204" pitchFamily="34" charset="-120"/>
              </a:rPr>
              <a:t>Read + Write + Execute</a:t>
            </a:r>
            <a:endParaRPr lang="en-US" sz="1100" dirty="0"/>
          </a:p>
        </p:txBody>
      </p:sp>
      <p:sp>
        <p:nvSpPr>
          <p:cNvPr id="19" name="Shape 16"/>
          <p:cNvSpPr/>
          <p:nvPr/>
        </p:nvSpPr>
        <p:spPr>
          <a:xfrm>
            <a:off x="6675120" y="3520440"/>
            <a:ext cx="4754880" cy="777240"/>
          </a:xfrm>
          <a:prstGeom prst="roundRect">
            <a:avLst>
              <a:gd name="adj" fmla="val 9412"/>
            </a:avLst>
          </a:prstGeom>
          <a:solidFill>
            <a:srgbClr val="1E2F24"/>
          </a:solidFill>
        </p:spPr>
      </p:sp>
      <p:sp>
        <p:nvSpPr>
          <p:cNvPr id="20" name="Shape 17"/>
          <p:cNvSpPr/>
          <p:nvPr/>
        </p:nvSpPr>
        <p:spPr>
          <a:xfrm>
            <a:off x="6858000" y="3721608"/>
            <a:ext cx="384048" cy="384048"/>
          </a:xfrm>
          <a:prstGeom prst="ellipse">
            <a:avLst/>
          </a:prstGeom>
          <a:solidFill>
            <a:srgbClr val="22C55E"/>
          </a:solidFill>
        </p:spPr>
      </p:sp>
      <p:sp>
        <p:nvSpPr>
          <p:cNvPr id="21" name="Text 18"/>
          <p:cNvSpPr/>
          <p:nvPr/>
        </p:nvSpPr>
        <p:spPr>
          <a:xfrm>
            <a:off x="6858000" y="3721608"/>
            <a:ext cx="384048" cy="384048"/>
          </a:xfrm>
          <a:prstGeom prst="rect">
            <a:avLst/>
          </a:prstGeom>
          <a:noFill/>
        </p:spPr>
        <p:txBody>
          <a:bodyPr wrap="square" rtlCol="0" anchor="ctr"/>
          <a:lstStyle/>
          <a:p>
            <a:pPr marL="0" indent="0" algn="ctr">
              <a:buNone/>
            </a:pPr>
            <a:r>
              <a:rPr lang="en-US" sz="1500" b="1"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5</a:t>
            </a:r>
            <a:endParaRPr lang="en-US" sz="1500" dirty="0"/>
          </a:p>
        </p:txBody>
      </p:sp>
      <p:sp>
        <p:nvSpPr>
          <p:cNvPr id="22" name="Text 19"/>
          <p:cNvSpPr/>
          <p:nvPr/>
        </p:nvSpPr>
        <p:spPr>
          <a:xfrm>
            <a:off x="7406640" y="3611880"/>
            <a:ext cx="1828800" cy="274320"/>
          </a:xfrm>
          <a:prstGeom prst="rect">
            <a:avLst/>
          </a:prstGeom>
          <a:noFill/>
        </p:spPr>
        <p:txBody>
          <a:bodyPr wrap="square"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Group</a:t>
            </a:r>
            <a:endParaRPr lang="en-US" sz="1300" dirty="0"/>
          </a:p>
        </p:txBody>
      </p:sp>
      <p:sp>
        <p:nvSpPr>
          <p:cNvPr id="23" name="Text 20"/>
          <p:cNvSpPr/>
          <p:nvPr/>
        </p:nvSpPr>
        <p:spPr>
          <a:xfrm>
            <a:off x="7406640" y="3904488"/>
            <a:ext cx="3840480" cy="320040"/>
          </a:xfrm>
          <a:prstGeom prst="rect">
            <a:avLst/>
          </a:prstGeom>
          <a:noFill/>
        </p:spPr>
        <p:txBody>
          <a:bodyPr wrap="square" rtlCol="0" anchor="ctr"/>
          <a:lstStyle/>
          <a:p>
            <a:pPr marL="0" indent="0">
              <a:buNone/>
            </a:pPr>
            <a:r>
              <a:rPr lang="en-US" sz="1100" dirty="0">
                <a:solidFill>
                  <a:srgbClr val="B7C9BE"/>
                </a:solidFill>
                <a:latin typeface="Calibri" panose="020F0502020204030204" pitchFamily="34" charset="0"/>
                <a:ea typeface="Calibri" panose="020F0502020204030204" pitchFamily="34" charset="-122"/>
                <a:cs typeface="Calibri" panose="020F0502020204030204" pitchFamily="34" charset="-120"/>
              </a:rPr>
              <a:t>Read + Execute</a:t>
            </a:r>
            <a:endParaRPr lang="en-US" sz="1100" dirty="0"/>
          </a:p>
        </p:txBody>
      </p:sp>
      <p:sp>
        <p:nvSpPr>
          <p:cNvPr id="24" name="Shape 21"/>
          <p:cNvSpPr/>
          <p:nvPr/>
        </p:nvSpPr>
        <p:spPr>
          <a:xfrm>
            <a:off x="6675120" y="4434840"/>
            <a:ext cx="4754880" cy="777240"/>
          </a:xfrm>
          <a:prstGeom prst="roundRect">
            <a:avLst>
              <a:gd name="adj" fmla="val 9412"/>
            </a:avLst>
          </a:prstGeom>
          <a:solidFill>
            <a:srgbClr val="1E2F24"/>
          </a:solidFill>
        </p:spPr>
      </p:sp>
      <p:sp>
        <p:nvSpPr>
          <p:cNvPr id="25" name="Shape 22"/>
          <p:cNvSpPr/>
          <p:nvPr/>
        </p:nvSpPr>
        <p:spPr>
          <a:xfrm>
            <a:off x="6858000" y="4636008"/>
            <a:ext cx="384048" cy="384048"/>
          </a:xfrm>
          <a:prstGeom prst="ellipse">
            <a:avLst/>
          </a:prstGeom>
          <a:solidFill>
            <a:srgbClr val="22C55E"/>
          </a:solidFill>
        </p:spPr>
      </p:sp>
      <p:sp>
        <p:nvSpPr>
          <p:cNvPr id="26" name="Text 23"/>
          <p:cNvSpPr/>
          <p:nvPr/>
        </p:nvSpPr>
        <p:spPr>
          <a:xfrm>
            <a:off x="6858000" y="4636008"/>
            <a:ext cx="384048" cy="384048"/>
          </a:xfrm>
          <a:prstGeom prst="rect">
            <a:avLst/>
          </a:prstGeom>
          <a:noFill/>
        </p:spPr>
        <p:txBody>
          <a:bodyPr wrap="square" rtlCol="0" anchor="ctr"/>
          <a:lstStyle/>
          <a:p>
            <a:pPr marL="0" indent="0" algn="ctr">
              <a:buNone/>
            </a:pPr>
            <a:r>
              <a:rPr lang="en-US" sz="1500" b="1"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5</a:t>
            </a:r>
            <a:endParaRPr lang="en-US" sz="1500" dirty="0"/>
          </a:p>
        </p:txBody>
      </p:sp>
      <p:sp>
        <p:nvSpPr>
          <p:cNvPr id="27" name="Text 24"/>
          <p:cNvSpPr/>
          <p:nvPr/>
        </p:nvSpPr>
        <p:spPr>
          <a:xfrm>
            <a:off x="7406640" y="4526280"/>
            <a:ext cx="1828800" cy="274320"/>
          </a:xfrm>
          <a:prstGeom prst="rect">
            <a:avLst/>
          </a:prstGeom>
          <a:noFill/>
        </p:spPr>
        <p:txBody>
          <a:bodyPr wrap="square"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Others</a:t>
            </a:r>
            <a:endParaRPr lang="en-US" sz="1300" dirty="0"/>
          </a:p>
        </p:txBody>
      </p:sp>
      <p:sp>
        <p:nvSpPr>
          <p:cNvPr id="28" name="Text 25"/>
          <p:cNvSpPr/>
          <p:nvPr/>
        </p:nvSpPr>
        <p:spPr>
          <a:xfrm>
            <a:off x="7406640" y="4818888"/>
            <a:ext cx="3840480" cy="320040"/>
          </a:xfrm>
          <a:prstGeom prst="rect">
            <a:avLst/>
          </a:prstGeom>
          <a:noFill/>
        </p:spPr>
        <p:txBody>
          <a:bodyPr wrap="square" rtlCol="0" anchor="ctr"/>
          <a:lstStyle/>
          <a:p>
            <a:pPr marL="0" indent="0">
              <a:buNone/>
            </a:pPr>
            <a:r>
              <a:rPr lang="en-US" sz="1100" dirty="0">
                <a:solidFill>
                  <a:srgbClr val="B7C9BE"/>
                </a:solidFill>
                <a:latin typeface="Calibri" panose="020F0502020204030204" pitchFamily="34" charset="0"/>
                <a:ea typeface="Calibri" panose="020F0502020204030204" pitchFamily="34" charset="-122"/>
                <a:cs typeface="Calibri" panose="020F0502020204030204" pitchFamily="34" charset="-120"/>
              </a:rPr>
              <a:t>Read + Execute</a:t>
            </a:r>
            <a:endParaRPr lang="en-US" sz="1100" dirty="0"/>
          </a:p>
        </p:txBody>
      </p:sp>
      <p:sp>
        <p:nvSpPr>
          <p:cNvPr id="29" name="Text 26"/>
          <p:cNvSpPr/>
          <p:nvPr/>
        </p:nvSpPr>
        <p:spPr>
          <a:xfrm>
            <a:off x="457200" y="6510528"/>
            <a:ext cx="7315200" cy="274320"/>
          </a:xfrm>
          <a:prstGeom prst="rect">
            <a:avLst/>
          </a:prstGeom>
          <a:noFill/>
        </p:spPr>
        <p:txBody>
          <a:bodyPr wrap="square" rtlCol="0" anchor="ctr"/>
          <a:lstStyle/>
          <a:p>
            <a:pPr marL="0" indent="0" algn="l">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Day 12 · Linux Commands</a:t>
            </a:r>
            <a:endParaRPr lang="en-US" sz="1000" dirty="0"/>
          </a:p>
        </p:txBody>
      </p:sp>
      <p:sp>
        <p:nvSpPr>
          <p:cNvPr id="30" name="Text 27"/>
          <p:cNvSpPr/>
          <p:nvPr/>
        </p:nvSpPr>
        <p:spPr>
          <a:xfrm>
            <a:off x="11274552" y="6510528"/>
            <a:ext cx="457200" cy="274320"/>
          </a:xfrm>
          <a:prstGeom prst="rect">
            <a:avLst/>
          </a:prstGeom>
          <a:noFill/>
        </p:spPr>
        <p:txBody>
          <a:bodyPr wrap="square" rtlCol="0" anchor="ctr"/>
          <a:lstStyle/>
          <a:p>
            <a:pPr marL="0" indent="0" algn="r">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p:spPr>
        <p:txBody>
          <a:bodyPr wrap="square" rtlCol="0" anchor="ctr"/>
          <a:lstStyle/>
          <a:p>
            <a:pPr marL="0" indent="0">
              <a:buNone/>
            </a:pPr>
            <a:r>
              <a:rPr lang="en-US" sz="2800" b="1" dirty="0">
                <a:solidFill>
                  <a:srgbClr val="16241C"/>
                </a:solidFill>
                <a:latin typeface="Cambria" panose="02040503050406030204" pitchFamily="34" charset="0"/>
                <a:ea typeface="Cambria" panose="02040503050406030204" pitchFamily="34" charset="-122"/>
                <a:cs typeface="Cambria" panose="02040503050406030204" pitchFamily="34" charset="-120"/>
              </a:rPr>
              <a:t>find &amp; grep</a:t>
            </a:r>
            <a:endParaRPr lang="en-US" sz="2800" dirty="0"/>
          </a:p>
        </p:txBody>
      </p:sp>
      <p:sp>
        <p:nvSpPr>
          <p:cNvPr id="3" name="Shape 1"/>
          <p:cNvSpPr/>
          <p:nvPr/>
        </p:nvSpPr>
        <p:spPr>
          <a:xfrm>
            <a:off x="457200" y="1417320"/>
            <a:ext cx="5349240" cy="4892040"/>
          </a:xfrm>
          <a:prstGeom prst="roundRect">
            <a:avLst>
              <a:gd name="adj" fmla="val 1869"/>
            </a:avLst>
          </a:prstGeom>
          <a:solidFill>
            <a:srgbClr val="F1F5F2"/>
          </a:solidFill>
        </p:spPr>
      </p:sp>
      <p:sp>
        <p:nvSpPr>
          <p:cNvPr id="4" name="Shape 2"/>
          <p:cNvSpPr/>
          <p:nvPr/>
        </p:nvSpPr>
        <p:spPr>
          <a:xfrm>
            <a:off x="640080" y="1600200"/>
            <a:ext cx="365760" cy="365760"/>
          </a:xfrm>
          <a:prstGeom prst="ellipse">
            <a:avLst/>
          </a:prstGeom>
          <a:solidFill>
            <a:srgbClr val="22C55E"/>
          </a:solidFill>
        </p:spPr>
      </p:sp>
      <p:sp>
        <p:nvSpPr>
          <p:cNvPr id="5" name="Text 3"/>
          <p:cNvSpPr/>
          <p:nvPr/>
        </p:nvSpPr>
        <p:spPr>
          <a:xfrm>
            <a:off x="640080" y="1600200"/>
            <a:ext cx="365760" cy="36576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14</a:t>
            </a:r>
            <a:endParaRPr lang="en-US" sz="1400" dirty="0"/>
          </a:p>
        </p:txBody>
      </p:sp>
      <p:sp>
        <p:nvSpPr>
          <p:cNvPr id="6" name="Text 4"/>
          <p:cNvSpPr/>
          <p:nvPr/>
        </p:nvSpPr>
        <p:spPr>
          <a:xfrm>
            <a:off x="1143000" y="1563624"/>
            <a:ext cx="4434840" cy="438912"/>
          </a:xfrm>
          <a:prstGeom prst="rect">
            <a:avLst/>
          </a:prstGeom>
          <a:noFill/>
        </p:spPr>
        <p:txBody>
          <a:bodyPr wrap="square" rtlCol="0" anchor="ctr"/>
          <a:lstStyle/>
          <a:p>
            <a:pPr marL="0" indent="0">
              <a:buNone/>
            </a:pPr>
            <a:r>
              <a:rPr lang="en-US" sz="17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find</a:t>
            </a:r>
            <a:endParaRPr lang="en-US" sz="1700" dirty="0"/>
          </a:p>
        </p:txBody>
      </p:sp>
      <p:sp>
        <p:nvSpPr>
          <p:cNvPr id="7" name="Text 5"/>
          <p:cNvSpPr/>
          <p:nvPr/>
        </p:nvSpPr>
        <p:spPr>
          <a:xfrm>
            <a:off x="685800" y="2039112"/>
            <a:ext cx="4892040" cy="384048"/>
          </a:xfrm>
          <a:prstGeom prst="rect">
            <a:avLst/>
          </a:prstGeom>
          <a:noFill/>
        </p:spPr>
        <p:txBody>
          <a:bodyPr wrap="square" rtlCol="0" anchor="ctr"/>
          <a:lstStyle/>
          <a:p>
            <a:pPr marL="0" indent="0">
              <a:lnSpc>
                <a:spcPct val="110000"/>
              </a:lnSpc>
              <a:buNone/>
            </a:pPr>
            <a:r>
              <a:rPr lang="en-US" sz="1150" dirty="0">
                <a:solidFill>
                  <a:srgbClr val="16241C"/>
                </a:solidFill>
                <a:latin typeface="Calibri" panose="020F0502020204030204" pitchFamily="34" charset="0"/>
                <a:ea typeface="Calibri" panose="020F0502020204030204" pitchFamily="34" charset="-122"/>
                <a:cs typeface="Calibri" panose="020F0502020204030204" pitchFamily="34" charset="-120"/>
              </a:rPr>
              <a:t>Searches for files and folders.</a:t>
            </a:r>
            <a:endParaRPr lang="en-US" sz="1150" dirty="0"/>
          </a:p>
        </p:txBody>
      </p:sp>
      <p:sp>
        <p:nvSpPr>
          <p:cNvPr id="8" name="Shape 6"/>
          <p:cNvSpPr/>
          <p:nvPr/>
        </p:nvSpPr>
        <p:spPr>
          <a:xfrm>
            <a:off x="685800" y="2459736"/>
            <a:ext cx="4892040" cy="3712464"/>
          </a:xfrm>
          <a:prstGeom prst="roundRect">
            <a:avLst>
              <a:gd name="adj" fmla="val 1478"/>
            </a:avLst>
          </a:prstGeom>
          <a:solidFill>
            <a:srgbClr val="0D1912"/>
          </a:solidFill>
        </p:spPr>
      </p:sp>
      <p:sp>
        <p:nvSpPr>
          <p:cNvPr id="9" name="Text 7"/>
          <p:cNvSpPr/>
          <p:nvPr/>
        </p:nvSpPr>
        <p:spPr>
          <a:xfrm>
            <a:off x="822960" y="2551176"/>
            <a:ext cx="4617720" cy="3529584"/>
          </a:xfrm>
          <a:prstGeom prst="rect">
            <a:avLst/>
          </a:prstGeom>
          <a:noFill/>
        </p:spPr>
        <p:txBody>
          <a:bodyPr wrap="square" rtlCol="0" anchor="t"/>
          <a:lstStyle/>
          <a:p>
            <a:pPr marL="0" indent="0">
              <a:lnSpc>
                <a:spcPct val="120000"/>
              </a:lnSpc>
              <a:buNone/>
            </a:pPr>
            <a:r>
              <a:rPr lang="en-US" sz="1050" dirty="0">
                <a:solidFill>
                  <a:srgbClr val="CFEFE0"/>
                </a:solidFill>
                <a:latin typeface="Courier New" panose="02070309020205020404" pitchFamily="34" charset="0"/>
                <a:ea typeface="Courier New" panose="02070309020205020404" pitchFamily="34" charset="-122"/>
                <a:cs typeface="Courier New" panose="02070309020205020404" pitchFamily="34" charset="-120"/>
              </a:rPr>
              <a:t>Syntax: find location -name filename</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Example</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find /home -name notes.txt</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Search all .txt files</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find . -name "*.txt"</a:t>
            </a:r>
            <a:endParaRPr lang="en-US" sz="1050" dirty="0"/>
          </a:p>
        </p:txBody>
      </p:sp>
      <p:sp>
        <p:nvSpPr>
          <p:cNvPr id="10" name="Shape 8"/>
          <p:cNvSpPr/>
          <p:nvPr/>
        </p:nvSpPr>
        <p:spPr>
          <a:xfrm>
            <a:off x="6080760" y="1417320"/>
            <a:ext cx="5349240" cy="4892040"/>
          </a:xfrm>
          <a:prstGeom prst="roundRect">
            <a:avLst>
              <a:gd name="adj" fmla="val 1869"/>
            </a:avLst>
          </a:prstGeom>
          <a:solidFill>
            <a:srgbClr val="F1F5F2"/>
          </a:solidFill>
        </p:spPr>
      </p:sp>
      <p:sp>
        <p:nvSpPr>
          <p:cNvPr id="11" name="Shape 9"/>
          <p:cNvSpPr/>
          <p:nvPr/>
        </p:nvSpPr>
        <p:spPr>
          <a:xfrm>
            <a:off x="6263640" y="1600200"/>
            <a:ext cx="365760" cy="365760"/>
          </a:xfrm>
          <a:prstGeom prst="ellipse">
            <a:avLst/>
          </a:prstGeom>
          <a:solidFill>
            <a:srgbClr val="22C55E"/>
          </a:solidFill>
        </p:spPr>
      </p:sp>
      <p:sp>
        <p:nvSpPr>
          <p:cNvPr id="12" name="Text 10"/>
          <p:cNvSpPr/>
          <p:nvPr/>
        </p:nvSpPr>
        <p:spPr>
          <a:xfrm>
            <a:off x="6263640" y="1600200"/>
            <a:ext cx="365760" cy="36576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15</a:t>
            </a:r>
            <a:endParaRPr lang="en-US" sz="1400" dirty="0"/>
          </a:p>
        </p:txBody>
      </p:sp>
      <p:sp>
        <p:nvSpPr>
          <p:cNvPr id="13" name="Text 11"/>
          <p:cNvSpPr/>
          <p:nvPr/>
        </p:nvSpPr>
        <p:spPr>
          <a:xfrm>
            <a:off x="6766560" y="1563624"/>
            <a:ext cx="4434840" cy="438912"/>
          </a:xfrm>
          <a:prstGeom prst="rect">
            <a:avLst/>
          </a:prstGeom>
          <a:noFill/>
        </p:spPr>
        <p:txBody>
          <a:bodyPr wrap="square" rtlCol="0" anchor="ctr"/>
          <a:lstStyle/>
          <a:p>
            <a:pPr marL="0" indent="0">
              <a:buNone/>
            </a:pPr>
            <a:r>
              <a:rPr lang="en-US" sz="17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grep</a:t>
            </a:r>
            <a:endParaRPr lang="en-US" sz="1700" dirty="0"/>
          </a:p>
        </p:txBody>
      </p:sp>
      <p:sp>
        <p:nvSpPr>
          <p:cNvPr id="14" name="Text 12"/>
          <p:cNvSpPr/>
          <p:nvPr/>
        </p:nvSpPr>
        <p:spPr>
          <a:xfrm>
            <a:off x="6309360" y="2039112"/>
            <a:ext cx="4892040" cy="384048"/>
          </a:xfrm>
          <a:prstGeom prst="rect">
            <a:avLst/>
          </a:prstGeom>
          <a:noFill/>
        </p:spPr>
        <p:txBody>
          <a:bodyPr wrap="square" rtlCol="0" anchor="ctr"/>
          <a:lstStyle/>
          <a:p>
            <a:pPr marL="0" indent="0">
              <a:lnSpc>
                <a:spcPct val="110000"/>
              </a:lnSpc>
              <a:buNone/>
            </a:pPr>
            <a:r>
              <a:rPr lang="en-US" sz="1150" dirty="0">
                <a:solidFill>
                  <a:srgbClr val="16241C"/>
                </a:solidFill>
                <a:latin typeface="Calibri" panose="020F0502020204030204" pitchFamily="34" charset="0"/>
                <a:ea typeface="Calibri" panose="020F0502020204030204" pitchFamily="34" charset="-122"/>
                <a:cs typeface="Calibri" panose="020F0502020204030204" pitchFamily="34" charset="-120"/>
              </a:rPr>
              <a:t>Searches for text inside files.</a:t>
            </a:r>
            <a:endParaRPr lang="en-US" sz="1150" dirty="0"/>
          </a:p>
        </p:txBody>
      </p:sp>
      <p:sp>
        <p:nvSpPr>
          <p:cNvPr id="15" name="Shape 13"/>
          <p:cNvSpPr/>
          <p:nvPr/>
        </p:nvSpPr>
        <p:spPr>
          <a:xfrm>
            <a:off x="6309360" y="2459736"/>
            <a:ext cx="4892040" cy="3712464"/>
          </a:xfrm>
          <a:prstGeom prst="roundRect">
            <a:avLst>
              <a:gd name="adj" fmla="val 1478"/>
            </a:avLst>
          </a:prstGeom>
          <a:solidFill>
            <a:srgbClr val="0D1912"/>
          </a:solidFill>
        </p:spPr>
      </p:sp>
      <p:sp>
        <p:nvSpPr>
          <p:cNvPr id="16" name="Text 14"/>
          <p:cNvSpPr/>
          <p:nvPr/>
        </p:nvSpPr>
        <p:spPr>
          <a:xfrm>
            <a:off x="6446520" y="2551176"/>
            <a:ext cx="4617720" cy="3529584"/>
          </a:xfrm>
          <a:prstGeom prst="rect">
            <a:avLst/>
          </a:prstGeom>
          <a:noFill/>
        </p:spPr>
        <p:txBody>
          <a:bodyPr wrap="square" rtlCol="0" anchor="t"/>
          <a:lstStyle/>
          <a:p>
            <a:pPr marL="0" indent="0">
              <a:lnSpc>
                <a:spcPct val="120000"/>
              </a:lnSpc>
              <a:buNone/>
            </a:pPr>
            <a:r>
              <a:rPr lang="en-US" sz="1050" dirty="0">
                <a:solidFill>
                  <a:srgbClr val="CFEFE0"/>
                </a:solidFill>
                <a:latin typeface="Courier New" panose="02070309020205020404" pitchFamily="34" charset="0"/>
                <a:ea typeface="Courier New" panose="02070309020205020404" pitchFamily="34" charset="-122"/>
                <a:cs typeface="Courier New" panose="02070309020205020404" pitchFamily="34" charset="-120"/>
              </a:rPr>
              <a:t>Syntax: grep "word" filename</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Example</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grep "error" logs.txt</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Ignore uppercase/lowercase</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grep -i error logs.txt</a:t>
            </a:r>
            <a:endParaRPr lang="en-US" sz="1050" dirty="0"/>
          </a:p>
          <a:p>
            <a:pPr marL="0" indent="0">
              <a:lnSpc>
                <a:spcPct val="120000"/>
              </a:lnSpc>
              <a:buNone/>
            </a:pPr>
            <a:r>
              <a:rPr lang="en-US" sz="950" i="1" dirty="0">
                <a:solidFill>
                  <a:srgbClr val="9FB8AA"/>
                </a:solidFill>
                <a:latin typeface="Courier New" panose="02070309020205020404" pitchFamily="34" charset="0"/>
                <a:ea typeface="Courier New" panose="02070309020205020404" pitchFamily="34" charset="-122"/>
                <a:cs typeface="Courier New" panose="02070309020205020404" pitchFamily="34" charset="-120"/>
              </a:rPr>
              <a:t>Show line numbers</a:t>
            </a:r>
            <a:endParaRPr lang="en-US" sz="1050" dirty="0"/>
          </a:p>
          <a:p>
            <a:pPr marL="0" indent="0">
              <a:lnSpc>
                <a:spcPct val="120000"/>
              </a:lnSpc>
              <a:buNone/>
            </a:pPr>
            <a:r>
              <a:rPr lang="en-US" sz="10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grep -n error logs.txt</a:t>
            </a:r>
            <a:endParaRPr lang="en-US" sz="1050" dirty="0"/>
          </a:p>
        </p:txBody>
      </p:sp>
      <p:sp>
        <p:nvSpPr>
          <p:cNvPr id="17" name="Text 15"/>
          <p:cNvSpPr/>
          <p:nvPr/>
        </p:nvSpPr>
        <p:spPr>
          <a:xfrm>
            <a:off x="457200" y="6510528"/>
            <a:ext cx="7315200" cy="274320"/>
          </a:xfrm>
          <a:prstGeom prst="rect">
            <a:avLst/>
          </a:prstGeom>
          <a:noFill/>
        </p:spPr>
        <p:txBody>
          <a:bodyPr wrap="square" rtlCol="0" anchor="ctr"/>
          <a:lstStyle/>
          <a:p>
            <a:pPr marL="0" indent="0" algn="l">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Day 12 · Linux Commands</a:t>
            </a:r>
            <a:endParaRPr lang="en-US" sz="1000" dirty="0"/>
          </a:p>
        </p:txBody>
      </p:sp>
      <p:sp>
        <p:nvSpPr>
          <p:cNvPr id="18" name="Text 16"/>
          <p:cNvSpPr/>
          <p:nvPr/>
        </p:nvSpPr>
        <p:spPr>
          <a:xfrm>
            <a:off x="11274552" y="6510528"/>
            <a:ext cx="457200" cy="274320"/>
          </a:xfrm>
          <a:prstGeom prst="rect">
            <a:avLst/>
          </a:prstGeom>
          <a:noFill/>
        </p:spPr>
        <p:txBody>
          <a:bodyPr wrap="square" rtlCol="0" anchor="ctr"/>
          <a:lstStyle/>
          <a:p>
            <a:pPr marL="0" indent="0" algn="r">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p:spPr>
        <p:txBody>
          <a:bodyPr wrap="square" rtlCol="0" anchor="ctr"/>
          <a:lstStyle/>
          <a:p>
            <a:pPr marL="0" indent="0">
              <a:buNone/>
            </a:pPr>
            <a:r>
              <a:rPr lang="en-US" sz="2800" b="1" dirty="0">
                <a:solidFill>
                  <a:srgbClr val="16241C"/>
                </a:solidFill>
                <a:latin typeface="Cambria" panose="02040503050406030204" pitchFamily="34" charset="0"/>
                <a:ea typeface="Cambria" panose="02040503050406030204" pitchFamily="34" charset="-122"/>
                <a:cs typeface="Cambria" panose="02040503050406030204" pitchFamily="34" charset="-120"/>
              </a:rPr>
              <a:t>Useful Commands</a:t>
            </a:r>
            <a:endParaRPr lang="en-US" sz="2800" dirty="0"/>
          </a:p>
        </p:txBody>
      </p:sp>
      <p:sp>
        <p:nvSpPr>
          <p:cNvPr id="3" name="Shape 1"/>
          <p:cNvSpPr/>
          <p:nvPr/>
        </p:nvSpPr>
        <p:spPr>
          <a:xfrm>
            <a:off x="457200" y="1554480"/>
            <a:ext cx="3639312" cy="2148840"/>
          </a:xfrm>
          <a:prstGeom prst="roundRect">
            <a:avLst>
              <a:gd name="adj" fmla="val 4255"/>
            </a:avLst>
          </a:prstGeom>
          <a:solidFill>
            <a:srgbClr val="F1F5F2"/>
          </a:solidFill>
        </p:spPr>
      </p:sp>
      <p:sp>
        <p:nvSpPr>
          <p:cNvPr id="4" name="Text 2"/>
          <p:cNvSpPr/>
          <p:nvPr/>
        </p:nvSpPr>
        <p:spPr>
          <a:xfrm>
            <a:off x="685800" y="1719072"/>
            <a:ext cx="3182112" cy="365760"/>
          </a:xfrm>
          <a:prstGeom prst="rect">
            <a:avLst/>
          </a:prstGeom>
          <a:noFill/>
        </p:spPr>
        <p:txBody>
          <a:bodyPr wrap="square" rtlCol="0" anchor="ctr"/>
          <a:lstStyle/>
          <a:p>
            <a:pPr marL="0" indent="0">
              <a:buNone/>
            </a:pPr>
            <a:r>
              <a:rPr lang="en-US" sz="16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clear</a:t>
            </a:r>
            <a:endParaRPr lang="en-US" sz="1600" dirty="0"/>
          </a:p>
        </p:txBody>
      </p:sp>
      <p:sp>
        <p:nvSpPr>
          <p:cNvPr id="5" name="Text 3"/>
          <p:cNvSpPr/>
          <p:nvPr/>
        </p:nvSpPr>
        <p:spPr>
          <a:xfrm>
            <a:off x="685800" y="2103120"/>
            <a:ext cx="3182112" cy="457200"/>
          </a:xfrm>
          <a:prstGeom prst="rect">
            <a:avLst/>
          </a:prstGeom>
          <a:noFill/>
        </p:spPr>
        <p:txBody>
          <a:bodyPr wrap="square" rtlCol="0" anchor="ctr"/>
          <a:lstStyle/>
          <a:p>
            <a:pPr marL="0" indent="0">
              <a:buNone/>
            </a:pPr>
            <a:r>
              <a:rPr lang="en-US" sz="1100" dirty="0">
                <a:solidFill>
                  <a:srgbClr val="16241C"/>
                </a:solidFill>
                <a:latin typeface="Calibri" panose="020F0502020204030204" pitchFamily="34" charset="0"/>
                <a:ea typeface="Calibri" panose="020F0502020204030204" pitchFamily="34" charset="-122"/>
                <a:cs typeface="Calibri" panose="020F0502020204030204" pitchFamily="34" charset="-120"/>
              </a:rPr>
              <a:t>Clears the terminal.</a:t>
            </a:r>
            <a:endParaRPr lang="en-US" sz="1100" dirty="0"/>
          </a:p>
        </p:txBody>
      </p:sp>
      <p:sp>
        <p:nvSpPr>
          <p:cNvPr id="6" name="Shape 4"/>
          <p:cNvSpPr/>
          <p:nvPr/>
        </p:nvSpPr>
        <p:spPr>
          <a:xfrm>
            <a:off x="685800" y="2670048"/>
            <a:ext cx="3182112" cy="868680"/>
          </a:xfrm>
          <a:prstGeom prst="roundRect">
            <a:avLst>
              <a:gd name="adj" fmla="val 6316"/>
            </a:avLst>
          </a:prstGeom>
          <a:solidFill>
            <a:srgbClr val="0D1912"/>
          </a:solidFill>
        </p:spPr>
      </p:sp>
      <p:sp>
        <p:nvSpPr>
          <p:cNvPr id="7" name="Text 5"/>
          <p:cNvSpPr/>
          <p:nvPr/>
        </p:nvSpPr>
        <p:spPr>
          <a:xfrm>
            <a:off x="822960" y="2670048"/>
            <a:ext cx="2907792" cy="868680"/>
          </a:xfrm>
          <a:prstGeom prst="rect">
            <a:avLst/>
          </a:prstGeom>
          <a:noFill/>
        </p:spPr>
        <p:txBody>
          <a:bodyPr wrap="square" rtlCol="0" anchor="ctr"/>
          <a:lstStyle/>
          <a:p>
            <a:pPr marL="0" indent="0">
              <a:lnSpc>
                <a:spcPct val="130000"/>
              </a:lnSpc>
              <a:buNone/>
            </a:pPr>
            <a:r>
              <a:rPr lang="en-US" sz="11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clear</a:t>
            </a:r>
            <a:endParaRPr lang="en-US" sz="1150" dirty="0"/>
          </a:p>
        </p:txBody>
      </p:sp>
      <p:sp>
        <p:nvSpPr>
          <p:cNvPr id="8" name="Shape 6"/>
          <p:cNvSpPr/>
          <p:nvPr/>
        </p:nvSpPr>
        <p:spPr>
          <a:xfrm>
            <a:off x="4279392" y="1554480"/>
            <a:ext cx="3639312" cy="2148840"/>
          </a:xfrm>
          <a:prstGeom prst="roundRect">
            <a:avLst>
              <a:gd name="adj" fmla="val 4255"/>
            </a:avLst>
          </a:prstGeom>
          <a:solidFill>
            <a:srgbClr val="F1F5F2"/>
          </a:solidFill>
        </p:spPr>
      </p:sp>
      <p:sp>
        <p:nvSpPr>
          <p:cNvPr id="9" name="Text 7"/>
          <p:cNvSpPr/>
          <p:nvPr/>
        </p:nvSpPr>
        <p:spPr>
          <a:xfrm>
            <a:off x="4507992" y="1719072"/>
            <a:ext cx="3182112" cy="365760"/>
          </a:xfrm>
          <a:prstGeom prst="rect">
            <a:avLst/>
          </a:prstGeom>
          <a:noFill/>
        </p:spPr>
        <p:txBody>
          <a:bodyPr wrap="square" rtlCol="0" anchor="ctr"/>
          <a:lstStyle/>
          <a:p>
            <a:pPr marL="0" indent="0">
              <a:buNone/>
            </a:pPr>
            <a:r>
              <a:rPr lang="en-US" sz="16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history</a:t>
            </a:r>
            <a:endParaRPr lang="en-US" sz="1600" dirty="0"/>
          </a:p>
        </p:txBody>
      </p:sp>
      <p:sp>
        <p:nvSpPr>
          <p:cNvPr id="10" name="Text 8"/>
          <p:cNvSpPr/>
          <p:nvPr/>
        </p:nvSpPr>
        <p:spPr>
          <a:xfrm>
            <a:off x="4507992" y="2103120"/>
            <a:ext cx="3182112" cy="457200"/>
          </a:xfrm>
          <a:prstGeom prst="rect">
            <a:avLst/>
          </a:prstGeom>
          <a:noFill/>
        </p:spPr>
        <p:txBody>
          <a:bodyPr wrap="square" rtlCol="0" anchor="ctr"/>
          <a:lstStyle/>
          <a:p>
            <a:pPr marL="0" indent="0">
              <a:buNone/>
            </a:pPr>
            <a:r>
              <a:rPr lang="en-US" sz="1100" dirty="0">
                <a:solidFill>
                  <a:srgbClr val="16241C"/>
                </a:solidFill>
                <a:latin typeface="Calibri" panose="020F0502020204030204" pitchFamily="34" charset="0"/>
                <a:ea typeface="Calibri" panose="020F0502020204030204" pitchFamily="34" charset="-122"/>
                <a:cs typeface="Calibri" panose="020F0502020204030204" pitchFamily="34" charset="-120"/>
              </a:rPr>
              <a:t>Shows command history.</a:t>
            </a:r>
            <a:endParaRPr lang="en-US" sz="1100" dirty="0"/>
          </a:p>
        </p:txBody>
      </p:sp>
      <p:sp>
        <p:nvSpPr>
          <p:cNvPr id="11" name="Shape 9"/>
          <p:cNvSpPr/>
          <p:nvPr/>
        </p:nvSpPr>
        <p:spPr>
          <a:xfrm>
            <a:off x="4507992" y="2670048"/>
            <a:ext cx="3182112" cy="868680"/>
          </a:xfrm>
          <a:prstGeom prst="roundRect">
            <a:avLst>
              <a:gd name="adj" fmla="val 6316"/>
            </a:avLst>
          </a:prstGeom>
          <a:solidFill>
            <a:srgbClr val="0D1912"/>
          </a:solidFill>
        </p:spPr>
      </p:sp>
      <p:sp>
        <p:nvSpPr>
          <p:cNvPr id="12" name="Text 10"/>
          <p:cNvSpPr/>
          <p:nvPr/>
        </p:nvSpPr>
        <p:spPr>
          <a:xfrm>
            <a:off x="4645152" y="2670048"/>
            <a:ext cx="2907792" cy="868680"/>
          </a:xfrm>
          <a:prstGeom prst="rect">
            <a:avLst/>
          </a:prstGeom>
          <a:noFill/>
        </p:spPr>
        <p:txBody>
          <a:bodyPr wrap="square" rtlCol="0" anchor="ctr"/>
          <a:lstStyle/>
          <a:p>
            <a:pPr marL="0" indent="0">
              <a:lnSpc>
                <a:spcPct val="130000"/>
              </a:lnSpc>
              <a:buNone/>
            </a:pPr>
            <a:r>
              <a:rPr lang="en-US" sz="11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history</a:t>
            </a:r>
            <a:endParaRPr lang="en-US" sz="1150" dirty="0"/>
          </a:p>
        </p:txBody>
      </p:sp>
      <p:sp>
        <p:nvSpPr>
          <p:cNvPr id="13" name="Shape 11"/>
          <p:cNvSpPr/>
          <p:nvPr/>
        </p:nvSpPr>
        <p:spPr>
          <a:xfrm>
            <a:off x="8101584" y="1554480"/>
            <a:ext cx="3639312" cy="2148840"/>
          </a:xfrm>
          <a:prstGeom prst="roundRect">
            <a:avLst>
              <a:gd name="adj" fmla="val 4255"/>
            </a:avLst>
          </a:prstGeom>
          <a:solidFill>
            <a:srgbClr val="F1F5F2"/>
          </a:solidFill>
        </p:spPr>
      </p:sp>
      <p:sp>
        <p:nvSpPr>
          <p:cNvPr id="14" name="Text 12"/>
          <p:cNvSpPr/>
          <p:nvPr/>
        </p:nvSpPr>
        <p:spPr>
          <a:xfrm>
            <a:off x="8330184" y="1719072"/>
            <a:ext cx="3182112" cy="365760"/>
          </a:xfrm>
          <a:prstGeom prst="rect">
            <a:avLst/>
          </a:prstGeom>
          <a:noFill/>
        </p:spPr>
        <p:txBody>
          <a:bodyPr wrap="square" rtlCol="0" anchor="ctr"/>
          <a:lstStyle/>
          <a:p>
            <a:pPr marL="0" indent="0">
              <a:buNone/>
            </a:pPr>
            <a:r>
              <a:rPr lang="en-US" sz="16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whoami</a:t>
            </a:r>
            <a:endParaRPr lang="en-US" sz="1600" dirty="0"/>
          </a:p>
        </p:txBody>
      </p:sp>
      <p:sp>
        <p:nvSpPr>
          <p:cNvPr id="15" name="Text 13"/>
          <p:cNvSpPr/>
          <p:nvPr/>
        </p:nvSpPr>
        <p:spPr>
          <a:xfrm>
            <a:off x="8330184" y="2103120"/>
            <a:ext cx="3182112" cy="457200"/>
          </a:xfrm>
          <a:prstGeom prst="rect">
            <a:avLst/>
          </a:prstGeom>
          <a:noFill/>
        </p:spPr>
        <p:txBody>
          <a:bodyPr wrap="square" rtlCol="0" anchor="ctr"/>
          <a:lstStyle/>
          <a:p>
            <a:pPr marL="0" indent="0">
              <a:buNone/>
            </a:pPr>
            <a:r>
              <a:rPr lang="en-US" sz="1100" dirty="0">
                <a:solidFill>
                  <a:srgbClr val="16241C"/>
                </a:solidFill>
                <a:latin typeface="Calibri" panose="020F0502020204030204" pitchFamily="34" charset="0"/>
                <a:ea typeface="Calibri" panose="020F0502020204030204" pitchFamily="34" charset="-122"/>
                <a:cs typeface="Calibri" panose="020F0502020204030204" pitchFamily="34" charset="-120"/>
              </a:rPr>
              <a:t>Shows current user.</a:t>
            </a:r>
            <a:endParaRPr lang="en-US" sz="1100" dirty="0"/>
          </a:p>
        </p:txBody>
      </p:sp>
      <p:sp>
        <p:nvSpPr>
          <p:cNvPr id="16" name="Shape 14"/>
          <p:cNvSpPr/>
          <p:nvPr/>
        </p:nvSpPr>
        <p:spPr>
          <a:xfrm>
            <a:off x="8330184" y="2670048"/>
            <a:ext cx="3182112" cy="868680"/>
          </a:xfrm>
          <a:prstGeom prst="roundRect">
            <a:avLst>
              <a:gd name="adj" fmla="val 6316"/>
            </a:avLst>
          </a:prstGeom>
          <a:solidFill>
            <a:srgbClr val="0D1912"/>
          </a:solidFill>
        </p:spPr>
      </p:sp>
      <p:sp>
        <p:nvSpPr>
          <p:cNvPr id="17" name="Text 15"/>
          <p:cNvSpPr/>
          <p:nvPr/>
        </p:nvSpPr>
        <p:spPr>
          <a:xfrm>
            <a:off x="8467344" y="2670048"/>
            <a:ext cx="2907792" cy="868680"/>
          </a:xfrm>
          <a:prstGeom prst="rect">
            <a:avLst/>
          </a:prstGeom>
          <a:noFill/>
        </p:spPr>
        <p:txBody>
          <a:bodyPr wrap="square" rtlCol="0" anchor="ctr"/>
          <a:lstStyle/>
          <a:p>
            <a:pPr marL="0" indent="0">
              <a:lnSpc>
                <a:spcPct val="130000"/>
              </a:lnSpc>
              <a:buNone/>
            </a:pPr>
            <a:r>
              <a:rPr lang="en-US" sz="11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whoami</a:t>
            </a:r>
            <a:endParaRPr lang="en-US" sz="1150" dirty="0"/>
          </a:p>
        </p:txBody>
      </p:sp>
      <p:sp>
        <p:nvSpPr>
          <p:cNvPr id="18" name="Shape 16"/>
          <p:cNvSpPr/>
          <p:nvPr/>
        </p:nvSpPr>
        <p:spPr>
          <a:xfrm>
            <a:off x="457200" y="3931920"/>
            <a:ext cx="3639312" cy="2148840"/>
          </a:xfrm>
          <a:prstGeom prst="roundRect">
            <a:avLst>
              <a:gd name="adj" fmla="val 4255"/>
            </a:avLst>
          </a:prstGeom>
          <a:solidFill>
            <a:srgbClr val="F1F5F2"/>
          </a:solidFill>
        </p:spPr>
      </p:sp>
      <p:sp>
        <p:nvSpPr>
          <p:cNvPr id="19" name="Text 17"/>
          <p:cNvSpPr/>
          <p:nvPr/>
        </p:nvSpPr>
        <p:spPr>
          <a:xfrm>
            <a:off x="685800" y="4096512"/>
            <a:ext cx="3182112" cy="365760"/>
          </a:xfrm>
          <a:prstGeom prst="rect">
            <a:avLst/>
          </a:prstGeom>
          <a:noFill/>
        </p:spPr>
        <p:txBody>
          <a:bodyPr wrap="square" rtlCol="0" anchor="ctr"/>
          <a:lstStyle/>
          <a:p>
            <a:pPr marL="0" indent="0">
              <a:buNone/>
            </a:pPr>
            <a:r>
              <a:rPr lang="en-US" sz="16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man</a:t>
            </a:r>
            <a:endParaRPr lang="en-US" sz="1600" dirty="0"/>
          </a:p>
        </p:txBody>
      </p:sp>
      <p:sp>
        <p:nvSpPr>
          <p:cNvPr id="20" name="Text 18"/>
          <p:cNvSpPr/>
          <p:nvPr/>
        </p:nvSpPr>
        <p:spPr>
          <a:xfrm>
            <a:off x="685800" y="4480560"/>
            <a:ext cx="3182112" cy="457200"/>
          </a:xfrm>
          <a:prstGeom prst="rect">
            <a:avLst/>
          </a:prstGeom>
          <a:noFill/>
        </p:spPr>
        <p:txBody>
          <a:bodyPr wrap="square" rtlCol="0" anchor="ctr"/>
          <a:lstStyle/>
          <a:p>
            <a:pPr marL="0" indent="0">
              <a:buNone/>
            </a:pPr>
            <a:r>
              <a:rPr lang="en-US" sz="1100" dirty="0">
                <a:solidFill>
                  <a:srgbClr val="16241C"/>
                </a:solidFill>
                <a:latin typeface="Calibri" panose="020F0502020204030204" pitchFamily="34" charset="0"/>
                <a:ea typeface="Calibri" panose="020F0502020204030204" pitchFamily="34" charset="-122"/>
                <a:cs typeface="Calibri" panose="020F0502020204030204" pitchFamily="34" charset="-120"/>
              </a:rPr>
              <a:t>Shows the manual page.</a:t>
            </a:r>
            <a:endParaRPr lang="en-US" sz="1100" dirty="0"/>
          </a:p>
        </p:txBody>
      </p:sp>
      <p:sp>
        <p:nvSpPr>
          <p:cNvPr id="21" name="Shape 19"/>
          <p:cNvSpPr/>
          <p:nvPr/>
        </p:nvSpPr>
        <p:spPr>
          <a:xfrm>
            <a:off x="685800" y="5047488"/>
            <a:ext cx="3182112" cy="868680"/>
          </a:xfrm>
          <a:prstGeom prst="roundRect">
            <a:avLst>
              <a:gd name="adj" fmla="val 6316"/>
            </a:avLst>
          </a:prstGeom>
          <a:solidFill>
            <a:srgbClr val="0D1912"/>
          </a:solidFill>
        </p:spPr>
      </p:sp>
      <p:sp>
        <p:nvSpPr>
          <p:cNvPr id="22" name="Text 20"/>
          <p:cNvSpPr/>
          <p:nvPr/>
        </p:nvSpPr>
        <p:spPr>
          <a:xfrm>
            <a:off x="822960" y="5047488"/>
            <a:ext cx="2907792" cy="868680"/>
          </a:xfrm>
          <a:prstGeom prst="rect">
            <a:avLst/>
          </a:prstGeom>
          <a:noFill/>
        </p:spPr>
        <p:txBody>
          <a:bodyPr wrap="square" rtlCol="0" anchor="ctr"/>
          <a:lstStyle/>
          <a:p>
            <a:pPr marL="0" indent="0">
              <a:lnSpc>
                <a:spcPct val="130000"/>
              </a:lnSpc>
              <a:buNone/>
            </a:pPr>
            <a:r>
              <a:rPr lang="en-US" sz="11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man ls</a:t>
            </a:r>
            <a:endParaRPr lang="en-US" sz="1150" dirty="0"/>
          </a:p>
        </p:txBody>
      </p:sp>
      <p:sp>
        <p:nvSpPr>
          <p:cNvPr id="23" name="Shape 21"/>
          <p:cNvSpPr/>
          <p:nvPr/>
        </p:nvSpPr>
        <p:spPr>
          <a:xfrm>
            <a:off x="4279392" y="3931920"/>
            <a:ext cx="3639312" cy="2148840"/>
          </a:xfrm>
          <a:prstGeom prst="roundRect">
            <a:avLst>
              <a:gd name="adj" fmla="val 4255"/>
            </a:avLst>
          </a:prstGeom>
          <a:solidFill>
            <a:srgbClr val="F1F5F2"/>
          </a:solidFill>
        </p:spPr>
      </p:sp>
      <p:sp>
        <p:nvSpPr>
          <p:cNvPr id="24" name="Text 22"/>
          <p:cNvSpPr/>
          <p:nvPr/>
        </p:nvSpPr>
        <p:spPr>
          <a:xfrm>
            <a:off x="4507992" y="4096512"/>
            <a:ext cx="3182112" cy="365760"/>
          </a:xfrm>
          <a:prstGeom prst="rect">
            <a:avLst/>
          </a:prstGeom>
          <a:noFill/>
        </p:spPr>
        <p:txBody>
          <a:bodyPr wrap="square" rtlCol="0" anchor="ctr"/>
          <a:lstStyle/>
          <a:p>
            <a:pPr marL="0" indent="0">
              <a:buNone/>
            </a:pPr>
            <a:r>
              <a:rPr lang="en-US" sz="1600" b="1" dirty="0">
                <a:solidFill>
                  <a:srgbClr val="16A34A"/>
                </a:solidFill>
                <a:latin typeface="Courier New" panose="02070309020205020404" pitchFamily="34" charset="0"/>
                <a:ea typeface="Courier New" panose="02070309020205020404" pitchFamily="34" charset="-122"/>
                <a:cs typeface="Courier New" panose="02070309020205020404" pitchFamily="34" charset="-120"/>
              </a:rPr>
              <a:t>echo</a:t>
            </a:r>
            <a:endParaRPr lang="en-US" sz="1600" dirty="0"/>
          </a:p>
        </p:txBody>
      </p:sp>
      <p:sp>
        <p:nvSpPr>
          <p:cNvPr id="25" name="Text 23"/>
          <p:cNvSpPr/>
          <p:nvPr/>
        </p:nvSpPr>
        <p:spPr>
          <a:xfrm>
            <a:off x="4507992" y="4480560"/>
            <a:ext cx="3182112" cy="457200"/>
          </a:xfrm>
          <a:prstGeom prst="rect">
            <a:avLst/>
          </a:prstGeom>
          <a:noFill/>
        </p:spPr>
        <p:txBody>
          <a:bodyPr wrap="square" rtlCol="0" anchor="ctr"/>
          <a:lstStyle/>
          <a:p>
            <a:pPr marL="0" indent="0">
              <a:buNone/>
            </a:pPr>
            <a:r>
              <a:rPr lang="en-US" sz="1100" dirty="0">
                <a:solidFill>
                  <a:srgbClr val="16241C"/>
                </a:solidFill>
                <a:latin typeface="Calibri" panose="020F0502020204030204" pitchFamily="34" charset="0"/>
                <a:ea typeface="Calibri" panose="020F0502020204030204" pitchFamily="34" charset="-122"/>
                <a:cs typeface="Calibri" panose="020F0502020204030204" pitchFamily="34" charset="-120"/>
              </a:rPr>
              <a:t>Prints text. Can also save text to a file.</a:t>
            </a:r>
            <a:endParaRPr lang="en-US" sz="1100" dirty="0"/>
          </a:p>
        </p:txBody>
      </p:sp>
      <p:sp>
        <p:nvSpPr>
          <p:cNvPr id="26" name="Shape 24"/>
          <p:cNvSpPr/>
          <p:nvPr/>
        </p:nvSpPr>
        <p:spPr>
          <a:xfrm>
            <a:off x="4507992" y="5047488"/>
            <a:ext cx="3182112" cy="868680"/>
          </a:xfrm>
          <a:prstGeom prst="roundRect">
            <a:avLst>
              <a:gd name="adj" fmla="val 6316"/>
            </a:avLst>
          </a:prstGeom>
          <a:solidFill>
            <a:srgbClr val="0D1912"/>
          </a:solidFill>
        </p:spPr>
      </p:sp>
      <p:sp>
        <p:nvSpPr>
          <p:cNvPr id="27" name="Text 25"/>
          <p:cNvSpPr/>
          <p:nvPr/>
        </p:nvSpPr>
        <p:spPr>
          <a:xfrm>
            <a:off x="4645152" y="5047488"/>
            <a:ext cx="2907792" cy="868680"/>
          </a:xfrm>
          <a:prstGeom prst="rect">
            <a:avLst/>
          </a:prstGeom>
          <a:noFill/>
        </p:spPr>
        <p:txBody>
          <a:bodyPr wrap="square" rtlCol="0" anchor="ctr"/>
          <a:lstStyle/>
          <a:p>
            <a:pPr marL="0" indent="0">
              <a:lnSpc>
                <a:spcPct val="130000"/>
              </a:lnSpc>
              <a:buNone/>
            </a:pPr>
            <a:r>
              <a:rPr lang="en-US" sz="11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echo Hello</a:t>
            </a:r>
            <a:endParaRPr lang="en-US" sz="1150" dirty="0"/>
          </a:p>
          <a:p>
            <a:pPr marL="0" indent="0">
              <a:lnSpc>
                <a:spcPct val="130000"/>
              </a:lnSpc>
              <a:buNone/>
            </a:pPr>
            <a:r>
              <a:rPr lang="en-US" sz="115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echo "SOC Analyst" &gt; notes.txt</a:t>
            </a:r>
            <a:endParaRPr lang="en-US" sz="1150" dirty="0"/>
          </a:p>
        </p:txBody>
      </p:sp>
      <p:sp>
        <p:nvSpPr>
          <p:cNvPr id="28" name="Text 26"/>
          <p:cNvSpPr/>
          <p:nvPr/>
        </p:nvSpPr>
        <p:spPr>
          <a:xfrm>
            <a:off x="457200" y="6510528"/>
            <a:ext cx="7315200" cy="274320"/>
          </a:xfrm>
          <a:prstGeom prst="rect">
            <a:avLst/>
          </a:prstGeom>
          <a:noFill/>
        </p:spPr>
        <p:txBody>
          <a:bodyPr wrap="square" rtlCol="0" anchor="ctr"/>
          <a:lstStyle/>
          <a:p>
            <a:pPr marL="0" indent="0" algn="l">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Day 12 · Linux Commands</a:t>
            </a:r>
            <a:endParaRPr lang="en-US" sz="1000" dirty="0"/>
          </a:p>
        </p:txBody>
      </p:sp>
      <p:sp>
        <p:nvSpPr>
          <p:cNvPr id="29" name="Text 27"/>
          <p:cNvSpPr/>
          <p:nvPr/>
        </p:nvSpPr>
        <p:spPr>
          <a:xfrm>
            <a:off x="11274552" y="6510528"/>
            <a:ext cx="457200" cy="274320"/>
          </a:xfrm>
          <a:prstGeom prst="rect">
            <a:avLst/>
          </a:prstGeom>
          <a:noFill/>
        </p:spPr>
        <p:txBody>
          <a:bodyPr wrap="square" rtlCol="0" anchor="ctr"/>
          <a:lstStyle/>
          <a:p>
            <a:pPr marL="0" indent="0" algn="r">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p:spPr>
        <p:txBody>
          <a:bodyPr wrap="square" rtlCol="0" anchor="ctr"/>
          <a:lstStyle/>
          <a:p>
            <a:pPr marL="0" indent="0">
              <a:buNone/>
            </a:pPr>
            <a:r>
              <a:rPr lang="en-US" sz="2800" b="1" dirty="0">
                <a:solidFill>
                  <a:srgbClr val="16241C"/>
                </a:solidFill>
                <a:latin typeface="Cambria" panose="02040503050406030204" pitchFamily="34" charset="0"/>
                <a:ea typeface="Cambria" panose="02040503050406030204" pitchFamily="34" charset="-122"/>
                <a:cs typeface="Cambria" panose="02040503050406030204" pitchFamily="34" charset="-120"/>
              </a:rPr>
              <a:t>Practical Lab</a:t>
            </a:r>
            <a:endParaRPr lang="en-US" sz="2800" dirty="0"/>
          </a:p>
        </p:txBody>
      </p:sp>
      <p:sp>
        <p:nvSpPr>
          <p:cNvPr id="3" name="Shape 1"/>
          <p:cNvSpPr/>
          <p:nvPr/>
        </p:nvSpPr>
        <p:spPr>
          <a:xfrm>
            <a:off x="457200" y="1463040"/>
            <a:ext cx="11274552" cy="4846320"/>
          </a:xfrm>
          <a:prstGeom prst="roundRect">
            <a:avLst>
              <a:gd name="adj" fmla="val 2264"/>
            </a:avLst>
          </a:prstGeom>
          <a:solidFill>
            <a:srgbClr val="0D1912"/>
          </a:solidFill>
        </p:spPr>
      </p:sp>
      <p:sp>
        <p:nvSpPr>
          <p:cNvPr id="4" name="Shape 2"/>
          <p:cNvSpPr/>
          <p:nvPr/>
        </p:nvSpPr>
        <p:spPr>
          <a:xfrm>
            <a:off x="731520" y="1691640"/>
            <a:ext cx="146304" cy="146304"/>
          </a:xfrm>
          <a:prstGeom prst="ellipse">
            <a:avLst/>
          </a:prstGeom>
          <a:solidFill>
            <a:srgbClr val="EF4444"/>
          </a:solidFill>
        </p:spPr>
      </p:sp>
      <p:sp>
        <p:nvSpPr>
          <p:cNvPr id="5" name="Shape 3"/>
          <p:cNvSpPr/>
          <p:nvPr/>
        </p:nvSpPr>
        <p:spPr>
          <a:xfrm>
            <a:off x="960120" y="1691640"/>
            <a:ext cx="146304" cy="146304"/>
          </a:xfrm>
          <a:prstGeom prst="ellipse">
            <a:avLst/>
          </a:prstGeom>
          <a:solidFill>
            <a:srgbClr val="F59E0B"/>
          </a:solidFill>
        </p:spPr>
      </p:sp>
      <p:sp>
        <p:nvSpPr>
          <p:cNvPr id="6" name="Shape 4"/>
          <p:cNvSpPr/>
          <p:nvPr/>
        </p:nvSpPr>
        <p:spPr>
          <a:xfrm>
            <a:off x="1188720" y="1691640"/>
            <a:ext cx="146304" cy="146304"/>
          </a:xfrm>
          <a:prstGeom prst="ellipse">
            <a:avLst/>
          </a:prstGeom>
          <a:solidFill>
            <a:srgbClr val="22C55E"/>
          </a:solidFill>
        </p:spPr>
      </p:sp>
      <p:sp>
        <p:nvSpPr>
          <p:cNvPr id="7" name="Text 5"/>
          <p:cNvSpPr/>
          <p:nvPr/>
        </p:nvSpPr>
        <p:spPr>
          <a:xfrm>
            <a:off x="822960" y="2103120"/>
            <a:ext cx="5120640" cy="3931920"/>
          </a:xfrm>
          <a:prstGeom prst="rect">
            <a:avLst/>
          </a:prstGeom>
          <a:noFill/>
        </p:spPr>
        <p:txBody>
          <a:bodyPr wrap="square" rtlCol="0" anchor="ctr"/>
          <a:lstStyle/>
          <a:p>
            <a:pPr marL="0" indent="0">
              <a:lnSpc>
                <a:spcPct val="160000"/>
              </a:lnSpc>
              <a:buNone/>
            </a:pPr>
            <a:r>
              <a:rPr lang="en-US" sz="1500"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 pwd</a:t>
            </a:r>
            <a:endParaRPr lang="en-US" sz="1500" dirty="0"/>
          </a:p>
          <a:p>
            <a:pPr marL="0" indent="0">
              <a:lnSpc>
                <a:spcPct val="160000"/>
              </a:lnSpc>
              <a:buNone/>
            </a:pPr>
            <a:r>
              <a:rPr lang="en-US" sz="1500"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 ls</a:t>
            </a:r>
            <a:endParaRPr lang="en-US" sz="1500" dirty="0"/>
          </a:p>
          <a:p>
            <a:pPr marL="0" indent="0">
              <a:lnSpc>
                <a:spcPct val="160000"/>
              </a:lnSpc>
              <a:buNone/>
            </a:pPr>
            <a:r>
              <a:rPr lang="en-US" sz="1500"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 mkdir SOC</a:t>
            </a:r>
            <a:endParaRPr lang="en-US" sz="1500" dirty="0"/>
          </a:p>
          <a:p>
            <a:pPr marL="0" indent="0">
              <a:lnSpc>
                <a:spcPct val="160000"/>
              </a:lnSpc>
              <a:buNone/>
            </a:pPr>
            <a:r>
              <a:rPr lang="en-US" sz="1500"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 cd SOC</a:t>
            </a:r>
            <a:endParaRPr lang="en-US" sz="1500" dirty="0"/>
          </a:p>
          <a:p>
            <a:pPr marL="0" indent="0">
              <a:lnSpc>
                <a:spcPct val="160000"/>
              </a:lnSpc>
              <a:buNone/>
            </a:pPr>
            <a:r>
              <a:rPr lang="en-US" sz="1500"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 touch notes.txt</a:t>
            </a:r>
            <a:endParaRPr lang="en-US" sz="1500" dirty="0"/>
          </a:p>
          <a:p>
            <a:pPr marL="0" indent="0">
              <a:lnSpc>
                <a:spcPct val="160000"/>
              </a:lnSpc>
              <a:buNone/>
            </a:pPr>
            <a:r>
              <a:rPr lang="en-US" sz="1500"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 nano notes.txt</a:t>
            </a:r>
            <a:endParaRPr lang="en-US" sz="1500" dirty="0"/>
          </a:p>
          <a:p>
            <a:pPr marL="0" indent="0">
              <a:lnSpc>
                <a:spcPct val="160000"/>
              </a:lnSpc>
              <a:buNone/>
            </a:pPr>
            <a:r>
              <a:rPr lang="en-US" sz="1500"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 cat notes.txt</a:t>
            </a:r>
            <a:endParaRPr lang="en-US" sz="1500" dirty="0"/>
          </a:p>
        </p:txBody>
      </p:sp>
      <p:sp>
        <p:nvSpPr>
          <p:cNvPr id="8" name="Text 6"/>
          <p:cNvSpPr/>
          <p:nvPr/>
        </p:nvSpPr>
        <p:spPr>
          <a:xfrm>
            <a:off x="6217920" y="2103120"/>
            <a:ext cx="5120640" cy="3931920"/>
          </a:xfrm>
          <a:prstGeom prst="rect">
            <a:avLst/>
          </a:prstGeom>
          <a:noFill/>
        </p:spPr>
        <p:txBody>
          <a:bodyPr wrap="square" rtlCol="0" anchor="ctr"/>
          <a:lstStyle/>
          <a:p>
            <a:pPr marL="0" indent="0">
              <a:lnSpc>
                <a:spcPct val="160000"/>
              </a:lnSpc>
              <a:buNone/>
            </a:pPr>
            <a:r>
              <a:rPr lang="en-US" sz="1500"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 cp notes.txt backup.txt</a:t>
            </a:r>
            <a:endParaRPr lang="en-US" sz="1500" dirty="0"/>
          </a:p>
          <a:p>
            <a:pPr marL="0" indent="0">
              <a:lnSpc>
                <a:spcPct val="160000"/>
              </a:lnSpc>
              <a:buNone/>
            </a:pPr>
            <a:r>
              <a:rPr lang="en-US" sz="1500"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 mv backup.txt report.txt</a:t>
            </a:r>
            <a:endParaRPr lang="en-US" sz="1500" dirty="0"/>
          </a:p>
          <a:p>
            <a:pPr marL="0" indent="0">
              <a:lnSpc>
                <a:spcPct val="160000"/>
              </a:lnSpc>
              <a:buNone/>
            </a:pPr>
            <a:r>
              <a:rPr lang="en-US" sz="1500"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 find . -name report.txt</a:t>
            </a:r>
            <a:endParaRPr lang="en-US" sz="1500" dirty="0"/>
          </a:p>
          <a:p>
            <a:pPr marL="0" indent="0">
              <a:lnSpc>
                <a:spcPct val="160000"/>
              </a:lnSpc>
              <a:buNone/>
            </a:pPr>
            <a:r>
              <a:rPr lang="en-US" sz="1500"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 grep "Linux" notes.txt</a:t>
            </a:r>
            <a:endParaRPr lang="en-US" sz="1500" dirty="0"/>
          </a:p>
          <a:p>
            <a:pPr marL="0" indent="0">
              <a:lnSpc>
                <a:spcPct val="160000"/>
              </a:lnSpc>
              <a:buNone/>
            </a:pPr>
            <a:r>
              <a:rPr lang="en-US" sz="1500"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 chmod 644 notes.txt</a:t>
            </a:r>
            <a:endParaRPr lang="en-US" sz="1500" dirty="0"/>
          </a:p>
          <a:p>
            <a:pPr marL="0" indent="0">
              <a:lnSpc>
                <a:spcPct val="160000"/>
              </a:lnSpc>
              <a:buNone/>
            </a:pPr>
            <a:r>
              <a:rPr lang="en-US" sz="1500"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 history</a:t>
            </a:r>
            <a:endParaRPr lang="en-US" sz="1500" dirty="0"/>
          </a:p>
          <a:p>
            <a:pPr marL="0" indent="0">
              <a:lnSpc>
                <a:spcPct val="160000"/>
              </a:lnSpc>
              <a:buNone/>
            </a:pPr>
            <a:r>
              <a:rPr lang="en-US" sz="1500"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 whoami</a:t>
            </a:r>
            <a:endParaRPr lang="en-US" sz="1500" dirty="0"/>
          </a:p>
        </p:txBody>
      </p:sp>
      <p:sp>
        <p:nvSpPr>
          <p:cNvPr id="9" name="Text 7"/>
          <p:cNvSpPr/>
          <p:nvPr/>
        </p:nvSpPr>
        <p:spPr>
          <a:xfrm>
            <a:off x="457200" y="6510528"/>
            <a:ext cx="7315200" cy="274320"/>
          </a:xfrm>
          <a:prstGeom prst="rect">
            <a:avLst/>
          </a:prstGeom>
          <a:noFill/>
        </p:spPr>
        <p:txBody>
          <a:bodyPr wrap="square" rtlCol="0" anchor="ctr"/>
          <a:lstStyle/>
          <a:p>
            <a:pPr marL="0" indent="0" algn="l">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Day 12 · Linux Commands</a:t>
            </a:r>
            <a:endParaRPr lang="en-US" sz="1000" dirty="0"/>
          </a:p>
        </p:txBody>
      </p:sp>
      <p:sp>
        <p:nvSpPr>
          <p:cNvPr id="10" name="Text 8"/>
          <p:cNvSpPr/>
          <p:nvPr/>
        </p:nvSpPr>
        <p:spPr>
          <a:xfrm>
            <a:off x="11274552" y="6510528"/>
            <a:ext cx="457200" cy="274320"/>
          </a:xfrm>
          <a:prstGeom prst="rect">
            <a:avLst/>
          </a:prstGeom>
          <a:noFill/>
        </p:spPr>
        <p:txBody>
          <a:bodyPr wrap="square" rtlCol="0" anchor="ctr"/>
          <a:lstStyle/>
          <a:p>
            <a:pPr marL="0" indent="0" algn="r">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p:spPr>
        <p:txBody>
          <a:bodyPr wrap="square" rtlCol="0" anchor="ctr"/>
          <a:lstStyle/>
          <a:p>
            <a:pPr marL="0" indent="0">
              <a:buNone/>
            </a:pPr>
            <a:r>
              <a:rPr lang="en-US" sz="2800" b="1" dirty="0">
                <a:solidFill>
                  <a:srgbClr val="16241C"/>
                </a:solidFill>
                <a:latin typeface="Cambria" panose="02040503050406030204" pitchFamily="34" charset="0"/>
                <a:ea typeface="Cambria" panose="02040503050406030204" pitchFamily="34" charset="-122"/>
                <a:cs typeface="Cambria" panose="02040503050406030204" pitchFamily="34" charset="-120"/>
              </a:rPr>
              <a:t>Real-Life SOC Analyst Example</a:t>
            </a:r>
            <a:endParaRPr lang="en-US" sz="2800" dirty="0"/>
          </a:p>
        </p:txBody>
      </p:sp>
      <p:sp>
        <p:nvSpPr>
          <p:cNvPr id="3" name="Text 1"/>
          <p:cNvSpPr/>
          <p:nvPr/>
        </p:nvSpPr>
        <p:spPr>
          <a:xfrm>
            <a:off x="457200" y="932688"/>
            <a:ext cx="11274552" cy="365760"/>
          </a:xfrm>
          <a:prstGeom prst="rect">
            <a:avLst/>
          </a:prstGeom>
          <a:noFill/>
        </p:spPr>
        <p:txBody>
          <a:bodyPr wrap="square" rtlCol="0" anchor="ctr"/>
          <a:lstStyle/>
          <a:p>
            <a:pPr marL="0" indent="0">
              <a:buNone/>
            </a:pPr>
            <a:r>
              <a:rPr lang="en-US" sz="1350" i="1" dirty="0">
                <a:solidFill>
                  <a:srgbClr val="5B6B63"/>
                </a:solidFill>
                <a:latin typeface="Calibri" panose="020F0502020204030204" pitchFamily="34" charset="0"/>
                <a:ea typeface="Calibri" panose="020F0502020204030204" pitchFamily="34" charset="-122"/>
                <a:cs typeface="Calibri" panose="020F0502020204030204" pitchFamily="34" charset="-120"/>
              </a:rPr>
              <a:t>Suppose a server has a suspicious log file.</a:t>
            </a:r>
            <a:endParaRPr lang="en-US" sz="1350" dirty="0"/>
          </a:p>
        </p:txBody>
      </p:sp>
      <p:sp>
        <p:nvSpPr>
          <p:cNvPr id="4" name="Shape 2"/>
          <p:cNvSpPr/>
          <p:nvPr/>
        </p:nvSpPr>
        <p:spPr>
          <a:xfrm>
            <a:off x="457200" y="1920240"/>
            <a:ext cx="402336" cy="402336"/>
          </a:xfrm>
          <a:prstGeom prst="ellipse">
            <a:avLst/>
          </a:prstGeom>
          <a:solidFill>
            <a:srgbClr val="22C55E"/>
          </a:solidFill>
        </p:spPr>
      </p:sp>
      <p:sp>
        <p:nvSpPr>
          <p:cNvPr id="5" name="Text 3"/>
          <p:cNvSpPr/>
          <p:nvPr/>
        </p:nvSpPr>
        <p:spPr>
          <a:xfrm>
            <a:off x="457200" y="1920240"/>
            <a:ext cx="402336" cy="402336"/>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6" name="Text 4"/>
          <p:cNvSpPr/>
          <p:nvPr/>
        </p:nvSpPr>
        <p:spPr>
          <a:xfrm>
            <a:off x="1005840" y="1901952"/>
            <a:ext cx="3931920" cy="457200"/>
          </a:xfrm>
          <a:prstGeom prst="rect">
            <a:avLst/>
          </a:prstGeom>
          <a:noFill/>
        </p:spPr>
        <p:txBody>
          <a:bodyPr wrap="square" rtlCol="0" anchor="ctr"/>
          <a:lstStyle/>
          <a:p>
            <a:pPr marL="0" indent="0">
              <a:buNone/>
            </a:pPr>
            <a:r>
              <a:rPr lang="en-US" sz="1400" dirty="0">
                <a:solidFill>
                  <a:srgbClr val="16241C"/>
                </a:solidFill>
                <a:latin typeface="Calibri" panose="020F0502020204030204" pitchFamily="34" charset="0"/>
                <a:ea typeface="Calibri" panose="020F0502020204030204" pitchFamily="34" charset="-122"/>
                <a:cs typeface="Calibri" panose="020F0502020204030204" pitchFamily="34" charset="-120"/>
              </a:rPr>
              <a:t>Check current location</a:t>
            </a:r>
            <a:endParaRPr lang="en-US" sz="1400" dirty="0"/>
          </a:p>
        </p:txBody>
      </p:sp>
      <p:sp>
        <p:nvSpPr>
          <p:cNvPr id="7" name="Shape 5"/>
          <p:cNvSpPr/>
          <p:nvPr/>
        </p:nvSpPr>
        <p:spPr>
          <a:xfrm>
            <a:off x="5029200" y="1874520"/>
            <a:ext cx="6245352" cy="502920"/>
          </a:xfrm>
          <a:prstGeom prst="roundRect">
            <a:avLst>
              <a:gd name="adj" fmla="val 10909"/>
            </a:avLst>
          </a:prstGeom>
          <a:solidFill>
            <a:srgbClr val="0D1912"/>
          </a:solidFill>
        </p:spPr>
      </p:sp>
      <p:sp>
        <p:nvSpPr>
          <p:cNvPr id="8" name="Text 6"/>
          <p:cNvSpPr/>
          <p:nvPr/>
        </p:nvSpPr>
        <p:spPr>
          <a:xfrm>
            <a:off x="5257800" y="1874520"/>
            <a:ext cx="5852160" cy="502920"/>
          </a:xfrm>
          <a:prstGeom prst="rect">
            <a:avLst/>
          </a:prstGeom>
          <a:noFill/>
        </p:spPr>
        <p:txBody>
          <a:bodyPr wrap="square" rtlCol="0" anchor="ctr"/>
          <a:lstStyle/>
          <a:p>
            <a:pPr marL="0" indent="0">
              <a:buNone/>
            </a:pPr>
            <a:r>
              <a:rPr lang="en-US" sz="130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pwd</a:t>
            </a:r>
            <a:endParaRPr lang="en-US" sz="1300" dirty="0"/>
          </a:p>
        </p:txBody>
      </p:sp>
      <p:sp>
        <p:nvSpPr>
          <p:cNvPr id="9" name="Shape 7"/>
          <p:cNvSpPr/>
          <p:nvPr/>
        </p:nvSpPr>
        <p:spPr>
          <a:xfrm>
            <a:off x="457200" y="2697480"/>
            <a:ext cx="402336" cy="402336"/>
          </a:xfrm>
          <a:prstGeom prst="ellipse">
            <a:avLst/>
          </a:prstGeom>
          <a:solidFill>
            <a:srgbClr val="22C55E"/>
          </a:solidFill>
        </p:spPr>
      </p:sp>
      <p:sp>
        <p:nvSpPr>
          <p:cNvPr id="10" name="Text 8"/>
          <p:cNvSpPr/>
          <p:nvPr/>
        </p:nvSpPr>
        <p:spPr>
          <a:xfrm>
            <a:off x="457200" y="2697480"/>
            <a:ext cx="402336" cy="402336"/>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11" name="Text 9"/>
          <p:cNvSpPr/>
          <p:nvPr/>
        </p:nvSpPr>
        <p:spPr>
          <a:xfrm>
            <a:off x="1005840" y="2679192"/>
            <a:ext cx="3931920" cy="457200"/>
          </a:xfrm>
          <a:prstGeom prst="rect">
            <a:avLst/>
          </a:prstGeom>
          <a:noFill/>
        </p:spPr>
        <p:txBody>
          <a:bodyPr wrap="square" rtlCol="0" anchor="ctr"/>
          <a:lstStyle/>
          <a:p>
            <a:pPr marL="0" indent="0">
              <a:buNone/>
            </a:pPr>
            <a:r>
              <a:rPr lang="en-US" sz="1400" dirty="0">
                <a:solidFill>
                  <a:srgbClr val="16241C"/>
                </a:solidFill>
                <a:latin typeface="Calibri" panose="020F0502020204030204" pitchFamily="34" charset="0"/>
                <a:ea typeface="Calibri" panose="020F0502020204030204" pitchFamily="34" charset="-122"/>
                <a:cs typeface="Calibri" panose="020F0502020204030204" pitchFamily="34" charset="-120"/>
              </a:rPr>
              <a:t>List files</a:t>
            </a:r>
            <a:endParaRPr lang="en-US" sz="1400" dirty="0"/>
          </a:p>
        </p:txBody>
      </p:sp>
      <p:sp>
        <p:nvSpPr>
          <p:cNvPr id="12" name="Shape 10"/>
          <p:cNvSpPr/>
          <p:nvPr/>
        </p:nvSpPr>
        <p:spPr>
          <a:xfrm>
            <a:off x="5029200" y="2651760"/>
            <a:ext cx="6245352" cy="502920"/>
          </a:xfrm>
          <a:prstGeom prst="roundRect">
            <a:avLst>
              <a:gd name="adj" fmla="val 10909"/>
            </a:avLst>
          </a:prstGeom>
          <a:solidFill>
            <a:srgbClr val="0D1912"/>
          </a:solidFill>
        </p:spPr>
      </p:sp>
      <p:sp>
        <p:nvSpPr>
          <p:cNvPr id="13" name="Text 11"/>
          <p:cNvSpPr/>
          <p:nvPr/>
        </p:nvSpPr>
        <p:spPr>
          <a:xfrm>
            <a:off x="5257800" y="2651760"/>
            <a:ext cx="5852160" cy="502920"/>
          </a:xfrm>
          <a:prstGeom prst="rect">
            <a:avLst/>
          </a:prstGeom>
          <a:noFill/>
        </p:spPr>
        <p:txBody>
          <a:bodyPr wrap="square" rtlCol="0" anchor="ctr"/>
          <a:lstStyle/>
          <a:p>
            <a:pPr marL="0" indent="0">
              <a:buNone/>
            </a:pPr>
            <a:r>
              <a:rPr lang="en-US" sz="130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ls</a:t>
            </a:r>
            <a:endParaRPr lang="en-US" sz="1300" dirty="0"/>
          </a:p>
        </p:txBody>
      </p:sp>
      <p:sp>
        <p:nvSpPr>
          <p:cNvPr id="14" name="Shape 12"/>
          <p:cNvSpPr/>
          <p:nvPr/>
        </p:nvSpPr>
        <p:spPr>
          <a:xfrm>
            <a:off x="457200" y="3474720"/>
            <a:ext cx="402336" cy="402336"/>
          </a:xfrm>
          <a:prstGeom prst="ellipse">
            <a:avLst/>
          </a:prstGeom>
          <a:solidFill>
            <a:srgbClr val="22C55E"/>
          </a:solidFill>
        </p:spPr>
      </p:sp>
      <p:sp>
        <p:nvSpPr>
          <p:cNvPr id="15" name="Text 13"/>
          <p:cNvSpPr/>
          <p:nvPr/>
        </p:nvSpPr>
        <p:spPr>
          <a:xfrm>
            <a:off x="457200" y="3474720"/>
            <a:ext cx="402336" cy="402336"/>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16" name="Text 14"/>
          <p:cNvSpPr/>
          <p:nvPr/>
        </p:nvSpPr>
        <p:spPr>
          <a:xfrm>
            <a:off x="1005840" y="3456432"/>
            <a:ext cx="3931920" cy="457200"/>
          </a:xfrm>
          <a:prstGeom prst="rect">
            <a:avLst/>
          </a:prstGeom>
          <a:noFill/>
        </p:spPr>
        <p:txBody>
          <a:bodyPr wrap="square" rtlCol="0" anchor="ctr"/>
          <a:lstStyle/>
          <a:p>
            <a:pPr marL="0" indent="0">
              <a:buNone/>
            </a:pPr>
            <a:r>
              <a:rPr lang="en-US" sz="1400" dirty="0">
                <a:solidFill>
                  <a:srgbClr val="16241C"/>
                </a:solidFill>
                <a:latin typeface="Calibri" panose="020F0502020204030204" pitchFamily="34" charset="0"/>
                <a:ea typeface="Calibri" panose="020F0502020204030204" pitchFamily="34" charset="-122"/>
                <a:cs typeface="Calibri" panose="020F0502020204030204" pitchFamily="34" charset="-120"/>
              </a:rPr>
              <a:t>View log</a:t>
            </a:r>
            <a:endParaRPr lang="en-US" sz="1400" dirty="0"/>
          </a:p>
        </p:txBody>
      </p:sp>
      <p:sp>
        <p:nvSpPr>
          <p:cNvPr id="17" name="Shape 15"/>
          <p:cNvSpPr/>
          <p:nvPr/>
        </p:nvSpPr>
        <p:spPr>
          <a:xfrm>
            <a:off x="5029200" y="3429000"/>
            <a:ext cx="6245352" cy="502920"/>
          </a:xfrm>
          <a:prstGeom prst="roundRect">
            <a:avLst>
              <a:gd name="adj" fmla="val 10909"/>
            </a:avLst>
          </a:prstGeom>
          <a:solidFill>
            <a:srgbClr val="0D1912"/>
          </a:solidFill>
        </p:spPr>
      </p:sp>
      <p:sp>
        <p:nvSpPr>
          <p:cNvPr id="18" name="Text 16"/>
          <p:cNvSpPr/>
          <p:nvPr/>
        </p:nvSpPr>
        <p:spPr>
          <a:xfrm>
            <a:off x="5257800" y="3429000"/>
            <a:ext cx="5852160" cy="502920"/>
          </a:xfrm>
          <a:prstGeom prst="rect">
            <a:avLst/>
          </a:prstGeom>
          <a:noFill/>
        </p:spPr>
        <p:txBody>
          <a:bodyPr wrap="square" rtlCol="0" anchor="ctr"/>
          <a:lstStyle/>
          <a:p>
            <a:pPr marL="0" indent="0">
              <a:buNone/>
            </a:pPr>
            <a:r>
              <a:rPr lang="en-US" sz="130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cat auth.log</a:t>
            </a:r>
            <a:endParaRPr lang="en-US" sz="1300" dirty="0"/>
          </a:p>
        </p:txBody>
      </p:sp>
      <p:sp>
        <p:nvSpPr>
          <p:cNvPr id="19" name="Shape 17"/>
          <p:cNvSpPr/>
          <p:nvPr/>
        </p:nvSpPr>
        <p:spPr>
          <a:xfrm>
            <a:off x="457200" y="4251960"/>
            <a:ext cx="402336" cy="402336"/>
          </a:xfrm>
          <a:prstGeom prst="ellipse">
            <a:avLst/>
          </a:prstGeom>
          <a:solidFill>
            <a:srgbClr val="22C55E"/>
          </a:solidFill>
        </p:spPr>
      </p:sp>
      <p:sp>
        <p:nvSpPr>
          <p:cNvPr id="20" name="Text 18"/>
          <p:cNvSpPr/>
          <p:nvPr/>
        </p:nvSpPr>
        <p:spPr>
          <a:xfrm>
            <a:off x="457200" y="4251960"/>
            <a:ext cx="402336" cy="402336"/>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21" name="Text 19"/>
          <p:cNvSpPr/>
          <p:nvPr/>
        </p:nvSpPr>
        <p:spPr>
          <a:xfrm>
            <a:off x="1005840" y="4233672"/>
            <a:ext cx="3931920" cy="457200"/>
          </a:xfrm>
          <a:prstGeom prst="rect">
            <a:avLst/>
          </a:prstGeom>
          <a:noFill/>
        </p:spPr>
        <p:txBody>
          <a:bodyPr wrap="square" rtlCol="0" anchor="ctr"/>
          <a:lstStyle/>
          <a:p>
            <a:pPr marL="0" indent="0">
              <a:buNone/>
            </a:pPr>
            <a:r>
              <a:rPr lang="en-US" sz="1400" dirty="0">
                <a:solidFill>
                  <a:srgbClr val="16241C"/>
                </a:solidFill>
                <a:latin typeface="Calibri" panose="020F0502020204030204" pitchFamily="34" charset="0"/>
                <a:ea typeface="Calibri" panose="020F0502020204030204" pitchFamily="34" charset="-122"/>
                <a:cs typeface="Calibri" panose="020F0502020204030204" pitchFamily="34" charset="-120"/>
              </a:rPr>
              <a:t>Search failed login attempts</a:t>
            </a:r>
            <a:endParaRPr lang="en-US" sz="1400" dirty="0"/>
          </a:p>
        </p:txBody>
      </p:sp>
      <p:sp>
        <p:nvSpPr>
          <p:cNvPr id="22" name="Shape 20"/>
          <p:cNvSpPr/>
          <p:nvPr/>
        </p:nvSpPr>
        <p:spPr>
          <a:xfrm>
            <a:off x="5029200" y="4206240"/>
            <a:ext cx="6245352" cy="502920"/>
          </a:xfrm>
          <a:prstGeom prst="roundRect">
            <a:avLst>
              <a:gd name="adj" fmla="val 10909"/>
            </a:avLst>
          </a:prstGeom>
          <a:solidFill>
            <a:srgbClr val="0D1912"/>
          </a:solidFill>
        </p:spPr>
      </p:sp>
      <p:sp>
        <p:nvSpPr>
          <p:cNvPr id="23" name="Text 21"/>
          <p:cNvSpPr/>
          <p:nvPr/>
        </p:nvSpPr>
        <p:spPr>
          <a:xfrm>
            <a:off x="5257800" y="4206240"/>
            <a:ext cx="5852160" cy="502920"/>
          </a:xfrm>
          <a:prstGeom prst="rect">
            <a:avLst/>
          </a:prstGeom>
          <a:noFill/>
        </p:spPr>
        <p:txBody>
          <a:bodyPr wrap="square" rtlCol="0" anchor="ctr"/>
          <a:lstStyle/>
          <a:p>
            <a:pPr marL="0" indent="0">
              <a:buNone/>
            </a:pPr>
            <a:r>
              <a:rPr lang="en-US" sz="130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grep "Failed" auth.log</a:t>
            </a:r>
            <a:endParaRPr lang="en-US" sz="1300" dirty="0"/>
          </a:p>
        </p:txBody>
      </p:sp>
      <p:sp>
        <p:nvSpPr>
          <p:cNvPr id="24" name="Shape 22"/>
          <p:cNvSpPr/>
          <p:nvPr/>
        </p:nvSpPr>
        <p:spPr>
          <a:xfrm>
            <a:off x="457200" y="5029200"/>
            <a:ext cx="402336" cy="402336"/>
          </a:xfrm>
          <a:prstGeom prst="ellipse">
            <a:avLst/>
          </a:prstGeom>
          <a:solidFill>
            <a:srgbClr val="22C55E"/>
          </a:solidFill>
        </p:spPr>
      </p:sp>
      <p:sp>
        <p:nvSpPr>
          <p:cNvPr id="25" name="Text 23"/>
          <p:cNvSpPr/>
          <p:nvPr/>
        </p:nvSpPr>
        <p:spPr>
          <a:xfrm>
            <a:off x="457200" y="5029200"/>
            <a:ext cx="402336" cy="402336"/>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400" dirty="0"/>
          </a:p>
        </p:txBody>
      </p:sp>
      <p:sp>
        <p:nvSpPr>
          <p:cNvPr id="26" name="Text 24"/>
          <p:cNvSpPr/>
          <p:nvPr/>
        </p:nvSpPr>
        <p:spPr>
          <a:xfrm>
            <a:off x="1005840" y="5010912"/>
            <a:ext cx="3931920" cy="457200"/>
          </a:xfrm>
          <a:prstGeom prst="rect">
            <a:avLst/>
          </a:prstGeom>
          <a:noFill/>
        </p:spPr>
        <p:txBody>
          <a:bodyPr wrap="square" rtlCol="0" anchor="ctr"/>
          <a:lstStyle/>
          <a:p>
            <a:pPr marL="0" indent="0">
              <a:buNone/>
            </a:pPr>
            <a:r>
              <a:rPr lang="en-US" sz="1400" dirty="0">
                <a:solidFill>
                  <a:srgbClr val="16241C"/>
                </a:solidFill>
                <a:latin typeface="Calibri" panose="020F0502020204030204" pitchFamily="34" charset="0"/>
                <a:ea typeface="Calibri" panose="020F0502020204030204" pitchFamily="34" charset="-122"/>
                <a:cs typeface="Calibri" panose="020F0502020204030204" pitchFamily="34" charset="-120"/>
              </a:rPr>
              <a:t>Find all log files</a:t>
            </a:r>
            <a:endParaRPr lang="en-US" sz="1400" dirty="0"/>
          </a:p>
        </p:txBody>
      </p:sp>
      <p:sp>
        <p:nvSpPr>
          <p:cNvPr id="27" name="Shape 25"/>
          <p:cNvSpPr/>
          <p:nvPr/>
        </p:nvSpPr>
        <p:spPr>
          <a:xfrm>
            <a:off x="5029200" y="4983480"/>
            <a:ext cx="6245352" cy="502920"/>
          </a:xfrm>
          <a:prstGeom prst="roundRect">
            <a:avLst>
              <a:gd name="adj" fmla="val 10909"/>
            </a:avLst>
          </a:prstGeom>
          <a:solidFill>
            <a:srgbClr val="0D1912"/>
          </a:solidFill>
        </p:spPr>
      </p:sp>
      <p:sp>
        <p:nvSpPr>
          <p:cNvPr id="28" name="Text 26"/>
          <p:cNvSpPr/>
          <p:nvPr/>
        </p:nvSpPr>
        <p:spPr>
          <a:xfrm>
            <a:off x="5257800" y="4983480"/>
            <a:ext cx="5852160" cy="502920"/>
          </a:xfrm>
          <a:prstGeom prst="rect">
            <a:avLst/>
          </a:prstGeom>
          <a:noFill/>
        </p:spPr>
        <p:txBody>
          <a:bodyPr wrap="square" rtlCol="0" anchor="ctr"/>
          <a:lstStyle/>
          <a:p>
            <a:pPr marL="0" indent="0">
              <a:buNone/>
            </a:pPr>
            <a:r>
              <a:rPr lang="en-US" sz="130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find /var/log -name "*.log"</a:t>
            </a:r>
            <a:endParaRPr lang="en-US" sz="1300" dirty="0"/>
          </a:p>
        </p:txBody>
      </p:sp>
      <p:sp>
        <p:nvSpPr>
          <p:cNvPr id="29" name="Text 27"/>
          <p:cNvSpPr/>
          <p:nvPr/>
        </p:nvSpPr>
        <p:spPr>
          <a:xfrm>
            <a:off x="457200" y="5897880"/>
            <a:ext cx="11274552" cy="365760"/>
          </a:xfrm>
          <a:prstGeom prst="rect">
            <a:avLst/>
          </a:prstGeom>
          <a:noFill/>
        </p:spPr>
        <p:txBody>
          <a:bodyPr wrap="square" rtlCol="0" anchor="ctr"/>
          <a:lstStyle/>
          <a:p>
            <a:pPr marL="0" indent="0">
              <a:buNone/>
            </a:pPr>
            <a:r>
              <a:rPr lang="en-US" sz="1300" i="1" dirty="0">
                <a:solidFill>
                  <a:srgbClr val="5B6B63"/>
                </a:solidFill>
                <a:latin typeface="Calibri" panose="020F0502020204030204" pitchFamily="34" charset="0"/>
                <a:ea typeface="Calibri" panose="020F0502020204030204" pitchFamily="34" charset="-122"/>
                <a:cs typeface="Calibri" panose="020F0502020204030204" pitchFamily="34" charset="-120"/>
              </a:rPr>
              <a:t>This helps identify suspicious login activity.</a:t>
            </a:r>
            <a:endParaRPr lang="en-US" sz="1300" dirty="0"/>
          </a:p>
        </p:txBody>
      </p:sp>
      <p:sp>
        <p:nvSpPr>
          <p:cNvPr id="30" name="Text 28"/>
          <p:cNvSpPr/>
          <p:nvPr/>
        </p:nvSpPr>
        <p:spPr>
          <a:xfrm>
            <a:off x="457200" y="6510528"/>
            <a:ext cx="7315200" cy="274320"/>
          </a:xfrm>
          <a:prstGeom prst="rect">
            <a:avLst/>
          </a:prstGeom>
          <a:noFill/>
        </p:spPr>
        <p:txBody>
          <a:bodyPr wrap="square" rtlCol="0" anchor="ctr"/>
          <a:lstStyle/>
          <a:p>
            <a:pPr marL="0" indent="0" algn="l">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Day 12 · Linux Commands</a:t>
            </a:r>
            <a:endParaRPr lang="en-US" sz="1000" dirty="0"/>
          </a:p>
        </p:txBody>
      </p:sp>
      <p:sp>
        <p:nvSpPr>
          <p:cNvPr id="31" name="Text 29"/>
          <p:cNvSpPr/>
          <p:nvPr/>
        </p:nvSpPr>
        <p:spPr>
          <a:xfrm>
            <a:off x="11274552" y="6510528"/>
            <a:ext cx="457200" cy="274320"/>
          </a:xfrm>
          <a:prstGeom prst="rect">
            <a:avLst/>
          </a:prstGeom>
          <a:noFill/>
        </p:spPr>
        <p:txBody>
          <a:bodyPr wrap="square" rtlCol="0" anchor="ctr"/>
          <a:lstStyle/>
          <a:p>
            <a:pPr marL="0" indent="0" algn="r">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p:spPr>
        <p:txBody>
          <a:bodyPr wrap="square" rtlCol="0" anchor="ctr"/>
          <a:lstStyle/>
          <a:p>
            <a:pPr marL="0" indent="0">
              <a:buNone/>
            </a:pPr>
            <a:r>
              <a:rPr lang="en-US" sz="2800" b="1" dirty="0">
                <a:solidFill>
                  <a:srgbClr val="16241C"/>
                </a:solidFill>
                <a:latin typeface="Cambria" panose="02040503050406030204" pitchFamily="34" charset="0"/>
                <a:ea typeface="Cambria" panose="02040503050406030204" pitchFamily="34" charset="-122"/>
                <a:cs typeface="Cambria" panose="02040503050406030204" pitchFamily="34" charset="-120"/>
              </a:rPr>
              <a:t>Interview Questions (1/2)</a:t>
            </a:r>
            <a:endParaRPr lang="en-US" sz="2800" dirty="0"/>
          </a:p>
        </p:txBody>
      </p:sp>
      <p:sp>
        <p:nvSpPr>
          <p:cNvPr id="3" name="Shape 1"/>
          <p:cNvSpPr/>
          <p:nvPr/>
        </p:nvSpPr>
        <p:spPr>
          <a:xfrm>
            <a:off x="457200" y="1463040"/>
            <a:ext cx="11274552" cy="896112"/>
          </a:xfrm>
          <a:prstGeom prst="roundRect">
            <a:avLst>
              <a:gd name="adj" fmla="val 8163"/>
            </a:avLst>
          </a:prstGeom>
          <a:solidFill>
            <a:srgbClr val="F1F5F2"/>
          </a:solidFill>
        </p:spPr>
      </p:sp>
      <p:sp>
        <p:nvSpPr>
          <p:cNvPr id="4" name="Text 2"/>
          <p:cNvSpPr/>
          <p:nvPr/>
        </p:nvSpPr>
        <p:spPr>
          <a:xfrm>
            <a:off x="685800" y="1536192"/>
            <a:ext cx="7772400" cy="749808"/>
          </a:xfrm>
          <a:prstGeom prst="rect">
            <a:avLst/>
          </a:prstGeom>
          <a:noFill/>
        </p:spPr>
        <p:txBody>
          <a:bodyPr wrap="square" rtlCol="0" anchor="ctr"/>
          <a:lstStyle/>
          <a:p>
            <a:pPr marL="0" indent="0">
              <a:buNone/>
            </a:pPr>
            <a:r>
              <a:rPr lang="en-US" sz="1400" b="1" dirty="0">
                <a:solidFill>
                  <a:srgbClr val="16241C"/>
                </a:solidFill>
                <a:latin typeface="Calibri" panose="020F0502020204030204" pitchFamily="34" charset="0"/>
                <a:ea typeface="Calibri" panose="020F0502020204030204" pitchFamily="34" charset="-122"/>
                <a:cs typeface="Calibri" panose="020F0502020204030204" pitchFamily="34" charset="-120"/>
              </a:rPr>
              <a:t>Q1. Which command creates a new folder?</a:t>
            </a:r>
            <a:endParaRPr lang="en-US" sz="1400" dirty="0"/>
          </a:p>
        </p:txBody>
      </p:sp>
      <p:sp>
        <p:nvSpPr>
          <p:cNvPr id="5" name="Shape 3"/>
          <p:cNvSpPr/>
          <p:nvPr/>
        </p:nvSpPr>
        <p:spPr>
          <a:xfrm>
            <a:off x="9354312" y="1645920"/>
            <a:ext cx="2148840" cy="530352"/>
          </a:xfrm>
          <a:prstGeom prst="roundRect">
            <a:avLst>
              <a:gd name="adj" fmla="val 10345"/>
            </a:avLst>
          </a:prstGeom>
          <a:solidFill>
            <a:srgbClr val="16241C"/>
          </a:solidFill>
        </p:spPr>
      </p:sp>
      <p:sp>
        <p:nvSpPr>
          <p:cNvPr id="6" name="Text 4"/>
          <p:cNvSpPr/>
          <p:nvPr/>
        </p:nvSpPr>
        <p:spPr>
          <a:xfrm>
            <a:off x="9354312" y="1645920"/>
            <a:ext cx="2148840" cy="530352"/>
          </a:xfrm>
          <a:prstGeom prst="rect">
            <a:avLst/>
          </a:prstGeom>
          <a:noFill/>
        </p:spPr>
        <p:txBody>
          <a:bodyPr wrap="square" rtlCol="0" anchor="ctr"/>
          <a:lstStyle/>
          <a:p>
            <a:pPr marL="0" indent="0" algn="ctr">
              <a:buNone/>
            </a:pPr>
            <a:r>
              <a:rPr lang="en-US" sz="140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mkdir</a:t>
            </a:r>
            <a:endParaRPr lang="en-US" sz="1400" dirty="0"/>
          </a:p>
        </p:txBody>
      </p:sp>
      <p:sp>
        <p:nvSpPr>
          <p:cNvPr id="7" name="Shape 5"/>
          <p:cNvSpPr/>
          <p:nvPr/>
        </p:nvSpPr>
        <p:spPr>
          <a:xfrm>
            <a:off x="457200" y="2468880"/>
            <a:ext cx="11274552" cy="896112"/>
          </a:xfrm>
          <a:prstGeom prst="roundRect">
            <a:avLst>
              <a:gd name="adj" fmla="val 8163"/>
            </a:avLst>
          </a:prstGeom>
          <a:solidFill>
            <a:srgbClr val="F1F5F2"/>
          </a:solidFill>
        </p:spPr>
      </p:sp>
      <p:sp>
        <p:nvSpPr>
          <p:cNvPr id="8" name="Text 6"/>
          <p:cNvSpPr/>
          <p:nvPr/>
        </p:nvSpPr>
        <p:spPr>
          <a:xfrm>
            <a:off x="685800" y="2542032"/>
            <a:ext cx="7772400" cy="749808"/>
          </a:xfrm>
          <a:prstGeom prst="rect">
            <a:avLst/>
          </a:prstGeom>
          <a:noFill/>
        </p:spPr>
        <p:txBody>
          <a:bodyPr wrap="square" rtlCol="0" anchor="ctr"/>
          <a:lstStyle/>
          <a:p>
            <a:pPr marL="0" indent="0">
              <a:buNone/>
            </a:pPr>
            <a:r>
              <a:rPr lang="en-US" sz="1400" b="1" dirty="0">
                <a:solidFill>
                  <a:srgbClr val="16241C"/>
                </a:solidFill>
                <a:latin typeface="Calibri" panose="020F0502020204030204" pitchFamily="34" charset="0"/>
                <a:ea typeface="Calibri" panose="020F0502020204030204" pitchFamily="34" charset="-122"/>
                <a:cs typeface="Calibri" panose="020F0502020204030204" pitchFamily="34" charset="-120"/>
              </a:rPr>
              <a:t>Q2. Which command creates an empty file?</a:t>
            </a:r>
            <a:endParaRPr lang="en-US" sz="1400" dirty="0"/>
          </a:p>
        </p:txBody>
      </p:sp>
      <p:sp>
        <p:nvSpPr>
          <p:cNvPr id="9" name="Shape 7"/>
          <p:cNvSpPr/>
          <p:nvPr/>
        </p:nvSpPr>
        <p:spPr>
          <a:xfrm>
            <a:off x="9354312" y="2651760"/>
            <a:ext cx="2148840" cy="530352"/>
          </a:xfrm>
          <a:prstGeom prst="roundRect">
            <a:avLst>
              <a:gd name="adj" fmla="val 10345"/>
            </a:avLst>
          </a:prstGeom>
          <a:solidFill>
            <a:srgbClr val="16241C"/>
          </a:solidFill>
        </p:spPr>
      </p:sp>
      <p:sp>
        <p:nvSpPr>
          <p:cNvPr id="10" name="Text 8"/>
          <p:cNvSpPr/>
          <p:nvPr/>
        </p:nvSpPr>
        <p:spPr>
          <a:xfrm>
            <a:off x="9354312" y="2651760"/>
            <a:ext cx="2148840" cy="530352"/>
          </a:xfrm>
          <a:prstGeom prst="rect">
            <a:avLst/>
          </a:prstGeom>
          <a:noFill/>
        </p:spPr>
        <p:txBody>
          <a:bodyPr wrap="square" rtlCol="0" anchor="ctr"/>
          <a:lstStyle/>
          <a:p>
            <a:pPr marL="0" indent="0" algn="ctr">
              <a:buNone/>
            </a:pPr>
            <a:r>
              <a:rPr lang="en-US" sz="140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touch</a:t>
            </a:r>
            <a:endParaRPr lang="en-US" sz="1400" dirty="0"/>
          </a:p>
        </p:txBody>
      </p:sp>
      <p:sp>
        <p:nvSpPr>
          <p:cNvPr id="11" name="Shape 9"/>
          <p:cNvSpPr/>
          <p:nvPr/>
        </p:nvSpPr>
        <p:spPr>
          <a:xfrm>
            <a:off x="457200" y="3474720"/>
            <a:ext cx="11274552" cy="896112"/>
          </a:xfrm>
          <a:prstGeom prst="roundRect">
            <a:avLst>
              <a:gd name="adj" fmla="val 8163"/>
            </a:avLst>
          </a:prstGeom>
          <a:solidFill>
            <a:srgbClr val="F1F5F2"/>
          </a:solidFill>
        </p:spPr>
      </p:sp>
      <p:sp>
        <p:nvSpPr>
          <p:cNvPr id="12" name="Text 10"/>
          <p:cNvSpPr/>
          <p:nvPr/>
        </p:nvSpPr>
        <p:spPr>
          <a:xfrm>
            <a:off x="685800" y="3547872"/>
            <a:ext cx="7772400" cy="749808"/>
          </a:xfrm>
          <a:prstGeom prst="rect">
            <a:avLst/>
          </a:prstGeom>
          <a:noFill/>
        </p:spPr>
        <p:txBody>
          <a:bodyPr wrap="square" rtlCol="0" anchor="ctr"/>
          <a:lstStyle/>
          <a:p>
            <a:pPr marL="0" indent="0">
              <a:buNone/>
            </a:pPr>
            <a:r>
              <a:rPr lang="en-US" sz="1400" b="1" dirty="0">
                <a:solidFill>
                  <a:srgbClr val="16241C"/>
                </a:solidFill>
                <a:latin typeface="Calibri" panose="020F0502020204030204" pitchFamily="34" charset="0"/>
                <a:ea typeface="Calibri" panose="020F0502020204030204" pitchFamily="34" charset="-122"/>
                <a:cs typeface="Calibri" panose="020F0502020204030204" pitchFamily="34" charset="-120"/>
              </a:rPr>
              <a:t>Q3. Which command copies files?</a:t>
            </a:r>
            <a:endParaRPr lang="en-US" sz="1400" dirty="0"/>
          </a:p>
        </p:txBody>
      </p:sp>
      <p:sp>
        <p:nvSpPr>
          <p:cNvPr id="13" name="Shape 11"/>
          <p:cNvSpPr/>
          <p:nvPr/>
        </p:nvSpPr>
        <p:spPr>
          <a:xfrm>
            <a:off x="9354312" y="3657600"/>
            <a:ext cx="2148840" cy="530352"/>
          </a:xfrm>
          <a:prstGeom prst="roundRect">
            <a:avLst>
              <a:gd name="adj" fmla="val 10345"/>
            </a:avLst>
          </a:prstGeom>
          <a:solidFill>
            <a:srgbClr val="16241C"/>
          </a:solidFill>
        </p:spPr>
      </p:sp>
      <p:sp>
        <p:nvSpPr>
          <p:cNvPr id="14" name="Text 12"/>
          <p:cNvSpPr/>
          <p:nvPr/>
        </p:nvSpPr>
        <p:spPr>
          <a:xfrm>
            <a:off x="9354312" y="3657600"/>
            <a:ext cx="2148840" cy="530352"/>
          </a:xfrm>
          <a:prstGeom prst="rect">
            <a:avLst/>
          </a:prstGeom>
          <a:noFill/>
        </p:spPr>
        <p:txBody>
          <a:bodyPr wrap="square" rtlCol="0" anchor="ctr"/>
          <a:lstStyle/>
          <a:p>
            <a:pPr marL="0" indent="0" algn="ctr">
              <a:buNone/>
            </a:pPr>
            <a:r>
              <a:rPr lang="en-US" sz="140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cp</a:t>
            </a:r>
            <a:endParaRPr lang="en-US" sz="1400" dirty="0"/>
          </a:p>
        </p:txBody>
      </p:sp>
      <p:sp>
        <p:nvSpPr>
          <p:cNvPr id="15" name="Shape 13"/>
          <p:cNvSpPr/>
          <p:nvPr/>
        </p:nvSpPr>
        <p:spPr>
          <a:xfrm>
            <a:off x="457200" y="4480560"/>
            <a:ext cx="11274552" cy="896112"/>
          </a:xfrm>
          <a:prstGeom prst="roundRect">
            <a:avLst>
              <a:gd name="adj" fmla="val 8163"/>
            </a:avLst>
          </a:prstGeom>
          <a:solidFill>
            <a:srgbClr val="F1F5F2"/>
          </a:solidFill>
        </p:spPr>
      </p:sp>
      <p:sp>
        <p:nvSpPr>
          <p:cNvPr id="16" name="Text 14"/>
          <p:cNvSpPr/>
          <p:nvPr/>
        </p:nvSpPr>
        <p:spPr>
          <a:xfrm>
            <a:off x="685800" y="4553712"/>
            <a:ext cx="7772400" cy="749808"/>
          </a:xfrm>
          <a:prstGeom prst="rect">
            <a:avLst/>
          </a:prstGeom>
          <a:noFill/>
        </p:spPr>
        <p:txBody>
          <a:bodyPr wrap="square" rtlCol="0" anchor="ctr"/>
          <a:lstStyle/>
          <a:p>
            <a:pPr marL="0" indent="0">
              <a:buNone/>
            </a:pPr>
            <a:r>
              <a:rPr lang="en-US" sz="1400" b="1" dirty="0">
                <a:solidFill>
                  <a:srgbClr val="16241C"/>
                </a:solidFill>
                <a:latin typeface="Calibri" panose="020F0502020204030204" pitchFamily="34" charset="0"/>
                <a:ea typeface="Calibri" panose="020F0502020204030204" pitchFamily="34" charset="-122"/>
                <a:cs typeface="Calibri" panose="020F0502020204030204" pitchFamily="34" charset="-120"/>
              </a:rPr>
              <a:t>Q4. Which command moves or renames a file?</a:t>
            </a:r>
            <a:endParaRPr lang="en-US" sz="1400" dirty="0"/>
          </a:p>
        </p:txBody>
      </p:sp>
      <p:sp>
        <p:nvSpPr>
          <p:cNvPr id="17" name="Shape 15"/>
          <p:cNvSpPr/>
          <p:nvPr/>
        </p:nvSpPr>
        <p:spPr>
          <a:xfrm>
            <a:off x="9354312" y="4663440"/>
            <a:ext cx="2148840" cy="530352"/>
          </a:xfrm>
          <a:prstGeom prst="roundRect">
            <a:avLst>
              <a:gd name="adj" fmla="val 10345"/>
            </a:avLst>
          </a:prstGeom>
          <a:solidFill>
            <a:srgbClr val="16241C"/>
          </a:solidFill>
        </p:spPr>
      </p:sp>
      <p:sp>
        <p:nvSpPr>
          <p:cNvPr id="18" name="Text 16"/>
          <p:cNvSpPr/>
          <p:nvPr/>
        </p:nvSpPr>
        <p:spPr>
          <a:xfrm>
            <a:off x="9354312" y="4663440"/>
            <a:ext cx="2148840" cy="530352"/>
          </a:xfrm>
          <a:prstGeom prst="rect">
            <a:avLst/>
          </a:prstGeom>
          <a:noFill/>
        </p:spPr>
        <p:txBody>
          <a:bodyPr wrap="square" rtlCol="0" anchor="ctr"/>
          <a:lstStyle/>
          <a:p>
            <a:pPr marL="0" indent="0" algn="ctr">
              <a:buNone/>
            </a:pPr>
            <a:r>
              <a:rPr lang="en-US" sz="140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mv</a:t>
            </a:r>
            <a:endParaRPr lang="en-US" sz="1400" dirty="0"/>
          </a:p>
        </p:txBody>
      </p:sp>
      <p:sp>
        <p:nvSpPr>
          <p:cNvPr id="19" name="Shape 17"/>
          <p:cNvSpPr/>
          <p:nvPr/>
        </p:nvSpPr>
        <p:spPr>
          <a:xfrm>
            <a:off x="457200" y="5486400"/>
            <a:ext cx="11274552" cy="896112"/>
          </a:xfrm>
          <a:prstGeom prst="roundRect">
            <a:avLst>
              <a:gd name="adj" fmla="val 8163"/>
            </a:avLst>
          </a:prstGeom>
          <a:solidFill>
            <a:srgbClr val="F1F5F2"/>
          </a:solidFill>
        </p:spPr>
      </p:sp>
      <p:sp>
        <p:nvSpPr>
          <p:cNvPr id="20" name="Text 18"/>
          <p:cNvSpPr/>
          <p:nvPr/>
        </p:nvSpPr>
        <p:spPr>
          <a:xfrm>
            <a:off x="685800" y="5559552"/>
            <a:ext cx="7772400" cy="749808"/>
          </a:xfrm>
          <a:prstGeom prst="rect">
            <a:avLst/>
          </a:prstGeom>
          <a:noFill/>
        </p:spPr>
        <p:txBody>
          <a:bodyPr wrap="square" rtlCol="0" anchor="ctr"/>
          <a:lstStyle/>
          <a:p>
            <a:pPr marL="0" indent="0">
              <a:buNone/>
            </a:pPr>
            <a:r>
              <a:rPr lang="en-US" sz="1400" b="1" dirty="0">
                <a:solidFill>
                  <a:srgbClr val="16241C"/>
                </a:solidFill>
                <a:latin typeface="Calibri" panose="020F0502020204030204" pitchFamily="34" charset="0"/>
                <a:ea typeface="Calibri" panose="020F0502020204030204" pitchFamily="34" charset="-122"/>
                <a:cs typeface="Calibri" panose="020F0502020204030204" pitchFamily="34" charset="-120"/>
              </a:rPr>
              <a:t>Q5. Which command deletes a file?</a:t>
            </a:r>
            <a:endParaRPr lang="en-US" sz="1400" dirty="0"/>
          </a:p>
        </p:txBody>
      </p:sp>
      <p:sp>
        <p:nvSpPr>
          <p:cNvPr id="21" name="Shape 19"/>
          <p:cNvSpPr/>
          <p:nvPr/>
        </p:nvSpPr>
        <p:spPr>
          <a:xfrm>
            <a:off x="9354312" y="5669280"/>
            <a:ext cx="2148840" cy="530352"/>
          </a:xfrm>
          <a:prstGeom prst="roundRect">
            <a:avLst>
              <a:gd name="adj" fmla="val 10345"/>
            </a:avLst>
          </a:prstGeom>
          <a:solidFill>
            <a:srgbClr val="16241C"/>
          </a:solidFill>
        </p:spPr>
      </p:sp>
      <p:sp>
        <p:nvSpPr>
          <p:cNvPr id="22" name="Text 20"/>
          <p:cNvSpPr/>
          <p:nvPr/>
        </p:nvSpPr>
        <p:spPr>
          <a:xfrm>
            <a:off x="9354312" y="5669280"/>
            <a:ext cx="2148840" cy="530352"/>
          </a:xfrm>
          <a:prstGeom prst="rect">
            <a:avLst/>
          </a:prstGeom>
          <a:noFill/>
        </p:spPr>
        <p:txBody>
          <a:bodyPr wrap="square" rtlCol="0" anchor="ctr"/>
          <a:lstStyle/>
          <a:p>
            <a:pPr marL="0" indent="0" algn="ctr">
              <a:buNone/>
            </a:pPr>
            <a:r>
              <a:rPr lang="en-US" sz="140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rm</a:t>
            </a:r>
            <a:endParaRPr lang="en-US" sz="1400" dirty="0"/>
          </a:p>
        </p:txBody>
      </p:sp>
      <p:sp>
        <p:nvSpPr>
          <p:cNvPr id="23" name="Text 21"/>
          <p:cNvSpPr/>
          <p:nvPr/>
        </p:nvSpPr>
        <p:spPr>
          <a:xfrm>
            <a:off x="457200" y="6510528"/>
            <a:ext cx="7315200" cy="274320"/>
          </a:xfrm>
          <a:prstGeom prst="rect">
            <a:avLst/>
          </a:prstGeom>
          <a:noFill/>
        </p:spPr>
        <p:txBody>
          <a:bodyPr wrap="square" rtlCol="0" anchor="ctr"/>
          <a:lstStyle/>
          <a:p>
            <a:pPr marL="0" indent="0" algn="l">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Day 12 · Linux Commands</a:t>
            </a:r>
            <a:endParaRPr lang="en-US" sz="1000" dirty="0"/>
          </a:p>
        </p:txBody>
      </p:sp>
      <p:sp>
        <p:nvSpPr>
          <p:cNvPr id="24" name="Text 22"/>
          <p:cNvSpPr/>
          <p:nvPr/>
        </p:nvSpPr>
        <p:spPr>
          <a:xfrm>
            <a:off x="11274552" y="6510528"/>
            <a:ext cx="457200" cy="274320"/>
          </a:xfrm>
          <a:prstGeom prst="rect">
            <a:avLst/>
          </a:prstGeom>
          <a:noFill/>
        </p:spPr>
        <p:txBody>
          <a:bodyPr wrap="square" rtlCol="0" anchor="ctr"/>
          <a:lstStyle/>
          <a:p>
            <a:pPr marL="0" indent="0" algn="r">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p:spPr>
        <p:txBody>
          <a:bodyPr wrap="square" rtlCol="0" anchor="ctr"/>
          <a:lstStyle/>
          <a:p>
            <a:pPr marL="0" indent="0">
              <a:buNone/>
            </a:pPr>
            <a:r>
              <a:rPr lang="en-US" sz="2800" b="1" dirty="0">
                <a:solidFill>
                  <a:srgbClr val="16241C"/>
                </a:solidFill>
                <a:latin typeface="Cambria" panose="02040503050406030204" pitchFamily="34" charset="0"/>
                <a:ea typeface="Cambria" panose="02040503050406030204" pitchFamily="34" charset="-122"/>
                <a:cs typeface="Cambria" panose="02040503050406030204" pitchFamily="34" charset="-120"/>
              </a:rPr>
              <a:t>Interview Questions (2/2)</a:t>
            </a:r>
            <a:endParaRPr lang="en-US" sz="2800" dirty="0"/>
          </a:p>
        </p:txBody>
      </p:sp>
      <p:sp>
        <p:nvSpPr>
          <p:cNvPr id="3" name="Shape 1"/>
          <p:cNvSpPr/>
          <p:nvPr/>
        </p:nvSpPr>
        <p:spPr>
          <a:xfrm>
            <a:off x="457200" y="1463040"/>
            <a:ext cx="11274552" cy="896112"/>
          </a:xfrm>
          <a:prstGeom prst="roundRect">
            <a:avLst>
              <a:gd name="adj" fmla="val 8163"/>
            </a:avLst>
          </a:prstGeom>
          <a:solidFill>
            <a:srgbClr val="F1F5F2"/>
          </a:solidFill>
        </p:spPr>
      </p:sp>
      <p:sp>
        <p:nvSpPr>
          <p:cNvPr id="4" name="Text 2"/>
          <p:cNvSpPr/>
          <p:nvPr/>
        </p:nvSpPr>
        <p:spPr>
          <a:xfrm>
            <a:off x="685800" y="1536192"/>
            <a:ext cx="7772400" cy="749808"/>
          </a:xfrm>
          <a:prstGeom prst="rect">
            <a:avLst/>
          </a:prstGeom>
          <a:noFill/>
        </p:spPr>
        <p:txBody>
          <a:bodyPr wrap="square" rtlCol="0" anchor="ctr"/>
          <a:lstStyle/>
          <a:p>
            <a:pPr marL="0" indent="0">
              <a:buNone/>
            </a:pPr>
            <a:r>
              <a:rPr lang="en-US" sz="1400" b="1" dirty="0">
                <a:solidFill>
                  <a:srgbClr val="16241C"/>
                </a:solidFill>
                <a:latin typeface="Calibri" panose="020F0502020204030204" pitchFamily="34" charset="0"/>
                <a:ea typeface="Calibri" panose="020F0502020204030204" pitchFamily="34" charset="-122"/>
                <a:cs typeface="Calibri" panose="020F0502020204030204" pitchFamily="34" charset="-120"/>
              </a:rPr>
              <a:t>Q6. Which command displays file contents?</a:t>
            </a:r>
            <a:endParaRPr lang="en-US" sz="1400" dirty="0"/>
          </a:p>
        </p:txBody>
      </p:sp>
      <p:sp>
        <p:nvSpPr>
          <p:cNvPr id="5" name="Shape 3"/>
          <p:cNvSpPr/>
          <p:nvPr/>
        </p:nvSpPr>
        <p:spPr>
          <a:xfrm>
            <a:off x="9354312" y="1645920"/>
            <a:ext cx="2148840" cy="530352"/>
          </a:xfrm>
          <a:prstGeom prst="roundRect">
            <a:avLst>
              <a:gd name="adj" fmla="val 10345"/>
            </a:avLst>
          </a:prstGeom>
          <a:solidFill>
            <a:srgbClr val="16241C"/>
          </a:solidFill>
        </p:spPr>
      </p:sp>
      <p:sp>
        <p:nvSpPr>
          <p:cNvPr id="6" name="Text 4"/>
          <p:cNvSpPr/>
          <p:nvPr/>
        </p:nvSpPr>
        <p:spPr>
          <a:xfrm>
            <a:off x="9354312" y="1645920"/>
            <a:ext cx="2148840" cy="530352"/>
          </a:xfrm>
          <a:prstGeom prst="rect">
            <a:avLst/>
          </a:prstGeom>
          <a:noFill/>
        </p:spPr>
        <p:txBody>
          <a:bodyPr wrap="square" rtlCol="0" anchor="ctr"/>
          <a:lstStyle/>
          <a:p>
            <a:pPr marL="0" indent="0" algn="ctr">
              <a:buNone/>
            </a:pPr>
            <a:r>
              <a:rPr lang="en-US" sz="140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cat</a:t>
            </a:r>
            <a:endParaRPr lang="en-US" sz="1400" dirty="0"/>
          </a:p>
        </p:txBody>
      </p:sp>
      <p:sp>
        <p:nvSpPr>
          <p:cNvPr id="7" name="Shape 5"/>
          <p:cNvSpPr/>
          <p:nvPr/>
        </p:nvSpPr>
        <p:spPr>
          <a:xfrm>
            <a:off x="457200" y="2468880"/>
            <a:ext cx="11274552" cy="896112"/>
          </a:xfrm>
          <a:prstGeom prst="roundRect">
            <a:avLst>
              <a:gd name="adj" fmla="val 8163"/>
            </a:avLst>
          </a:prstGeom>
          <a:solidFill>
            <a:srgbClr val="F1F5F2"/>
          </a:solidFill>
        </p:spPr>
      </p:sp>
      <p:sp>
        <p:nvSpPr>
          <p:cNvPr id="8" name="Text 6"/>
          <p:cNvSpPr/>
          <p:nvPr/>
        </p:nvSpPr>
        <p:spPr>
          <a:xfrm>
            <a:off x="685800" y="2542032"/>
            <a:ext cx="7772400" cy="749808"/>
          </a:xfrm>
          <a:prstGeom prst="rect">
            <a:avLst/>
          </a:prstGeom>
          <a:noFill/>
        </p:spPr>
        <p:txBody>
          <a:bodyPr wrap="square" rtlCol="0" anchor="ctr"/>
          <a:lstStyle/>
          <a:p>
            <a:pPr marL="0" indent="0">
              <a:buNone/>
            </a:pPr>
            <a:r>
              <a:rPr lang="en-US" sz="1400" b="1" dirty="0">
                <a:solidFill>
                  <a:srgbClr val="16241C"/>
                </a:solidFill>
                <a:latin typeface="Calibri" panose="020F0502020204030204" pitchFamily="34" charset="0"/>
                <a:ea typeface="Calibri" panose="020F0502020204030204" pitchFamily="34" charset="-122"/>
                <a:cs typeface="Calibri" panose="020F0502020204030204" pitchFamily="34" charset="-120"/>
              </a:rPr>
              <a:t>Q7. Which command changes file permissions?</a:t>
            </a:r>
            <a:endParaRPr lang="en-US" sz="1400" dirty="0"/>
          </a:p>
        </p:txBody>
      </p:sp>
      <p:sp>
        <p:nvSpPr>
          <p:cNvPr id="9" name="Shape 7"/>
          <p:cNvSpPr/>
          <p:nvPr/>
        </p:nvSpPr>
        <p:spPr>
          <a:xfrm>
            <a:off x="9354312" y="2651760"/>
            <a:ext cx="2148840" cy="530352"/>
          </a:xfrm>
          <a:prstGeom prst="roundRect">
            <a:avLst>
              <a:gd name="adj" fmla="val 10345"/>
            </a:avLst>
          </a:prstGeom>
          <a:solidFill>
            <a:srgbClr val="16241C"/>
          </a:solidFill>
        </p:spPr>
      </p:sp>
      <p:sp>
        <p:nvSpPr>
          <p:cNvPr id="10" name="Text 8"/>
          <p:cNvSpPr/>
          <p:nvPr/>
        </p:nvSpPr>
        <p:spPr>
          <a:xfrm>
            <a:off x="9354312" y="2651760"/>
            <a:ext cx="2148840" cy="530352"/>
          </a:xfrm>
          <a:prstGeom prst="rect">
            <a:avLst/>
          </a:prstGeom>
          <a:noFill/>
        </p:spPr>
        <p:txBody>
          <a:bodyPr wrap="square" rtlCol="0" anchor="ctr"/>
          <a:lstStyle/>
          <a:p>
            <a:pPr marL="0" indent="0" algn="ctr">
              <a:buNone/>
            </a:pPr>
            <a:r>
              <a:rPr lang="en-US" sz="140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chmod</a:t>
            </a:r>
            <a:endParaRPr lang="en-US" sz="1400" dirty="0"/>
          </a:p>
        </p:txBody>
      </p:sp>
      <p:sp>
        <p:nvSpPr>
          <p:cNvPr id="11" name="Shape 9"/>
          <p:cNvSpPr/>
          <p:nvPr/>
        </p:nvSpPr>
        <p:spPr>
          <a:xfrm>
            <a:off x="457200" y="3474720"/>
            <a:ext cx="11274552" cy="896112"/>
          </a:xfrm>
          <a:prstGeom prst="roundRect">
            <a:avLst>
              <a:gd name="adj" fmla="val 8163"/>
            </a:avLst>
          </a:prstGeom>
          <a:solidFill>
            <a:srgbClr val="F1F5F2"/>
          </a:solidFill>
        </p:spPr>
      </p:sp>
      <p:sp>
        <p:nvSpPr>
          <p:cNvPr id="12" name="Text 10"/>
          <p:cNvSpPr/>
          <p:nvPr/>
        </p:nvSpPr>
        <p:spPr>
          <a:xfrm>
            <a:off x="685800" y="3547872"/>
            <a:ext cx="7772400" cy="749808"/>
          </a:xfrm>
          <a:prstGeom prst="rect">
            <a:avLst/>
          </a:prstGeom>
          <a:noFill/>
        </p:spPr>
        <p:txBody>
          <a:bodyPr wrap="square" rtlCol="0" anchor="ctr"/>
          <a:lstStyle/>
          <a:p>
            <a:pPr marL="0" indent="0">
              <a:buNone/>
            </a:pPr>
            <a:r>
              <a:rPr lang="en-US" sz="1400" b="1" dirty="0">
                <a:solidFill>
                  <a:srgbClr val="16241C"/>
                </a:solidFill>
                <a:latin typeface="Calibri" panose="020F0502020204030204" pitchFamily="34" charset="0"/>
                <a:ea typeface="Calibri" panose="020F0502020204030204" pitchFamily="34" charset="-122"/>
                <a:cs typeface="Calibri" panose="020F0502020204030204" pitchFamily="34" charset="-120"/>
              </a:rPr>
              <a:t>Q8. Which command changes the owner of a file?</a:t>
            </a:r>
            <a:endParaRPr lang="en-US" sz="1400" dirty="0"/>
          </a:p>
        </p:txBody>
      </p:sp>
      <p:sp>
        <p:nvSpPr>
          <p:cNvPr id="13" name="Shape 11"/>
          <p:cNvSpPr/>
          <p:nvPr/>
        </p:nvSpPr>
        <p:spPr>
          <a:xfrm>
            <a:off x="9354312" y="3657600"/>
            <a:ext cx="2148840" cy="530352"/>
          </a:xfrm>
          <a:prstGeom prst="roundRect">
            <a:avLst>
              <a:gd name="adj" fmla="val 10345"/>
            </a:avLst>
          </a:prstGeom>
          <a:solidFill>
            <a:srgbClr val="16241C"/>
          </a:solidFill>
        </p:spPr>
      </p:sp>
      <p:sp>
        <p:nvSpPr>
          <p:cNvPr id="14" name="Text 12"/>
          <p:cNvSpPr/>
          <p:nvPr/>
        </p:nvSpPr>
        <p:spPr>
          <a:xfrm>
            <a:off x="9354312" y="3657600"/>
            <a:ext cx="2148840" cy="530352"/>
          </a:xfrm>
          <a:prstGeom prst="rect">
            <a:avLst/>
          </a:prstGeom>
          <a:noFill/>
        </p:spPr>
        <p:txBody>
          <a:bodyPr wrap="square" rtlCol="0" anchor="ctr"/>
          <a:lstStyle/>
          <a:p>
            <a:pPr marL="0" indent="0" algn="ctr">
              <a:buNone/>
            </a:pPr>
            <a:r>
              <a:rPr lang="en-US" sz="140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chown</a:t>
            </a:r>
            <a:endParaRPr lang="en-US" sz="1400" dirty="0"/>
          </a:p>
        </p:txBody>
      </p:sp>
      <p:sp>
        <p:nvSpPr>
          <p:cNvPr id="15" name="Shape 13"/>
          <p:cNvSpPr/>
          <p:nvPr/>
        </p:nvSpPr>
        <p:spPr>
          <a:xfrm>
            <a:off x="457200" y="4480560"/>
            <a:ext cx="11274552" cy="896112"/>
          </a:xfrm>
          <a:prstGeom prst="roundRect">
            <a:avLst>
              <a:gd name="adj" fmla="val 8163"/>
            </a:avLst>
          </a:prstGeom>
          <a:solidFill>
            <a:srgbClr val="F1F5F2"/>
          </a:solidFill>
        </p:spPr>
      </p:sp>
      <p:sp>
        <p:nvSpPr>
          <p:cNvPr id="16" name="Text 14"/>
          <p:cNvSpPr/>
          <p:nvPr/>
        </p:nvSpPr>
        <p:spPr>
          <a:xfrm>
            <a:off x="685800" y="4553712"/>
            <a:ext cx="7772400" cy="749808"/>
          </a:xfrm>
          <a:prstGeom prst="rect">
            <a:avLst/>
          </a:prstGeom>
          <a:noFill/>
        </p:spPr>
        <p:txBody>
          <a:bodyPr wrap="square" rtlCol="0" anchor="ctr"/>
          <a:lstStyle/>
          <a:p>
            <a:pPr marL="0" indent="0">
              <a:buNone/>
            </a:pPr>
            <a:r>
              <a:rPr lang="en-US" sz="1400" b="1" dirty="0">
                <a:solidFill>
                  <a:srgbClr val="16241C"/>
                </a:solidFill>
                <a:latin typeface="Calibri" panose="020F0502020204030204" pitchFamily="34" charset="0"/>
                <a:ea typeface="Calibri" panose="020F0502020204030204" pitchFamily="34" charset="-122"/>
                <a:cs typeface="Calibri" panose="020F0502020204030204" pitchFamily="34" charset="-120"/>
              </a:rPr>
              <a:t>Q9. Which command searches for files?</a:t>
            </a:r>
            <a:endParaRPr lang="en-US" sz="1400" dirty="0"/>
          </a:p>
        </p:txBody>
      </p:sp>
      <p:sp>
        <p:nvSpPr>
          <p:cNvPr id="17" name="Shape 15"/>
          <p:cNvSpPr/>
          <p:nvPr/>
        </p:nvSpPr>
        <p:spPr>
          <a:xfrm>
            <a:off x="9354312" y="4663440"/>
            <a:ext cx="2148840" cy="530352"/>
          </a:xfrm>
          <a:prstGeom prst="roundRect">
            <a:avLst>
              <a:gd name="adj" fmla="val 10345"/>
            </a:avLst>
          </a:prstGeom>
          <a:solidFill>
            <a:srgbClr val="16241C"/>
          </a:solidFill>
        </p:spPr>
      </p:sp>
      <p:sp>
        <p:nvSpPr>
          <p:cNvPr id="18" name="Text 16"/>
          <p:cNvSpPr/>
          <p:nvPr/>
        </p:nvSpPr>
        <p:spPr>
          <a:xfrm>
            <a:off x="9354312" y="4663440"/>
            <a:ext cx="2148840" cy="530352"/>
          </a:xfrm>
          <a:prstGeom prst="rect">
            <a:avLst/>
          </a:prstGeom>
          <a:noFill/>
        </p:spPr>
        <p:txBody>
          <a:bodyPr wrap="square" rtlCol="0" anchor="ctr"/>
          <a:lstStyle/>
          <a:p>
            <a:pPr marL="0" indent="0" algn="ctr">
              <a:buNone/>
            </a:pPr>
            <a:r>
              <a:rPr lang="en-US" sz="140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find</a:t>
            </a:r>
            <a:endParaRPr lang="en-US" sz="1400" dirty="0"/>
          </a:p>
        </p:txBody>
      </p:sp>
      <p:sp>
        <p:nvSpPr>
          <p:cNvPr id="19" name="Shape 17"/>
          <p:cNvSpPr/>
          <p:nvPr/>
        </p:nvSpPr>
        <p:spPr>
          <a:xfrm>
            <a:off x="457200" y="5486400"/>
            <a:ext cx="11274552" cy="896112"/>
          </a:xfrm>
          <a:prstGeom prst="roundRect">
            <a:avLst>
              <a:gd name="adj" fmla="val 8163"/>
            </a:avLst>
          </a:prstGeom>
          <a:solidFill>
            <a:srgbClr val="F1F5F2"/>
          </a:solidFill>
        </p:spPr>
      </p:sp>
      <p:sp>
        <p:nvSpPr>
          <p:cNvPr id="20" name="Text 18"/>
          <p:cNvSpPr/>
          <p:nvPr/>
        </p:nvSpPr>
        <p:spPr>
          <a:xfrm>
            <a:off x="685800" y="5559552"/>
            <a:ext cx="7772400" cy="749808"/>
          </a:xfrm>
          <a:prstGeom prst="rect">
            <a:avLst/>
          </a:prstGeom>
          <a:noFill/>
        </p:spPr>
        <p:txBody>
          <a:bodyPr wrap="square" rtlCol="0" anchor="ctr"/>
          <a:lstStyle/>
          <a:p>
            <a:pPr marL="0" indent="0">
              <a:buNone/>
            </a:pPr>
            <a:r>
              <a:rPr lang="en-US" sz="1400" b="1" dirty="0">
                <a:solidFill>
                  <a:srgbClr val="16241C"/>
                </a:solidFill>
                <a:latin typeface="Calibri" panose="020F0502020204030204" pitchFamily="34" charset="0"/>
                <a:ea typeface="Calibri" panose="020F0502020204030204" pitchFamily="34" charset="-122"/>
                <a:cs typeface="Calibri" panose="020F0502020204030204" pitchFamily="34" charset="-120"/>
              </a:rPr>
              <a:t>Q10. Which command searches for text inside a file?</a:t>
            </a:r>
            <a:endParaRPr lang="en-US" sz="1400" dirty="0"/>
          </a:p>
        </p:txBody>
      </p:sp>
      <p:sp>
        <p:nvSpPr>
          <p:cNvPr id="21" name="Shape 19"/>
          <p:cNvSpPr/>
          <p:nvPr/>
        </p:nvSpPr>
        <p:spPr>
          <a:xfrm>
            <a:off x="9354312" y="5669280"/>
            <a:ext cx="2148840" cy="530352"/>
          </a:xfrm>
          <a:prstGeom prst="roundRect">
            <a:avLst>
              <a:gd name="adj" fmla="val 10345"/>
            </a:avLst>
          </a:prstGeom>
          <a:solidFill>
            <a:srgbClr val="16241C"/>
          </a:solidFill>
        </p:spPr>
      </p:sp>
      <p:sp>
        <p:nvSpPr>
          <p:cNvPr id="22" name="Text 20"/>
          <p:cNvSpPr/>
          <p:nvPr/>
        </p:nvSpPr>
        <p:spPr>
          <a:xfrm>
            <a:off x="9354312" y="5669280"/>
            <a:ext cx="2148840" cy="530352"/>
          </a:xfrm>
          <a:prstGeom prst="rect">
            <a:avLst/>
          </a:prstGeom>
          <a:noFill/>
        </p:spPr>
        <p:txBody>
          <a:bodyPr wrap="square" rtlCol="0" anchor="ctr"/>
          <a:lstStyle/>
          <a:p>
            <a:pPr marL="0" indent="0" algn="ctr">
              <a:buNone/>
            </a:pPr>
            <a:r>
              <a:rPr lang="en-US" sz="1400" b="1" dirty="0">
                <a:solidFill>
                  <a:srgbClr val="7FEBA6"/>
                </a:solidFill>
                <a:latin typeface="Courier New" panose="02070309020205020404" pitchFamily="34" charset="0"/>
                <a:ea typeface="Courier New" panose="02070309020205020404" pitchFamily="34" charset="-122"/>
                <a:cs typeface="Courier New" panose="02070309020205020404" pitchFamily="34" charset="-120"/>
              </a:rPr>
              <a:t>grep</a:t>
            </a:r>
            <a:endParaRPr lang="en-US" sz="1400" dirty="0"/>
          </a:p>
        </p:txBody>
      </p:sp>
      <p:sp>
        <p:nvSpPr>
          <p:cNvPr id="23" name="Text 21"/>
          <p:cNvSpPr/>
          <p:nvPr/>
        </p:nvSpPr>
        <p:spPr>
          <a:xfrm>
            <a:off x="457200" y="6510528"/>
            <a:ext cx="7315200" cy="274320"/>
          </a:xfrm>
          <a:prstGeom prst="rect">
            <a:avLst/>
          </a:prstGeom>
          <a:noFill/>
        </p:spPr>
        <p:txBody>
          <a:bodyPr wrap="square" rtlCol="0" anchor="ctr"/>
          <a:lstStyle/>
          <a:p>
            <a:pPr marL="0" indent="0" algn="l">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Day 12 · Linux Commands</a:t>
            </a:r>
            <a:endParaRPr lang="en-US" sz="1000" dirty="0"/>
          </a:p>
        </p:txBody>
      </p:sp>
      <p:sp>
        <p:nvSpPr>
          <p:cNvPr id="24" name="Text 22"/>
          <p:cNvSpPr/>
          <p:nvPr/>
        </p:nvSpPr>
        <p:spPr>
          <a:xfrm>
            <a:off x="11274552" y="6510528"/>
            <a:ext cx="457200" cy="274320"/>
          </a:xfrm>
          <a:prstGeom prst="rect">
            <a:avLst/>
          </a:prstGeom>
          <a:noFill/>
        </p:spPr>
        <p:txBody>
          <a:bodyPr wrap="square" rtlCol="0" anchor="ctr"/>
          <a:lstStyle/>
          <a:p>
            <a:pPr marL="0" indent="0" algn="r">
              <a:buNone/>
            </a:pPr>
            <a:r>
              <a:rPr lang="en-US" sz="1000" dirty="0">
                <a:solidFill>
                  <a:srgbClr val="5B6B63"/>
                </a:solidFill>
                <a:latin typeface="Calibri" panose="020F0502020204030204" pitchFamily="34" charset="0"/>
                <a:ea typeface="Calibri" panose="020F0502020204030204" pitchFamily="34" charset="-122"/>
                <a:cs typeface="Calibri" panose="020F0502020204030204"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6241C"/>
        </a:solidFill>
        <a:effectLst/>
      </p:bgPr>
    </p:bg>
    <p:spTree>
      <p:nvGrpSpPr>
        <p:cNvPr id="1" name=""/>
        <p:cNvGrpSpPr/>
        <p:nvPr/>
      </p:nvGrpSpPr>
      <p:grpSpPr>
        <a:xfrm>
          <a:off x="0" y="0"/>
          <a:ext cx="0" cy="0"/>
          <a:chOff x="0" y="0"/>
          <a:chExt cx="0" cy="0"/>
        </a:xfrm>
      </p:grpSpPr>
      <p:sp>
        <p:nvSpPr>
          <p:cNvPr id="2" name="Text 0"/>
          <p:cNvSpPr/>
          <p:nvPr/>
        </p:nvSpPr>
        <p:spPr>
          <a:xfrm>
            <a:off x="457200" y="411480"/>
            <a:ext cx="7315200" cy="548640"/>
          </a:xfrm>
          <a:prstGeom prst="rect">
            <a:avLst/>
          </a:prstGeom>
          <a:noFill/>
        </p:spPr>
        <p:txBody>
          <a:bodyPr wrap="square" rtlCol="0" anchor="ctr"/>
          <a:lstStyle/>
          <a:p>
            <a:pPr marL="0" indent="0">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Summary</a:t>
            </a:r>
            <a:endParaRPr lang="en-US" sz="2800" dirty="0"/>
          </a:p>
        </p:txBody>
      </p:sp>
      <p:sp>
        <p:nvSpPr>
          <p:cNvPr id="3" name="Shape 1"/>
          <p:cNvSpPr/>
          <p:nvPr/>
        </p:nvSpPr>
        <p:spPr>
          <a:xfrm>
            <a:off x="457200" y="1005840"/>
            <a:ext cx="2697480" cy="566928"/>
          </a:xfrm>
          <a:prstGeom prst="roundRect">
            <a:avLst>
              <a:gd name="adj" fmla="val 9677"/>
            </a:avLst>
          </a:prstGeom>
          <a:solidFill>
            <a:srgbClr val="1E2F24"/>
          </a:solidFill>
        </p:spPr>
      </p:sp>
      <p:sp>
        <p:nvSpPr>
          <p:cNvPr id="4" name="Text 2"/>
          <p:cNvSpPr/>
          <p:nvPr/>
        </p:nvSpPr>
        <p:spPr>
          <a:xfrm>
            <a:off x="566928" y="1051560"/>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pwd</a:t>
            </a:r>
            <a:endParaRPr lang="en-US" sz="1150" dirty="0"/>
          </a:p>
        </p:txBody>
      </p:sp>
      <p:sp>
        <p:nvSpPr>
          <p:cNvPr id="5" name="Text 3"/>
          <p:cNvSpPr/>
          <p:nvPr/>
        </p:nvSpPr>
        <p:spPr>
          <a:xfrm>
            <a:off x="566928" y="1280160"/>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Show current directory</a:t>
            </a:r>
            <a:endParaRPr lang="en-US" sz="900" dirty="0"/>
          </a:p>
        </p:txBody>
      </p:sp>
      <p:sp>
        <p:nvSpPr>
          <p:cNvPr id="6" name="Shape 4"/>
          <p:cNvSpPr/>
          <p:nvPr/>
        </p:nvSpPr>
        <p:spPr>
          <a:xfrm>
            <a:off x="3291840" y="1005840"/>
            <a:ext cx="2697480" cy="566928"/>
          </a:xfrm>
          <a:prstGeom prst="roundRect">
            <a:avLst>
              <a:gd name="adj" fmla="val 9677"/>
            </a:avLst>
          </a:prstGeom>
          <a:solidFill>
            <a:srgbClr val="1E2F24"/>
          </a:solidFill>
        </p:spPr>
      </p:sp>
      <p:sp>
        <p:nvSpPr>
          <p:cNvPr id="7" name="Text 5"/>
          <p:cNvSpPr/>
          <p:nvPr/>
        </p:nvSpPr>
        <p:spPr>
          <a:xfrm>
            <a:off x="3401568" y="1051560"/>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ls</a:t>
            </a:r>
            <a:endParaRPr lang="en-US" sz="1150" dirty="0"/>
          </a:p>
        </p:txBody>
      </p:sp>
      <p:sp>
        <p:nvSpPr>
          <p:cNvPr id="8" name="Text 6"/>
          <p:cNvSpPr/>
          <p:nvPr/>
        </p:nvSpPr>
        <p:spPr>
          <a:xfrm>
            <a:off x="3401568" y="1280160"/>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List files and folders</a:t>
            </a:r>
            <a:endParaRPr lang="en-US" sz="900" dirty="0"/>
          </a:p>
        </p:txBody>
      </p:sp>
      <p:sp>
        <p:nvSpPr>
          <p:cNvPr id="9" name="Shape 7"/>
          <p:cNvSpPr/>
          <p:nvPr/>
        </p:nvSpPr>
        <p:spPr>
          <a:xfrm>
            <a:off x="6126480" y="1005840"/>
            <a:ext cx="2697480" cy="566928"/>
          </a:xfrm>
          <a:prstGeom prst="roundRect">
            <a:avLst>
              <a:gd name="adj" fmla="val 9677"/>
            </a:avLst>
          </a:prstGeom>
          <a:solidFill>
            <a:srgbClr val="1E2F24"/>
          </a:solidFill>
        </p:spPr>
      </p:sp>
      <p:sp>
        <p:nvSpPr>
          <p:cNvPr id="10" name="Text 8"/>
          <p:cNvSpPr/>
          <p:nvPr/>
        </p:nvSpPr>
        <p:spPr>
          <a:xfrm>
            <a:off x="6236208" y="1051560"/>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cd</a:t>
            </a:r>
            <a:endParaRPr lang="en-US" sz="1150" dirty="0"/>
          </a:p>
        </p:txBody>
      </p:sp>
      <p:sp>
        <p:nvSpPr>
          <p:cNvPr id="11" name="Text 9"/>
          <p:cNvSpPr/>
          <p:nvPr/>
        </p:nvSpPr>
        <p:spPr>
          <a:xfrm>
            <a:off x="6236208" y="1280160"/>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Change directory</a:t>
            </a:r>
            <a:endParaRPr lang="en-US" sz="900" dirty="0"/>
          </a:p>
        </p:txBody>
      </p:sp>
      <p:sp>
        <p:nvSpPr>
          <p:cNvPr id="12" name="Shape 10"/>
          <p:cNvSpPr/>
          <p:nvPr/>
        </p:nvSpPr>
        <p:spPr>
          <a:xfrm>
            <a:off x="8961120" y="1005840"/>
            <a:ext cx="2697480" cy="566928"/>
          </a:xfrm>
          <a:prstGeom prst="roundRect">
            <a:avLst>
              <a:gd name="adj" fmla="val 9677"/>
            </a:avLst>
          </a:prstGeom>
          <a:solidFill>
            <a:srgbClr val="1E2F24"/>
          </a:solidFill>
        </p:spPr>
      </p:sp>
      <p:sp>
        <p:nvSpPr>
          <p:cNvPr id="13" name="Text 11"/>
          <p:cNvSpPr/>
          <p:nvPr/>
        </p:nvSpPr>
        <p:spPr>
          <a:xfrm>
            <a:off x="9070848" y="1051560"/>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mkdir</a:t>
            </a:r>
            <a:endParaRPr lang="en-US" sz="1150" dirty="0"/>
          </a:p>
        </p:txBody>
      </p:sp>
      <p:sp>
        <p:nvSpPr>
          <p:cNvPr id="14" name="Text 12"/>
          <p:cNvSpPr/>
          <p:nvPr/>
        </p:nvSpPr>
        <p:spPr>
          <a:xfrm>
            <a:off x="9070848" y="1280160"/>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Create a directory</a:t>
            </a:r>
            <a:endParaRPr lang="en-US" sz="900" dirty="0"/>
          </a:p>
        </p:txBody>
      </p:sp>
      <p:sp>
        <p:nvSpPr>
          <p:cNvPr id="15" name="Shape 13"/>
          <p:cNvSpPr/>
          <p:nvPr/>
        </p:nvSpPr>
        <p:spPr>
          <a:xfrm>
            <a:off x="457200" y="1664208"/>
            <a:ext cx="2697480" cy="566928"/>
          </a:xfrm>
          <a:prstGeom prst="roundRect">
            <a:avLst>
              <a:gd name="adj" fmla="val 9677"/>
            </a:avLst>
          </a:prstGeom>
          <a:solidFill>
            <a:srgbClr val="1E2F24"/>
          </a:solidFill>
        </p:spPr>
      </p:sp>
      <p:sp>
        <p:nvSpPr>
          <p:cNvPr id="16" name="Text 14"/>
          <p:cNvSpPr/>
          <p:nvPr/>
        </p:nvSpPr>
        <p:spPr>
          <a:xfrm>
            <a:off x="566928" y="1709928"/>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rmdir</a:t>
            </a:r>
            <a:endParaRPr lang="en-US" sz="1150" dirty="0"/>
          </a:p>
        </p:txBody>
      </p:sp>
      <p:sp>
        <p:nvSpPr>
          <p:cNvPr id="17" name="Text 15"/>
          <p:cNvSpPr/>
          <p:nvPr/>
        </p:nvSpPr>
        <p:spPr>
          <a:xfrm>
            <a:off x="566928" y="1938528"/>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Remove an empty directory</a:t>
            </a:r>
            <a:endParaRPr lang="en-US" sz="900" dirty="0"/>
          </a:p>
        </p:txBody>
      </p:sp>
      <p:sp>
        <p:nvSpPr>
          <p:cNvPr id="18" name="Shape 16"/>
          <p:cNvSpPr/>
          <p:nvPr/>
        </p:nvSpPr>
        <p:spPr>
          <a:xfrm>
            <a:off x="3291840" y="1664208"/>
            <a:ext cx="2697480" cy="566928"/>
          </a:xfrm>
          <a:prstGeom prst="roundRect">
            <a:avLst>
              <a:gd name="adj" fmla="val 9677"/>
            </a:avLst>
          </a:prstGeom>
          <a:solidFill>
            <a:srgbClr val="1E2F24"/>
          </a:solidFill>
        </p:spPr>
      </p:sp>
      <p:sp>
        <p:nvSpPr>
          <p:cNvPr id="19" name="Text 17"/>
          <p:cNvSpPr/>
          <p:nvPr/>
        </p:nvSpPr>
        <p:spPr>
          <a:xfrm>
            <a:off x="3401568" y="1709928"/>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touch</a:t>
            </a:r>
            <a:endParaRPr lang="en-US" sz="1150" dirty="0"/>
          </a:p>
        </p:txBody>
      </p:sp>
      <p:sp>
        <p:nvSpPr>
          <p:cNvPr id="20" name="Text 18"/>
          <p:cNvSpPr/>
          <p:nvPr/>
        </p:nvSpPr>
        <p:spPr>
          <a:xfrm>
            <a:off x="3401568" y="1938528"/>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Create an empty file</a:t>
            </a:r>
            <a:endParaRPr lang="en-US" sz="900" dirty="0"/>
          </a:p>
        </p:txBody>
      </p:sp>
      <p:sp>
        <p:nvSpPr>
          <p:cNvPr id="21" name="Shape 19"/>
          <p:cNvSpPr/>
          <p:nvPr/>
        </p:nvSpPr>
        <p:spPr>
          <a:xfrm>
            <a:off x="6126480" y="1664208"/>
            <a:ext cx="2697480" cy="566928"/>
          </a:xfrm>
          <a:prstGeom prst="roundRect">
            <a:avLst>
              <a:gd name="adj" fmla="val 9677"/>
            </a:avLst>
          </a:prstGeom>
          <a:solidFill>
            <a:srgbClr val="1E2F24"/>
          </a:solidFill>
        </p:spPr>
      </p:sp>
      <p:sp>
        <p:nvSpPr>
          <p:cNvPr id="22" name="Text 20"/>
          <p:cNvSpPr/>
          <p:nvPr/>
        </p:nvSpPr>
        <p:spPr>
          <a:xfrm>
            <a:off x="6236208" y="1709928"/>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cp</a:t>
            </a:r>
            <a:endParaRPr lang="en-US" sz="1150" dirty="0"/>
          </a:p>
        </p:txBody>
      </p:sp>
      <p:sp>
        <p:nvSpPr>
          <p:cNvPr id="23" name="Text 21"/>
          <p:cNvSpPr/>
          <p:nvPr/>
        </p:nvSpPr>
        <p:spPr>
          <a:xfrm>
            <a:off x="6236208" y="1938528"/>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Copy files/directories</a:t>
            </a:r>
            <a:endParaRPr lang="en-US" sz="900" dirty="0"/>
          </a:p>
        </p:txBody>
      </p:sp>
      <p:sp>
        <p:nvSpPr>
          <p:cNvPr id="24" name="Shape 22"/>
          <p:cNvSpPr/>
          <p:nvPr/>
        </p:nvSpPr>
        <p:spPr>
          <a:xfrm>
            <a:off x="8961120" y="1664208"/>
            <a:ext cx="2697480" cy="566928"/>
          </a:xfrm>
          <a:prstGeom prst="roundRect">
            <a:avLst>
              <a:gd name="adj" fmla="val 9677"/>
            </a:avLst>
          </a:prstGeom>
          <a:solidFill>
            <a:srgbClr val="1E2F24"/>
          </a:solidFill>
        </p:spPr>
      </p:sp>
      <p:sp>
        <p:nvSpPr>
          <p:cNvPr id="25" name="Text 23"/>
          <p:cNvSpPr/>
          <p:nvPr/>
        </p:nvSpPr>
        <p:spPr>
          <a:xfrm>
            <a:off x="9070848" y="1709928"/>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mv</a:t>
            </a:r>
            <a:endParaRPr lang="en-US" sz="1150" dirty="0"/>
          </a:p>
        </p:txBody>
      </p:sp>
      <p:sp>
        <p:nvSpPr>
          <p:cNvPr id="26" name="Text 24"/>
          <p:cNvSpPr/>
          <p:nvPr/>
        </p:nvSpPr>
        <p:spPr>
          <a:xfrm>
            <a:off x="9070848" y="1938528"/>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Move or rename files</a:t>
            </a:r>
            <a:endParaRPr lang="en-US" sz="900" dirty="0"/>
          </a:p>
        </p:txBody>
      </p:sp>
      <p:sp>
        <p:nvSpPr>
          <p:cNvPr id="27" name="Shape 25"/>
          <p:cNvSpPr/>
          <p:nvPr/>
        </p:nvSpPr>
        <p:spPr>
          <a:xfrm>
            <a:off x="457200" y="2322576"/>
            <a:ext cx="2697480" cy="566928"/>
          </a:xfrm>
          <a:prstGeom prst="roundRect">
            <a:avLst>
              <a:gd name="adj" fmla="val 9677"/>
            </a:avLst>
          </a:prstGeom>
          <a:solidFill>
            <a:srgbClr val="1E2F24"/>
          </a:solidFill>
        </p:spPr>
      </p:sp>
      <p:sp>
        <p:nvSpPr>
          <p:cNvPr id="28" name="Text 26"/>
          <p:cNvSpPr/>
          <p:nvPr/>
        </p:nvSpPr>
        <p:spPr>
          <a:xfrm>
            <a:off x="566928" y="2368296"/>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rm</a:t>
            </a:r>
            <a:endParaRPr lang="en-US" sz="1150" dirty="0"/>
          </a:p>
        </p:txBody>
      </p:sp>
      <p:sp>
        <p:nvSpPr>
          <p:cNvPr id="29" name="Text 27"/>
          <p:cNvSpPr/>
          <p:nvPr/>
        </p:nvSpPr>
        <p:spPr>
          <a:xfrm>
            <a:off x="566928" y="2596896"/>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Delete files/directories</a:t>
            </a:r>
            <a:endParaRPr lang="en-US" sz="900" dirty="0"/>
          </a:p>
        </p:txBody>
      </p:sp>
      <p:sp>
        <p:nvSpPr>
          <p:cNvPr id="30" name="Shape 28"/>
          <p:cNvSpPr/>
          <p:nvPr/>
        </p:nvSpPr>
        <p:spPr>
          <a:xfrm>
            <a:off x="3291840" y="2322576"/>
            <a:ext cx="2697480" cy="566928"/>
          </a:xfrm>
          <a:prstGeom prst="roundRect">
            <a:avLst>
              <a:gd name="adj" fmla="val 9677"/>
            </a:avLst>
          </a:prstGeom>
          <a:solidFill>
            <a:srgbClr val="1E2F24"/>
          </a:solidFill>
        </p:spPr>
      </p:sp>
      <p:sp>
        <p:nvSpPr>
          <p:cNvPr id="31" name="Text 29"/>
          <p:cNvSpPr/>
          <p:nvPr/>
        </p:nvSpPr>
        <p:spPr>
          <a:xfrm>
            <a:off x="3401568" y="2368296"/>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cat</a:t>
            </a:r>
            <a:endParaRPr lang="en-US" sz="1150" dirty="0"/>
          </a:p>
        </p:txBody>
      </p:sp>
      <p:sp>
        <p:nvSpPr>
          <p:cNvPr id="32" name="Text 30"/>
          <p:cNvSpPr/>
          <p:nvPr/>
        </p:nvSpPr>
        <p:spPr>
          <a:xfrm>
            <a:off x="3401568" y="2596896"/>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Display file contents</a:t>
            </a:r>
            <a:endParaRPr lang="en-US" sz="900" dirty="0"/>
          </a:p>
        </p:txBody>
      </p:sp>
      <p:sp>
        <p:nvSpPr>
          <p:cNvPr id="33" name="Shape 31"/>
          <p:cNvSpPr/>
          <p:nvPr/>
        </p:nvSpPr>
        <p:spPr>
          <a:xfrm>
            <a:off x="6126480" y="2322576"/>
            <a:ext cx="2697480" cy="566928"/>
          </a:xfrm>
          <a:prstGeom prst="roundRect">
            <a:avLst>
              <a:gd name="adj" fmla="val 9677"/>
            </a:avLst>
          </a:prstGeom>
          <a:solidFill>
            <a:srgbClr val="1E2F24"/>
          </a:solidFill>
        </p:spPr>
      </p:sp>
      <p:sp>
        <p:nvSpPr>
          <p:cNvPr id="34" name="Text 32"/>
          <p:cNvSpPr/>
          <p:nvPr/>
        </p:nvSpPr>
        <p:spPr>
          <a:xfrm>
            <a:off x="6236208" y="2368296"/>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nano</a:t>
            </a:r>
            <a:endParaRPr lang="en-US" sz="1150" dirty="0"/>
          </a:p>
        </p:txBody>
      </p:sp>
      <p:sp>
        <p:nvSpPr>
          <p:cNvPr id="35" name="Text 33"/>
          <p:cNvSpPr/>
          <p:nvPr/>
        </p:nvSpPr>
        <p:spPr>
          <a:xfrm>
            <a:off x="6236208" y="2596896"/>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Edit text files</a:t>
            </a:r>
            <a:endParaRPr lang="en-US" sz="900" dirty="0"/>
          </a:p>
        </p:txBody>
      </p:sp>
      <p:sp>
        <p:nvSpPr>
          <p:cNvPr id="36" name="Shape 34"/>
          <p:cNvSpPr/>
          <p:nvPr/>
        </p:nvSpPr>
        <p:spPr>
          <a:xfrm>
            <a:off x="8961120" y="2322576"/>
            <a:ext cx="2697480" cy="566928"/>
          </a:xfrm>
          <a:prstGeom prst="roundRect">
            <a:avLst>
              <a:gd name="adj" fmla="val 9677"/>
            </a:avLst>
          </a:prstGeom>
          <a:solidFill>
            <a:srgbClr val="1E2F24"/>
          </a:solidFill>
        </p:spPr>
      </p:sp>
      <p:sp>
        <p:nvSpPr>
          <p:cNvPr id="37" name="Text 35"/>
          <p:cNvSpPr/>
          <p:nvPr/>
        </p:nvSpPr>
        <p:spPr>
          <a:xfrm>
            <a:off x="9070848" y="2368296"/>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chmod</a:t>
            </a:r>
            <a:endParaRPr lang="en-US" sz="1150" dirty="0"/>
          </a:p>
        </p:txBody>
      </p:sp>
      <p:sp>
        <p:nvSpPr>
          <p:cNvPr id="38" name="Text 36"/>
          <p:cNvSpPr/>
          <p:nvPr/>
        </p:nvSpPr>
        <p:spPr>
          <a:xfrm>
            <a:off x="9070848" y="2596896"/>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Change file permissions</a:t>
            </a:r>
            <a:endParaRPr lang="en-US" sz="900" dirty="0"/>
          </a:p>
        </p:txBody>
      </p:sp>
      <p:sp>
        <p:nvSpPr>
          <p:cNvPr id="39" name="Shape 37"/>
          <p:cNvSpPr/>
          <p:nvPr/>
        </p:nvSpPr>
        <p:spPr>
          <a:xfrm>
            <a:off x="457200" y="2980944"/>
            <a:ext cx="2697480" cy="566928"/>
          </a:xfrm>
          <a:prstGeom prst="roundRect">
            <a:avLst>
              <a:gd name="adj" fmla="val 9677"/>
            </a:avLst>
          </a:prstGeom>
          <a:solidFill>
            <a:srgbClr val="1E2F24"/>
          </a:solidFill>
        </p:spPr>
      </p:sp>
      <p:sp>
        <p:nvSpPr>
          <p:cNvPr id="40" name="Text 38"/>
          <p:cNvSpPr/>
          <p:nvPr/>
        </p:nvSpPr>
        <p:spPr>
          <a:xfrm>
            <a:off x="566928" y="3026664"/>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chown</a:t>
            </a:r>
            <a:endParaRPr lang="en-US" sz="1150" dirty="0"/>
          </a:p>
        </p:txBody>
      </p:sp>
      <p:sp>
        <p:nvSpPr>
          <p:cNvPr id="41" name="Text 39"/>
          <p:cNvSpPr/>
          <p:nvPr/>
        </p:nvSpPr>
        <p:spPr>
          <a:xfrm>
            <a:off x="566928" y="3255264"/>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Change file owner</a:t>
            </a:r>
            <a:endParaRPr lang="en-US" sz="900" dirty="0"/>
          </a:p>
        </p:txBody>
      </p:sp>
      <p:sp>
        <p:nvSpPr>
          <p:cNvPr id="42" name="Shape 40"/>
          <p:cNvSpPr/>
          <p:nvPr/>
        </p:nvSpPr>
        <p:spPr>
          <a:xfrm>
            <a:off x="3291840" y="2980944"/>
            <a:ext cx="2697480" cy="566928"/>
          </a:xfrm>
          <a:prstGeom prst="roundRect">
            <a:avLst>
              <a:gd name="adj" fmla="val 9677"/>
            </a:avLst>
          </a:prstGeom>
          <a:solidFill>
            <a:srgbClr val="1E2F24"/>
          </a:solidFill>
        </p:spPr>
      </p:sp>
      <p:sp>
        <p:nvSpPr>
          <p:cNvPr id="43" name="Text 41"/>
          <p:cNvSpPr/>
          <p:nvPr/>
        </p:nvSpPr>
        <p:spPr>
          <a:xfrm>
            <a:off x="3401568" y="3026664"/>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find</a:t>
            </a:r>
            <a:endParaRPr lang="en-US" sz="1150" dirty="0"/>
          </a:p>
        </p:txBody>
      </p:sp>
      <p:sp>
        <p:nvSpPr>
          <p:cNvPr id="44" name="Text 42"/>
          <p:cNvSpPr/>
          <p:nvPr/>
        </p:nvSpPr>
        <p:spPr>
          <a:xfrm>
            <a:off x="3401568" y="3255264"/>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Search for files/directories</a:t>
            </a:r>
            <a:endParaRPr lang="en-US" sz="900" dirty="0"/>
          </a:p>
        </p:txBody>
      </p:sp>
      <p:sp>
        <p:nvSpPr>
          <p:cNvPr id="45" name="Shape 43"/>
          <p:cNvSpPr/>
          <p:nvPr/>
        </p:nvSpPr>
        <p:spPr>
          <a:xfrm>
            <a:off x="6126480" y="2980944"/>
            <a:ext cx="2697480" cy="566928"/>
          </a:xfrm>
          <a:prstGeom prst="roundRect">
            <a:avLst>
              <a:gd name="adj" fmla="val 9677"/>
            </a:avLst>
          </a:prstGeom>
          <a:solidFill>
            <a:srgbClr val="1E2F24"/>
          </a:solidFill>
        </p:spPr>
      </p:sp>
      <p:sp>
        <p:nvSpPr>
          <p:cNvPr id="46" name="Text 44"/>
          <p:cNvSpPr/>
          <p:nvPr/>
        </p:nvSpPr>
        <p:spPr>
          <a:xfrm>
            <a:off x="6236208" y="3026664"/>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grep</a:t>
            </a:r>
            <a:endParaRPr lang="en-US" sz="1150" dirty="0"/>
          </a:p>
        </p:txBody>
      </p:sp>
      <p:sp>
        <p:nvSpPr>
          <p:cNvPr id="47" name="Text 45"/>
          <p:cNvSpPr/>
          <p:nvPr/>
        </p:nvSpPr>
        <p:spPr>
          <a:xfrm>
            <a:off x="6236208" y="3255264"/>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Search text inside files</a:t>
            </a:r>
            <a:endParaRPr lang="en-US" sz="900" dirty="0"/>
          </a:p>
        </p:txBody>
      </p:sp>
      <p:sp>
        <p:nvSpPr>
          <p:cNvPr id="48" name="Shape 46"/>
          <p:cNvSpPr/>
          <p:nvPr/>
        </p:nvSpPr>
        <p:spPr>
          <a:xfrm>
            <a:off x="8961120" y="2980944"/>
            <a:ext cx="2697480" cy="566928"/>
          </a:xfrm>
          <a:prstGeom prst="roundRect">
            <a:avLst>
              <a:gd name="adj" fmla="val 9677"/>
            </a:avLst>
          </a:prstGeom>
          <a:solidFill>
            <a:srgbClr val="1E2F24"/>
          </a:solidFill>
        </p:spPr>
      </p:sp>
      <p:sp>
        <p:nvSpPr>
          <p:cNvPr id="49" name="Text 47"/>
          <p:cNvSpPr/>
          <p:nvPr/>
        </p:nvSpPr>
        <p:spPr>
          <a:xfrm>
            <a:off x="9070848" y="3026664"/>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history</a:t>
            </a:r>
            <a:endParaRPr lang="en-US" sz="1150" dirty="0"/>
          </a:p>
        </p:txBody>
      </p:sp>
      <p:sp>
        <p:nvSpPr>
          <p:cNvPr id="50" name="Text 48"/>
          <p:cNvSpPr/>
          <p:nvPr/>
        </p:nvSpPr>
        <p:spPr>
          <a:xfrm>
            <a:off x="9070848" y="3255264"/>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Show command history</a:t>
            </a:r>
            <a:endParaRPr lang="en-US" sz="900" dirty="0"/>
          </a:p>
        </p:txBody>
      </p:sp>
      <p:sp>
        <p:nvSpPr>
          <p:cNvPr id="51" name="Shape 49"/>
          <p:cNvSpPr/>
          <p:nvPr/>
        </p:nvSpPr>
        <p:spPr>
          <a:xfrm>
            <a:off x="457200" y="3639312"/>
            <a:ext cx="2697480" cy="566928"/>
          </a:xfrm>
          <a:prstGeom prst="roundRect">
            <a:avLst>
              <a:gd name="adj" fmla="val 9677"/>
            </a:avLst>
          </a:prstGeom>
          <a:solidFill>
            <a:srgbClr val="1E2F24"/>
          </a:solidFill>
        </p:spPr>
      </p:sp>
      <p:sp>
        <p:nvSpPr>
          <p:cNvPr id="52" name="Text 50"/>
          <p:cNvSpPr/>
          <p:nvPr/>
        </p:nvSpPr>
        <p:spPr>
          <a:xfrm>
            <a:off x="566928" y="3685032"/>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whoami</a:t>
            </a:r>
            <a:endParaRPr lang="en-US" sz="1150" dirty="0"/>
          </a:p>
        </p:txBody>
      </p:sp>
      <p:sp>
        <p:nvSpPr>
          <p:cNvPr id="53" name="Text 51"/>
          <p:cNvSpPr/>
          <p:nvPr/>
        </p:nvSpPr>
        <p:spPr>
          <a:xfrm>
            <a:off x="566928" y="3913632"/>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Show current user</a:t>
            </a:r>
            <a:endParaRPr lang="en-US" sz="900" dirty="0"/>
          </a:p>
        </p:txBody>
      </p:sp>
      <p:sp>
        <p:nvSpPr>
          <p:cNvPr id="54" name="Shape 52"/>
          <p:cNvSpPr/>
          <p:nvPr/>
        </p:nvSpPr>
        <p:spPr>
          <a:xfrm>
            <a:off x="3291840" y="3639312"/>
            <a:ext cx="2697480" cy="566928"/>
          </a:xfrm>
          <a:prstGeom prst="roundRect">
            <a:avLst>
              <a:gd name="adj" fmla="val 9677"/>
            </a:avLst>
          </a:prstGeom>
          <a:solidFill>
            <a:srgbClr val="1E2F24"/>
          </a:solidFill>
        </p:spPr>
      </p:sp>
      <p:sp>
        <p:nvSpPr>
          <p:cNvPr id="55" name="Text 53"/>
          <p:cNvSpPr/>
          <p:nvPr/>
        </p:nvSpPr>
        <p:spPr>
          <a:xfrm>
            <a:off x="3401568" y="3685032"/>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clear</a:t>
            </a:r>
            <a:endParaRPr lang="en-US" sz="1150" dirty="0"/>
          </a:p>
        </p:txBody>
      </p:sp>
      <p:sp>
        <p:nvSpPr>
          <p:cNvPr id="56" name="Text 54"/>
          <p:cNvSpPr/>
          <p:nvPr/>
        </p:nvSpPr>
        <p:spPr>
          <a:xfrm>
            <a:off x="3401568" y="3913632"/>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Clear terminal</a:t>
            </a:r>
            <a:endParaRPr lang="en-US" sz="900" dirty="0"/>
          </a:p>
        </p:txBody>
      </p:sp>
      <p:sp>
        <p:nvSpPr>
          <p:cNvPr id="57" name="Shape 55"/>
          <p:cNvSpPr/>
          <p:nvPr/>
        </p:nvSpPr>
        <p:spPr>
          <a:xfrm>
            <a:off x="6126480" y="3639312"/>
            <a:ext cx="2697480" cy="566928"/>
          </a:xfrm>
          <a:prstGeom prst="roundRect">
            <a:avLst>
              <a:gd name="adj" fmla="val 9677"/>
            </a:avLst>
          </a:prstGeom>
          <a:solidFill>
            <a:srgbClr val="1E2F24"/>
          </a:solidFill>
        </p:spPr>
      </p:sp>
      <p:sp>
        <p:nvSpPr>
          <p:cNvPr id="58" name="Text 56"/>
          <p:cNvSpPr/>
          <p:nvPr/>
        </p:nvSpPr>
        <p:spPr>
          <a:xfrm>
            <a:off x="6236208" y="3685032"/>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man</a:t>
            </a:r>
            <a:endParaRPr lang="en-US" sz="1150" dirty="0"/>
          </a:p>
        </p:txBody>
      </p:sp>
      <p:sp>
        <p:nvSpPr>
          <p:cNvPr id="59" name="Text 57"/>
          <p:cNvSpPr/>
          <p:nvPr/>
        </p:nvSpPr>
        <p:spPr>
          <a:xfrm>
            <a:off x="6236208" y="3913632"/>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Display command manual</a:t>
            </a:r>
            <a:endParaRPr lang="en-US" sz="900" dirty="0"/>
          </a:p>
        </p:txBody>
      </p:sp>
      <p:sp>
        <p:nvSpPr>
          <p:cNvPr id="60" name="Shape 58"/>
          <p:cNvSpPr/>
          <p:nvPr/>
        </p:nvSpPr>
        <p:spPr>
          <a:xfrm>
            <a:off x="8961120" y="3639312"/>
            <a:ext cx="2697480" cy="566928"/>
          </a:xfrm>
          <a:prstGeom prst="roundRect">
            <a:avLst>
              <a:gd name="adj" fmla="val 9677"/>
            </a:avLst>
          </a:prstGeom>
          <a:solidFill>
            <a:srgbClr val="1E2F24"/>
          </a:solidFill>
        </p:spPr>
      </p:sp>
      <p:sp>
        <p:nvSpPr>
          <p:cNvPr id="61" name="Text 59"/>
          <p:cNvSpPr/>
          <p:nvPr/>
        </p:nvSpPr>
        <p:spPr>
          <a:xfrm>
            <a:off x="9070848" y="3685032"/>
            <a:ext cx="2478024" cy="237744"/>
          </a:xfrm>
          <a:prstGeom prst="rect">
            <a:avLst/>
          </a:prstGeom>
          <a:noFill/>
        </p:spPr>
        <p:txBody>
          <a:bodyPr wrap="square" rtlCol="0" anchor="ctr"/>
          <a:lstStyle/>
          <a:p>
            <a:pPr marL="0" indent="0">
              <a:buNone/>
            </a:pPr>
            <a:r>
              <a:rPr lang="en-US" sz="1150" b="1" dirty="0">
                <a:solidFill>
                  <a:srgbClr val="22C55E"/>
                </a:solidFill>
                <a:latin typeface="Courier New" panose="02070309020205020404" pitchFamily="34" charset="0"/>
                <a:ea typeface="Courier New" panose="02070309020205020404" pitchFamily="34" charset="-122"/>
                <a:cs typeface="Courier New" panose="02070309020205020404" pitchFamily="34" charset="-120"/>
              </a:rPr>
              <a:t>echo</a:t>
            </a:r>
            <a:endParaRPr lang="en-US" sz="1150" dirty="0"/>
          </a:p>
        </p:txBody>
      </p:sp>
      <p:sp>
        <p:nvSpPr>
          <p:cNvPr id="62" name="Text 60"/>
          <p:cNvSpPr/>
          <p:nvPr/>
        </p:nvSpPr>
        <p:spPr>
          <a:xfrm>
            <a:off x="9070848" y="3913632"/>
            <a:ext cx="2478024" cy="256032"/>
          </a:xfrm>
          <a:prstGeom prst="rect">
            <a:avLst/>
          </a:prstGeom>
          <a:noFill/>
        </p:spPr>
        <p:txBody>
          <a:bodyPr wrap="square" rtlCol="0" anchor="ctr"/>
          <a:lstStyle/>
          <a:p>
            <a:pPr marL="0" indent="0">
              <a:buNone/>
            </a:pPr>
            <a:r>
              <a:rPr lang="en-US" sz="900" dirty="0">
                <a:solidFill>
                  <a:srgbClr val="D5E8DC"/>
                </a:solidFill>
                <a:latin typeface="Calibri" panose="020F0502020204030204" pitchFamily="34" charset="0"/>
                <a:ea typeface="Calibri" panose="020F0502020204030204" pitchFamily="34" charset="-122"/>
                <a:cs typeface="Calibri" panose="020F0502020204030204" pitchFamily="34" charset="-120"/>
              </a:rPr>
              <a:t>Print text or write to files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5164</Words>
  <Application>WPS Presentation</Application>
  <PresentationFormat>On-screen Show (16:9)</PresentationFormat>
  <Paragraphs>570</Paragraphs>
  <Slides>16</Slides>
  <Notes>16</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16</vt:i4>
      </vt:variant>
    </vt:vector>
  </HeadingPairs>
  <TitlesOfParts>
    <vt:vector size="31" baseType="lpstr">
      <vt:lpstr>Arial</vt:lpstr>
      <vt:lpstr>SimSun</vt:lpstr>
      <vt:lpstr>Wingdings</vt:lpstr>
      <vt:lpstr>Calibri</vt:lpstr>
      <vt:lpstr>Calibri</vt:lpstr>
      <vt:lpstr>Calibri</vt:lpstr>
      <vt:lpstr>Cambria</vt:lpstr>
      <vt:lpstr>Cambria</vt:lpstr>
      <vt:lpstr>Cambria</vt:lpstr>
      <vt:lpstr>Courier New</vt:lpstr>
      <vt:lpstr>Courier New</vt:lpstr>
      <vt:lpstr>Courier New</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hamida majeed</cp:lastModifiedBy>
  <cp:revision>2</cp:revision>
  <dcterms:created xsi:type="dcterms:W3CDTF">2026-08-02T08:54:00Z</dcterms:created>
  <dcterms:modified xsi:type="dcterms:W3CDTF">2026-08-03T06:27:08Z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12AC269D0FE64EF1B6B6E984340F6660_12</vt:lpwstr>
  </property>
  <property fmtid="{D5CDD505-2E9C-101B-9397-08002B2CF9AE}" pid="3" name="KSOProductBuildVer">
    <vt:lpwstr>2057-12.2.0.23206</vt:lpwstr>
  </property>
</Properties>
</file>