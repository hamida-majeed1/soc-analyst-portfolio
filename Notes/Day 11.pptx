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1C"/>
        </a:solidFill>
      </p:bgPr>
    </p:bg>
    <p:spTree>
      <p:nvGrpSpPr>
        <p:cNvPr id="1" name=""/>
        <p:cNvGrpSpPr/>
        <p:nvPr/>
      </p:nvGrpSpPr>
      <p:grpSpPr>
        <a:xfrm>
          <a:off x="0" y="0"/>
          <a:ext cx="0" cy="0"/>
          <a:chOff x="0" y="0"/>
          <a:chExt cx="0" cy="0"/>
        </a:xfrm>
      </p:grpSpPr>
      <p:sp>
        <p:nvSpPr>
          <p:cNvPr id="2" name="Shape 0"/>
          <p:cNvSpPr/>
          <p:nvPr/>
        </p:nvSpPr>
        <p:spPr>
          <a:xfrm>
            <a:off x="822960" y="822960"/>
            <a:ext cx="146304" cy="146304"/>
          </a:xfrm>
          <a:prstGeom prst="ellipse">
            <a:avLst/>
          </a:prstGeom>
          <a:solidFill>
            <a:srgbClr val="EF4444"/>
          </a:solidFill>
          <a:ln/>
        </p:spPr>
      </p:sp>
      <p:sp>
        <p:nvSpPr>
          <p:cNvPr id="3" name="Shape 1"/>
          <p:cNvSpPr/>
          <p:nvPr/>
        </p:nvSpPr>
        <p:spPr>
          <a:xfrm>
            <a:off x="1097280" y="822960"/>
            <a:ext cx="146304" cy="146304"/>
          </a:xfrm>
          <a:prstGeom prst="ellipse">
            <a:avLst/>
          </a:prstGeom>
          <a:solidFill>
            <a:srgbClr val="F59E0B"/>
          </a:solidFill>
          <a:ln/>
        </p:spPr>
      </p:sp>
      <p:sp>
        <p:nvSpPr>
          <p:cNvPr id="4" name="Shape 2"/>
          <p:cNvSpPr/>
          <p:nvPr/>
        </p:nvSpPr>
        <p:spPr>
          <a:xfrm>
            <a:off x="1371600" y="822960"/>
            <a:ext cx="146304" cy="146304"/>
          </a:xfrm>
          <a:prstGeom prst="ellipse">
            <a:avLst/>
          </a:prstGeom>
          <a:solidFill>
            <a:srgbClr val="22C55E"/>
          </a:solidFill>
          <a:ln/>
        </p:spPr>
      </p:sp>
      <p:sp>
        <p:nvSpPr>
          <p:cNvPr id="5" name="Text 3"/>
          <p:cNvSpPr/>
          <p:nvPr/>
        </p:nvSpPr>
        <p:spPr>
          <a:xfrm>
            <a:off x="822960" y="2148840"/>
            <a:ext cx="7315200" cy="548640"/>
          </a:xfrm>
          <a:prstGeom prst="rect">
            <a:avLst/>
          </a:prstGeom>
          <a:noFill/>
          <a:ln/>
        </p:spPr>
        <p:txBody>
          <a:bodyPr wrap="square" rtlCol="0" anchor="ctr"/>
          <a:lstStyle/>
          <a:p>
            <a:pPr indent="0" marL="0">
              <a:buNone/>
            </a:pPr>
            <a:r>
              <a:rPr lang="en-US" sz="1600" b="1" spc="400" kern="0" dirty="0">
                <a:solidFill>
                  <a:srgbClr val="22C55E"/>
                </a:solidFill>
                <a:latin typeface="Calibri" pitchFamily="34" charset="0"/>
                <a:ea typeface="Calibri" pitchFamily="34" charset="-122"/>
                <a:cs typeface="Calibri" pitchFamily="34" charset="-120"/>
              </a:rPr>
              <a:t>DAY 11</a:t>
            </a:r>
            <a:endParaRPr lang="en-US" sz="1600" dirty="0"/>
          </a:p>
        </p:txBody>
      </p:sp>
      <p:sp>
        <p:nvSpPr>
          <p:cNvPr id="6" name="Text 4"/>
          <p:cNvSpPr/>
          <p:nvPr/>
        </p:nvSpPr>
        <p:spPr>
          <a:xfrm>
            <a:off x="822960" y="2606040"/>
            <a:ext cx="10241280" cy="1828800"/>
          </a:xfrm>
          <a:prstGeom prst="rect">
            <a:avLst/>
          </a:prstGeom>
          <a:noFill/>
          <a:ln/>
        </p:spPr>
        <p:txBody>
          <a:bodyPr wrap="square"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Linux Installation, Virtual Machines</a:t>
            </a:r>
            <a:endParaRPr lang="en-US" sz="4000" dirty="0"/>
          </a:p>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&amp; Linux File System</a:t>
            </a:r>
            <a:endParaRPr lang="en-US" sz="4000" dirty="0"/>
          </a:p>
        </p:txBody>
      </p:sp>
      <p:sp>
        <p:nvSpPr>
          <p:cNvPr id="7" name="Text 5"/>
          <p:cNvSpPr/>
          <p:nvPr/>
        </p:nvSpPr>
        <p:spPr>
          <a:xfrm>
            <a:off x="822960" y="4343400"/>
            <a:ext cx="9601200" cy="457200"/>
          </a:xfrm>
          <a:prstGeom prst="rect">
            <a:avLst/>
          </a:prstGeom>
          <a:noFill/>
          <a:ln/>
        </p:spPr>
        <p:txBody>
          <a:bodyPr wrap="square" rtlCol="0" anchor="ctr"/>
          <a:lstStyle/>
          <a:p>
            <a:pPr indent="0" marL="0">
              <a:buNone/>
            </a:pPr>
            <a:r>
              <a:rPr lang="en-US" sz="1500" i="1" dirty="0">
                <a:solidFill>
                  <a:srgbClr val="B7C9BE"/>
                </a:solidFill>
                <a:latin typeface="Calibri" pitchFamily="34" charset="0"/>
                <a:ea typeface="Calibri" pitchFamily="34" charset="-122"/>
                <a:cs typeface="Calibri" pitchFamily="34" charset="-120"/>
              </a:rPr>
              <a:t>GitHub-ready notes for SOC Analyst interview &amp; certification preparation</a:t>
            </a:r>
            <a:endParaRPr lang="en-US" sz="1500" dirty="0"/>
          </a:p>
        </p:txBody>
      </p:sp>
      <p:sp>
        <p:nvSpPr>
          <p:cNvPr id="8" name="Shape 6"/>
          <p:cNvSpPr/>
          <p:nvPr/>
        </p:nvSpPr>
        <p:spPr>
          <a:xfrm>
            <a:off x="822960" y="4937760"/>
            <a:ext cx="2926080" cy="0"/>
          </a:xfrm>
          <a:prstGeom prst="line">
            <a:avLst/>
          </a:prstGeom>
          <a:noFill/>
          <a:ln w="25400">
            <a:solidFill>
              <a:srgbClr val="22C55E"/>
            </a:solidFill>
            <a:prstDash val="solid"/>
          </a:ln>
        </p:spPr>
      </p:sp>
      <p:sp>
        <p:nvSpPr>
          <p:cNvPr id="9" name="Text 7"/>
          <p:cNvSpPr/>
          <p:nvPr/>
        </p:nvSpPr>
        <p:spPr>
          <a:xfrm>
            <a:off x="822960" y="5989320"/>
            <a:ext cx="5486400" cy="365760"/>
          </a:xfrm>
          <a:prstGeom prst="rect">
            <a:avLst/>
          </a:prstGeom>
          <a:noFill/>
          <a:ln/>
        </p:spPr>
        <p:txBody>
          <a:bodyPr wrap="square" rtlCol="0" anchor="ctr"/>
          <a:lstStyle/>
          <a:p>
            <a:pPr indent="0" marL="0">
              <a:buNone/>
            </a:pPr>
            <a:r>
              <a:rPr lang="en-US" sz="1300" dirty="0">
                <a:solidFill>
                  <a:srgbClr val="7FEBA6"/>
                </a:solidFill>
                <a:latin typeface="Courier New" pitchFamily="34" charset="0"/>
                <a:ea typeface="Courier New" pitchFamily="34" charset="-122"/>
                <a:cs typeface="Courier New" pitchFamily="34" charset="-120"/>
              </a:rPr>
              <a:t>root@day11:~$ _</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What is Linux?</a:t>
            </a:r>
            <a:endParaRPr lang="en-US" sz="3000" dirty="0"/>
          </a:p>
        </p:txBody>
      </p:sp>
      <p:sp>
        <p:nvSpPr>
          <p:cNvPr id="3" name="Text 1"/>
          <p:cNvSpPr/>
          <p:nvPr/>
        </p:nvSpPr>
        <p:spPr>
          <a:xfrm>
            <a:off x="457200" y="1417320"/>
            <a:ext cx="11274552" cy="914400"/>
          </a:xfrm>
          <a:prstGeom prst="rect">
            <a:avLst/>
          </a:prstGeom>
          <a:noFill/>
          <a:ln/>
        </p:spPr>
        <p:txBody>
          <a:bodyPr wrap="square" rtlCol="0" anchor="ctr"/>
          <a:lstStyle/>
          <a:p>
            <a:pPr indent="0" marL="0">
              <a:lnSpc>
                <a:spcPct val="125000"/>
              </a:lnSpc>
              <a:buNone/>
            </a:pPr>
            <a:r>
              <a:rPr lang="en-US" sz="1450" dirty="0">
                <a:solidFill>
                  <a:srgbClr val="16241C"/>
                </a:solidFill>
                <a:latin typeface="Calibri" pitchFamily="34" charset="0"/>
                <a:ea typeface="Calibri" pitchFamily="34" charset="-122"/>
                <a:cs typeface="Calibri" pitchFamily="34" charset="-120"/>
              </a:rPr>
              <a:t>Linux is a free and open-source operating system based on the Linux kernel. It is known for its security, stability, speed, and flexibility. It is widely used in servers, cloud computing, cybersecurity, embedded systems, and supercomputers.</a:t>
            </a:r>
            <a:endParaRPr lang="en-US" sz="1450" dirty="0"/>
          </a:p>
        </p:txBody>
      </p:sp>
      <p:sp>
        <p:nvSpPr>
          <p:cNvPr id="4" name="Shape 2"/>
          <p:cNvSpPr/>
          <p:nvPr/>
        </p:nvSpPr>
        <p:spPr>
          <a:xfrm>
            <a:off x="457200" y="2606040"/>
            <a:ext cx="2487168" cy="1051560"/>
          </a:xfrm>
          <a:prstGeom prst="roundRect">
            <a:avLst>
              <a:gd name="adj" fmla="val 6957"/>
            </a:avLst>
          </a:prstGeom>
          <a:solidFill>
            <a:srgbClr val="F1F5F2"/>
          </a:solidFill>
          <a:ln/>
        </p:spPr>
      </p:sp>
      <p:sp>
        <p:nvSpPr>
          <p:cNvPr id="5" name="Shape 3"/>
          <p:cNvSpPr/>
          <p:nvPr/>
        </p:nvSpPr>
        <p:spPr>
          <a:xfrm>
            <a:off x="621792" y="2770632"/>
            <a:ext cx="310896" cy="310896"/>
          </a:xfrm>
          <a:prstGeom prst="ellipse">
            <a:avLst/>
          </a:prstGeom>
          <a:solidFill>
            <a:srgbClr val="22C55E"/>
          </a:solidFill>
          <a:ln/>
        </p:spPr>
      </p:sp>
      <p:sp>
        <p:nvSpPr>
          <p:cNvPr id="6" name="Text 4"/>
          <p:cNvSpPr/>
          <p:nvPr/>
        </p:nvSpPr>
        <p:spPr>
          <a:xfrm>
            <a:off x="621792" y="27706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594360" y="3172968"/>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Open Source</a:t>
            </a:r>
            <a:endParaRPr lang="en-US" sz="1350" dirty="0"/>
          </a:p>
        </p:txBody>
      </p:sp>
      <p:sp>
        <p:nvSpPr>
          <p:cNvPr id="8" name="Shape 6"/>
          <p:cNvSpPr/>
          <p:nvPr/>
        </p:nvSpPr>
        <p:spPr>
          <a:xfrm>
            <a:off x="3108960" y="2606040"/>
            <a:ext cx="2487168" cy="1051560"/>
          </a:xfrm>
          <a:prstGeom prst="roundRect">
            <a:avLst>
              <a:gd name="adj" fmla="val 6957"/>
            </a:avLst>
          </a:prstGeom>
          <a:solidFill>
            <a:srgbClr val="F1F5F2"/>
          </a:solidFill>
          <a:ln/>
        </p:spPr>
      </p:sp>
      <p:sp>
        <p:nvSpPr>
          <p:cNvPr id="9" name="Shape 7"/>
          <p:cNvSpPr/>
          <p:nvPr/>
        </p:nvSpPr>
        <p:spPr>
          <a:xfrm>
            <a:off x="3273552" y="2770632"/>
            <a:ext cx="310896" cy="310896"/>
          </a:xfrm>
          <a:prstGeom prst="ellipse">
            <a:avLst/>
          </a:prstGeom>
          <a:solidFill>
            <a:srgbClr val="22C55E"/>
          </a:solidFill>
          <a:ln/>
        </p:spPr>
      </p:sp>
      <p:sp>
        <p:nvSpPr>
          <p:cNvPr id="10" name="Text 8"/>
          <p:cNvSpPr/>
          <p:nvPr/>
        </p:nvSpPr>
        <p:spPr>
          <a:xfrm>
            <a:off x="3273552" y="27706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3246120" y="3172968"/>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Free to use</a:t>
            </a:r>
            <a:endParaRPr lang="en-US" sz="1350" dirty="0"/>
          </a:p>
        </p:txBody>
      </p:sp>
      <p:sp>
        <p:nvSpPr>
          <p:cNvPr id="12" name="Shape 10"/>
          <p:cNvSpPr/>
          <p:nvPr/>
        </p:nvSpPr>
        <p:spPr>
          <a:xfrm>
            <a:off x="5760720" y="2606040"/>
            <a:ext cx="2487168" cy="1051560"/>
          </a:xfrm>
          <a:prstGeom prst="roundRect">
            <a:avLst>
              <a:gd name="adj" fmla="val 6957"/>
            </a:avLst>
          </a:prstGeom>
          <a:solidFill>
            <a:srgbClr val="F1F5F2"/>
          </a:solidFill>
          <a:ln/>
        </p:spPr>
      </p:sp>
      <p:sp>
        <p:nvSpPr>
          <p:cNvPr id="13" name="Shape 11"/>
          <p:cNvSpPr/>
          <p:nvPr/>
        </p:nvSpPr>
        <p:spPr>
          <a:xfrm>
            <a:off x="5925312" y="2770632"/>
            <a:ext cx="310896" cy="310896"/>
          </a:xfrm>
          <a:prstGeom prst="ellipse">
            <a:avLst/>
          </a:prstGeom>
          <a:solidFill>
            <a:srgbClr val="22C55E"/>
          </a:solidFill>
          <a:ln/>
        </p:spPr>
      </p:sp>
      <p:sp>
        <p:nvSpPr>
          <p:cNvPr id="14" name="Text 12"/>
          <p:cNvSpPr/>
          <p:nvPr/>
        </p:nvSpPr>
        <p:spPr>
          <a:xfrm>
            <a:off x="5925312" y="27706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5897880" y="3172968"/>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Multi-user</a:t>
            </a:r>
            <a:endParaRPr lang="en-US" sz="1350" dirty="0"/>
          </a:p>
        </p:txBody>
      </p:sp>
      <p:sp>
        <p:nvSpPr>
          <p:cNvPr id="16" name="Shape 14"/>
          <p:cNvSpPr/>
          <p:nvPr/>
        </p:nvSpPr>
        <p:spPr>
          <a:xfrm>
            <a:off x="8412480" y="2606040"/>
            <a:ext cx="2487168" cy="1051560"/>
          </a:xfrm>
          <a:prstGeom prst="roundRect">
            <a:avLst>
              <a:gd name="adj" fmla="val 6957"/>
            </a:avLst>
          </a:prstGeom>
          <a:solidFill>
            <a:srgbClr val="F1F5F2"/>
          </a:solidFill>
          <a:ln/>
        </p:spPr>
      </p:sp>
      <p:sp>
        <p:nvSpPr>
          <p:cNvPr id="17" name="Shape 15"/>
          <p:cNvSpPr/>
          <p:nvPr/>
        </p:nvSpPr>
        <p:spPr>
          <a:xfrm>
            <a:off x="8577072" y="2770632"/>
            <a:ext cx="310896" cy="310896"/>
          </a:xfrm>
          <a:prstGeom prst="ellipse">
            <a:avLst/>
          </a:prstGeom>
          <a:solidFill>
            <a:srgbClr val="22C55E"/>
          </a:solidFill>
          <a:ln/>
        </p:spPr>
      </p:sp>
      <p:sp>
        <p:nvSpPr>
          <p:cNvPr id="18" name="Text 16"/>
          <p:cNvSpPr/>
          <p:nvPr/>
        </p:nvSpPr>
        <p:spPr>
          <a:xfrm>
            <a:off x="8577072" y="27706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8549640" y="3172968"/>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Multitasking</a:t>
            </a:r>
            <a:endParaRPr lang="en-US" sz="1350" dirty="0"/>
          </a:p>
        </p:txBody>
      </p:sp>
      <p:sp>
        <p:nvSpPr>
          <p:cNvPr id="20" name="Shape 18"/>
          <p:cNvSpPr/>
          <p:nvPr/>
        </p:nvSpPr>
        <p:spPr>
          <a:xfrm>
            <a:off x="457200" y="3858768"/>
            <a:ext cx="2487168" cy="1051560"/>
          </a:xfrm>
          <a:prstGeom prst="roundRect">
            <a:avLst>
              <a:gd name="adj" fmla="val 6957"/>
            </a:avLst>
          </a:prstGeom>
          <a:solidFill>
            <a:srgbClr val="F1F5F2"/>
          </a:solidFill>
          <a:ln/>
        </p:spPr>
      </p:sp>
      <p:sp>
        <p:nvSpPr>
          <p:cNvPr id="21" name="Shape 19"/>
          <p:cNvSpPr/>
          <p:nvPr/>
        </p:nvSpPr>
        <p:spPr>
          <a:xfrm>
            <a:off x="621792" y="4023360"/>
            <a:ext cx="310896" cy="310896"/>
          </a:xfrm>
          <a:prstGeom prst="ellipse">
            <a:avLst/>
          </a:prstGeom>
          <a:solidFill>
            <a:srgbClr val="22C55E"/>
          </a:solidFill>
          <a:ln/>
        </p:spPr>
      </p:sp>
      <p:sp>
        <p:nvSpPr>
          <p:cNvPr id="22" name="Text 20"/>
          <p:cNvSpPr/>
          <p:nvPr/>
        </p:nvSpPr>
        <p:spPr>
          <a:xfrm>
            <a:off x="621792" y="402336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594360" y="4425696"/>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Secure</a:t>
            </a:r>
            <a:endParaRPr lang="en-US" sz="1350" dirty="0"/>
          </a:p>
        </p:txBody>
      </p:sp>
      <p:sp>
        <p:nvSpPr>
          <p:cNvPr id="24" name="Shape 22"/>
          <p:cNvSpPr/>
          <p:nvPr/>
        </p:nvSpPr>
        <p:spPr>
          <a:xfrm>
            <a:off x="3108960" y="3858768"/>
            <a:ext cx="2487168" cy="1051560"/>
          </a:xfrm>
          <a:prstGeom prst="roundRect">
            <a:avLst>
              <a:gd name="adj" fmla="val 6957"/>
            </a:avLst>
          </a:prstGeom>
          <a:solidFill>
            <a:srgbClr val="F1F5F2"/>
          </a:solidFill>
          <a:ln/>
        </p:spPr>
      </p:sp>
      <p:sp>
        <p:nvSpPr>
          <p:cNvPr id="25" name="Shape 23"/>
          <p:cNvSpPr/>
          <p:nvPr/>
        </p:nvSpPr>
        <p:spPr>
          <a:xfrm>
            <a:off x="3273552" y="4023360"/>
            <a:ext cx="310896" cy="310896"/>
          </a:xfrm>
          <a:prstGeom prst="ellipse">
            <a:avLst/>
          </a:prstGeom>
          <a:solidFill>
            <a:srgbClr val="22C55E"/>
          </a:solidFill>
          <a:ln/>
        </p:spPr>
      </p:sp>
      <p:sp>
        <p:nvSpPr>
          <p:cNvPr id="26" name="Text 24"/>
          <p:cNvSpPr/>
          <p:nvPr/>
        </p:nvSpPr>
        <p:spPr>
          <a:xfrm>
            <a:off x="3273552" y="402336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3246120" y="4425696"/>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Stable</a:t>
            </a:r>
            <a:endParaRPr lang="en-US" sz="1350" dirty="0"/>
          </a:p>
        </p:txBody>
      </p:sp>
      <p:sp>
        <p:nvSpPr>
          <p:cNvPr id="28" name="Shape 26"/>
          <p:cNvSpPr/>
          <p:nvPr/>
        </p:nvSpPr>
        <p:spPr>
          <a:xfrm>
            <a:off x="5760720" y="3858768"/>
            <a:ext cx="2487168" cy="1051560"/>
          </a:xfrm>
          <a:prstGeom prst="roundRect">
            <a:avLst>
              <a:gd name="adj" fmla="val 6957"/>
            </a:avLst>
          </a:prstGeom>
          <a:solidFill>
            <a:srgbClr val="F1F5F2"/>
          </a:solidFill>
          <a:ln/>
        </p:spPr>
      </p:sp>
      <p:sp>
        <p:nvSpPr>
          <p:cNvPr id="29" name="Shape 27"/>
          <p:cNvSpPr/>
          <p:nvPr/>
        </p:nvSpPr>
        <p:spPr>
          <a:xfrm>
            <a:off x="5925312" y="4023360"/>
            <a:ext cx="310896" cy="310896"/>
          </a:xfrm>
          <a:prstGeom prst="ellipse">
            <a:avLst/>
          </a:prstGeom>
          <a:solidFill>
            <a:srgbClr val="22C55E"/>
          </a:solidFill>
          <a:ln/>
        </p:spPr>
      </p:sp>
      <p:sp>
        <p:nvSpPr>
          <p:cNvPr id="30" name="Text 28"/>
          <p:cNvSpPr/>
          <p:nvPr/>
        </p:nvSpPr>
        <p:spPr>
          <a:xfrm>
            <a:off x="5925312" y="402336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5897880" y="4425696"/>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Fast</a:t>
            </a:r>
            <a:endParaRPr lang="en-US" sz="1350" dirty="0"/>
          </a:p>
        </p:txBody>
      </p:sp>
      <p:sp>
        <p:nvSpPr>
          <p:cNvPr id="32" name="Shape 30"/>
          <p:cNvSpPr/>
          <p:nvPr/>
        </p:nvSpPr>
        <p:spPr>
          <a:xfrm>
            <a:off x="8412480" y="3858768"/>
            <a:ext cx="2487168" cy="1051560"/>
          </a:xfrm>
          <a:prstGeom prst="roundRect">
            <a:avLst>
              <a:gd name="adj" fmla="val 6957"/>
            </a:avLst>
          </a:prstGeom>
          <a:solidFill>
            <a:srgbClr val="F1F5F2"/>
          </a:solidFill>
          <a:ln/>
        </p:spPr>
      </p:sp>
      <p:sp>
        <p:nvSpPr>
          <p:cNvPr id="33" name="Shape 31"/>
          <p:cNvSpPr/>
          <p:nvPr/>
        </p:nvSpPr>
        <p:spPr>
          <a:xfrm>
            <a:off x="8577072" y="4023360"/>
            <a:ext cx="310896" cy="310896"/>
          </a:xfrm>
          <a:prstGeom prst="ellipse">
            <a:avLst/>
          </a:prstGeom>
          <a:solidFill>
            <a:srgbClr val="22C55E"/>
          </a:solidFill>
          <a:ln/>
        </p:spPr>
      </p:sp>
      <p:sp>
        <p:nvSpPr>
          <p:cNvPr id="34" name="Text 32"/>
          <p:cNvSpPr/>
          <p:nvPr/>
        </p:nvSpPr>
        <p:spPr>
          <a:xfrm>
            <a:off x="8577072" y="4023360"/>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5" name="Text 33"/>
          <p:cNvSpPr/>
          <p:nvPr/>
        </p:nvSpPr>
        <p:spPr>
          <a:xfrm>
            <a:off x="8549640" y="4425696"/>
            <a:ext cx="2212848" cy="411480"/>
          </a:xfrm>
          <a:prstGeom prst="rect">
            <a:avLst/>
          </a:prstGeom>
          <a:noFill/>
          <a:ln/>
        </p:spPr>
        <p:txBody>
          <a:bodyPr wrap="square" rtlCol="0" anchor="t"/>
          <a:lstStyle/>
          <a:p>
            <a:pPr indent="0" marL="0">
              <a:buNone/>
            </a:pPr>
            <a:r>
              <a:rPr lang="en-US" sz="1350" b="1" dirty="0">
                <a:solidFill>
                  <a:srgbClr val="16241C"/>
                </a:solidFill>
                <a:latin typeface="Calibri" pitchFamily="34" charset="0"/>
                <a:ea typeface="Calibri" pitchFamily="34" charset="-122"/>
                <a:cs typeface="Calibri" pitchFamily="34" charset="-120"/>
              </a:rPr>
              <a:t>Customizable</a:t>
            </a:r>
            <a:endParaRPr lang="en-US" sz="1350" dirty="0"/>
          </a:p>
        </p:txBody>
      </p:sp>
      <p:sp>
        <p:nvSpPr>
          <p:cNvPr id="36" name="Text 34"/>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37" name="Text 35"/>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Why Linux is Important in Cybersecurity</a:t>
            </a:r>
            <a:endParaRPr lang="en-US" sz="3000" dirty="0"/>
          </a:p>
        </p:txBody>
      </p:sp>
      <p:sp>
        <p:nvSpPr>
          <p:cNvPr id="3" name="Text 1"/>
          <p:cNvSpPr/>
          <p:nvPr/>
        </p:nvSpPr>
        <p:spPr>
          <a:xfrm>
            <a:off x="457200" y="1371600"/>
            <a:ext cx="11274552" cy="548640"/>
          </a:xfrm>
          <a:prstGeom prst="rect">
            <a:avLst/>
          </a:prstGeom>
          <a:noFill/>
          <a:ln/>
        </p:spPr>
        <p:txBody>
          <a:bodyPr wrap="square" rtlCol="0" anchor="ctr"/>
          <a:lstStyle/>
          <a:p>
            <a:pPr indent="0" marL="0">
              <a:buNone/>
            </a:pPr>
            <a:r>
              <a:rPr lang="en-US" sz="1450" i="1" dirty="0">
                <a:solidFill>
                  <a:srgbClr val="16241C"/>
                </a:solidFill>
                <a:latin typeface="Calibri" pitchFamily="34" charset="0"/>
                <a:ea typeface="Calibri" pitchFamily="34" charset="-122"/>
                <a:cs typeface="Calibri" pitchFamily="34" charset="-120"/>
              </a:rPr>
              <a:t>Linux is the most widely used operating system in cybersecurity because many security tools are built for Linux.</a:t>
            </a:r>
            <a:endParaRPr lang="en-US" sz="1450" dirty="0"/>
          </a:p>
        </p:txBody>
      </p:sp>
      <p:sp>
        <p:nvSpPr>
          <p:cNvPr id="4" name="Shape 2"/>
          <p:cNvSpPr/>
          <p:nvPr/>
        </p:nvSpPr>
        <p:spPr>
          <a:xfrm>
            <a:off x="457200" y="2148840"/>
            <a:ext cx="365760" cy="365760"/>
          </a:xfrm>
          <a:prstGeom prst="ellipse">
            <a:avLst/>
          </a:prstGeom>
          <a:solidFill>
            <a:srgbClr val="22C55E"/>
          </a:solidFill>
          <a:ln/>
        </p:spPr>
      </p:sp>
      <p:sp>
        <p:nvSpPr>
          <p:cNvPr id="5" name="Text 3"/>
          <p:cNvSpPr/>
          <p:nvPr/>
        </p:nvSpPr>
        <p:spPr>
          <a:xfrm>
            <a:off x="457200" y="214884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05840" y="2103120"/>
            <a:ext cx="10725912" cy="502920"/>
          </a:xfrm>
          <a:prstGeom prst="rect">
            <a:avLst/>
          </a:prstGeom>
          <a:noFill/>
          <a:ln/>
        </p:spPr>
        <p:txBody>
          <a:bodyPr wrap="square" rtlCol="0" anchor="ctr"/>
          <a:lstStyle/>
          <a:p>
            <a:pPr indent="0" marL="0">
              <a:buNone/>
            </a:pPr>
            <a:r>
              <a:rPr lang="en-US" sz="1500" dirty="0">
                <a:solidFill>
                  <a:srgbClr val="16241C"/>
                </a:solidFill>
                <a:latin typeface="Calibri" pitchFamily="34" charset="0"/>
                <a:ea typeface="Calibri" pitchFamily="34" charset="-122"/>
                <a:cs typeface="Calibri" pitchFamily="34" charset="-120"/>
              </a:rPr>
              <a:t>Most servers run Linux.</a:t>
            </a:r>
            <a:endParaRPr lang="en-US" sz="1500" dirty="0"/>
          </a:p>
        </p:txBody>
      </p:sp>
      <p:sp>
        <p:nvSpPr>
          <p:cNvPr id="7" name="Shape 5"/>
          <p:cNvSpPr/>
          <p:nvPr/>
        </p:nvSpPr>
        <p:spPr>
          <a:xfrm>
            <a:off x="457200" y="2926080"/>
            <a:ext cx="365760" cy="365760"/>
          </a:xfrm>
          <a:prstGeom prst="ellipse">
            <a:avLst/>
          </a:prstGeom>
          <a:solidFill>
            <a:srgbClr val="22C55E"/>
          </a:solidFill>
          <a:ln/>
        </p:spPr>
      </p:sp>
      <p:sp>
        <p:nvSpPr>
          <p:cNvPr id="8" name="Text 6"/>
          <p:cNvSpPr/>
          <p:nvPr/>
        </p:nvSpPr>
        <p:spPr>
          <a:xfrm>
            <a:off x="457200" y="292608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05840" y="2880360"/>
            <a:ext cx="10725912" cy="502920"/>
          </a:xfrm>
          <a:prstGeom prst="rect">
            <a:avLst/>
          </a:prstGeom>
          <a:noFill/>
          <a:ln/>
        </p:spPr>
        <p:txBody>
          <a:bodyPr wrap="square" rtlCol="0" anchor="ctr"/>
          <a:lstStyle/>
          <a:p>
            <a:pPr indent="0" marL="0">
              <a:buNone/>
            </a:pPr>
            <a:r>
              <a:rPr lang="en-US" sz="1500" dirty="0">
                <a:solidFill>
                  <a:srgbClr val="16241C"/>
                </a:solidFill>
                <a:latin typeface="Calibri" pitchFamily="34" charset="0"/>
                <a:ea typeface="Calibri" pitchFamily="34" charset="-122"/>
                <a:cs typeface="Calibri" pitchFamily="34" charset="-120"/>
              </a:rPr>
              <a:t>Powerful command-line interface.</a:t>
            </a:r>
            <a:endParaRPr lang="en-US" sz="1500" dirty="0"/>
          </a:p>
        </p:txBody>
      </p:sp>
      <p:sp>
        <p:nvSpPr>
          <p:cNvPr id="10" name="Shape 8"/>
          <p:cNvSpPr/>
          <p:nvPr/>
        </p:nvSpPr>
        <p:spPr>
          <a:xfrm>
            <a:off x="457200" y="3703320"/>
            <a:ext cx="365760" cy="365760"/>
          </a:xfrm>
          <a:prstGeom prst="ellipse">
            <a:avLst/>
          </a:prstGeom>
          <a:solidFill>
            <a:srgbClr val="22C55E"/>
          </a:solidFill>
          <a:ln/>
        </p:spPr>
      </p:sp>
      <p:sp>
        <p:nvSpPr>
          <p:cNvPr id="11" name="Text 9"/>
          <p:cNvSpPr/>
          <p:nvPr/>
        </p:nvSpPr>
        <p:spPr>
          <a:xfrm>
            <a:off x="457200" y="370332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05840" y="3657600"/>
            <a:ext cx="10725912" cy="502920"/>
          </a:xfrm>
          <a:prstGeom prst="rect">
            <a:avLst/>
          </a:prstGeom>
          <a:noFill/>
          <a:ln/>
        </p:spPr>
        <p:txBody>
          <a:bodyPr wrap="square" rtlCol="0" anchor="ctr"/>
          <a:lstStyle/>
          <a:p>
            <a:pPr indent="0" marL="0">
              <a:buNone/>
            </a:pPr>
            <a:r>
              <a:rPr lang="en-US" sz="1500" dirty="0">
                <a:solidFill>
                  <a:srgbClr val="16241C"/>
                </a:solidFill>
                <a:latin typeface="Calibri" pitchFamily="34" charset="0"/>
                <a:ea typeface="Calibri" pitchFamily="34" charset="-122"/>
                <a:cs typeface="Calibri" pitchFamily="34" charset="-120"/>
              </a:rPr>
              <a:t>Better security than many desktop operating systems.</a:t>
            </a:r>
            <a:endParaRPr lang="en-US" sz="1500" dirty="0"/>
          </a:p>
        </p:txBody>
      </p:sp>
      <p:sp>
        <p:nvSpPr>
          <p:cNvPr id="13" name="Shape 11"/>
          <p:cNvSpPr/>
          <p:nvPr/>
        </p:nvSpPr>
        <p:spPr>
          <a:xfrm>
            <a:off x="457200" y="4480560"/>
            <a:ext cx="365760" cy="365760"/>
          </a:xfrm>
          <a:prstGeom prst="ellipse">
            <a:avLst/>
          </a:prstGeom>
          <a:solidFill>
            <a:srgbClr val="22C55E"/>
          </a:solidFill>
          <a:ln/>
        </p:spPr>
      </p:sp>
      <p:sp>
        <p:nvSpPr>
          <p:cNvPr id="14" name="Text 12"/>
          <p:cNvSpPr/>
          <p:nvPr/>
        </p:nvSpPr>
        <p:spPr>
          <a:xfrm>
            <a:off x="457200" y="448056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005840" y="4434840"/>
            <a:ext cx="10725912" cy="502920"/>
          </a:xfrm>
          <a:prstGeom prst="rect">
            <a:avLst/>
          </a:prstGeom>
          <a:noFill/>
          <a:ln/>
        </p:spPr>
        <p:txBody>
          <a:bodyPr wrap="square" rtlCol="0" anchor="ctr"/>
          <a:lstStyle/>
          <a:p>
            <a:pPr indent="0" marL="0">
              <a:buNone/>
            </a:pPr>
            <a:r>
              <a:rPr lang="en-US" sz="1500" dirty="0">
                <a:solidFill>
                  <a:srgbClr val="16241C"/>
                </a:solidFill>
                <a:latin typeface="Calibri" pitchFamily="34" charset="0"/>
                <a:ea typeface="Calibri" pitchFamily="34" charset="-122"/>
                <a:cs typeface="Calibri" pitchFamily="34" charset="-120"/>
              </a:rPr>
              <a:t>Open-source, allowing security auditing.</a:t>
            </a:r>
            <a:endParaRPr lang="en-US" sz="1500" dirty="0"/>
          </a:p>
        </p:txBody>
      </p:sp>
      <p:sp>
        <p:nvSpPr>
          <p:cNvPr id="16" name="Shape 14"/>
          <p:cNvSpPr/>
          <p:nvPr/>
        </p:nvSpPr>
        <p:spPr>
          <a:xfrm>
            <a:off x="457200" y="5257800"/>
            <a:ext cx="365760" cy="365760"/>
          </a:xfrm>
          <a:prstGeom prst="ellipse">
            <a:avLst/>
          </a:prstGeom>
          <a:solidFill>
            <a:srgbClr val="22C55E"/>
          </a:solidFill>
          <a:ln/>
        </p:spPr>
      </p:sp>
      <p:sp>
        <p:nvSpPr>
          <p:cNvPr id="17" name="Text 15"/>
          <p:cNvSpPr/>
          <p:nvPr/>
        </p:nvSpPr>
        <p:spPr>
          <a:xfrm>
            <a:off x="457200" y="525780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005840" y="5212080"/>
            <a:ext cx="10725912" cy="502920"/>
          </a:xfrm>
          <a:prstGeom prst="rect">
            <a:avLst/>
          </a:prstGeom>
          <a:noFill/>
          <a:ln/>
        </p:spPr>
        <p:txBody>
          <a:bodyPr wrap="square" rtlCol="0" anchor="ctr"/>
          <a:lstStyle/>
          <a:p>
            <a:pPr indent="0" marL="0">
              <a:buNone/>
            </a:pPr>
            <a:r>
              <a:rPr lang="en-US" sz="1500" dirty="0">
                <a:solidFill>
                  <a:srgbClr val="16241C"/>
                </a:solidFill>
                <a:latin typeface="Calibri" pitchFamily="34" charset="0"/>
                <a:ea typeface="Calibri" pitchFamily="34" charset="-122"/>
                <a:cs typeface="Calibri" pitchFamily="34" charset="-120"/>
              </a:rPr>
              <a:t>Used by SOC Analysts, Ethical Hackers, Penetration Testers, and System Administrators.</a:t>
            </a:r>
            <a:endParaRPr lang="en-US" sz="1500" dirty="0"/>
          </a:p>
        </p:txBody>
      </p:sp>
      <p:sp>
        <p:nvSpPr>
          <p:cNvPr id="19" name="Text 17"/>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0" name="Text 18"/>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Linux Distributions (Distros)</a:t>
            </a:r>
            <a:endParaRPr lang="en-US" sz="3000" dirty="0"/>
          </a:p>
        </p:txBody>
      </p:sp>
      <p:sp>
        <p:nvSpPr>
          <p:cNvPr id="3" name="Text 1"/>
          <p:cNvSpPr/>
          <p:nvPr/>
        </p:nvSpPr>
        <p:spPr>
          <a:xfrm>
            <a:off x="457200" y="1371600"/>
            <a:ext cx="11274552" cy="548640"/>
          </a:xfrm>
          <a:prstGeom prst="rect">
            <a:avLst/>
          </a:prstGeom>
          <a:noFill/>
          <a:ln/>
        </p:spPr>
        <p:txBody>
          <a:bodyPr wrap="square" rtlCol="0" anchor="ctr"/>
          <a:lstStyle/>
          <a:p>
            <a:pPr indent="0" marL="0">
              <a:buNone/>
            </a:pPr>
            <a:r>
              <a:rPr lang="en-US" sz="1450" i="1" dirty="0">
                <a:solidFill>
                  <a:srgbClr val="16241C"/>
                </a:solidFill>
                <a:latin typeface="Calibri" pitchFamily="34" charset="0"/>
                <a:ea typeface="Calibri" pitchFamily="34" charset="-122"/>
                <a:cs typeface="Calibri" pitchFamily="34" charset="-120"/>
              </a:rPr>
              <a:t>A Linux distribution is a version of Linux that includes the Linux kernel and additional software.</a:t>
            </a:r>
            <a:endParaRPr lang="en-US" sz="1450" dirty="0"/>
          </a:p>
        </p:txBody>
      </p:sp>
      <p:sp>
        <p:nvSpPr>
          <p:cNvPr id="4" name="Shape 2"/>
          <p:cNvSpPr/>
          <p:nvPr/>
        </p:nvSpPr>
        <p:spPr>
          <a:xfrm>
            <a:off x="457200" y="2331720"/>
            <a:ext cx="2487168" cy="1280160"/>
          </a:xfrm>
          <a:prstGeom prst="roundRect">
            <a:avLst>
              <a:gd name="adj" fmla="val 5714"/>
            </a:avLst>
          </a:prstGeom>
          <a:solidFill>
            <a:srgbClr val="16241C"/>
          </a:solidFill>
          <a:ln/>
        </p:spPr>
      </p:sp>
      <p:sp>
        <p:nvSpPr>
          <p:cNvPr id="5" name="Shape 3"/>
          <p:cNvSpPr/>
          <p:nvPr/>
        </p:nvSpPr>
        <p:spPr>
          <a:xfrm>
            <a:off x="1545336" y="2532888"/>
            <a:ext cx="310896" cy="310896"/>
          </a:xfrm>
          <a:prstGeom prst="ellipse">
            <a:avLst/>
          </a:prstGeom>
          <a:solidFill>
            <a:srgbClr val="22C55E"/>
          </a:solidFill>
          <a:ln/>
        </p:spPr>
      </p:sp>
      <p:sp>
        <p:nvSpPr>
          <p:cNvPr id="6" name="Text 4"/>
          <p:cNvSpPr/>
          <p:nvPr/>
        </p:nvSpPr>
        <p:spPr>
          <a:xfrm>
            <a:off x="548640" y="301752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Ubuntu</a:t>
            </a:r>
            <a:endParaRPr lang="en-US" sz="1400" dirty="0"/>
          </a:p>
        </p:txBody>
      </p:sp>
      <p:sp>
        <p:nvSpPr>
          <p:cNvPr id="7" name="Shape 5"/>
          <p:cNvSpPr/>
          <p:nvPr/>
        </p:nvSpPr>
        <p:spPr>
          <a:xfrm>
            <a:off x="3108960" y="2331720"/>
            <a:ext cx="2487168" cy="1280160"/>
          </a:xfrm>
          <a:prstGeom prst="roundRect">
            <a:avLst>
              <a:gd name="adj" fmla="val 5714"/>
            </a:avLst>
          </a:prstGeom>
          <a:solidFill>
            <a:srgbClr val="16241C"/>
          </a:solidFill>
          <a:ln/>
        </p:spPr>
      </p:sp>
      <p:sp>
        <p:nvSpPr>
          <p:cNvPr id="8" name="Shape 6"/>
          <p:cNvSpPr/>
          <p:nvPr/>
        </p:nvSpPr>
        <p:spPr>
          <a:xfrm>
            <a:off x="4197096" y="2532888"/>
            <a:ext cx="310896" cy="310896"/>
          </a:xfrm>
          <a:prstGeom prst="ellipse">
            <a:avLst/>
          </a:prstGeom>
          <a:solidFill>
            <a:srgbClr val="22C55E"/>
          </a:solidFill>
          <a:ln/>
        </p:spPr>
      </p:sp>
      <p:sp>
        <p:nvSpPr>
          <p:cNvPr id="9" name="Text 7"/>
          <p:cNvSpPr/>
          <p:nvPr/>
        </p:nvSpPr>
        <p:spPr>
          <a:xfrm>
            <a:off x="3200400" y="301752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Kali Linux</a:t>
            </a:r>
            <a:endParaRPr lang="en-US" sz="1400" dirty="0"/>
          </a:p>
        </p:txBody>
      </p:sp>
      <p:sp>
        <p:nvSpPr>
          <p:cNvPr id="10" name="Shape 8"/>
          <p:cNvSpPr/>
          <p:nvPr/>
        </p:nvSpPr>
        <p:spPr>
          <a:xfrm>
            <a:off x="5760720" y="2331720"/>
            <a:ext cx="2487168" cy="1280160"/>
          </a:xfrm>
          <a:prstGeom prst="roundRect">
            <a:avLst>
              <a:gd name="adj" fmla="val 5714"/>
            </a:avLst>
          </a:prstGeom>
          <a:solidFill>
            <a:srgbClr val="16241C"/>
          </a:solidFill>
          <a:ln/>
        </p:spPr>
      </p:sp>
      <p:sp>
        <p:nvSpPr>
          <p:cNvPr id="11" name="Shape 9"/>
          <p:cNvSpPr/>
          <p:nvPr/>
        </p:nvSpPr>
        <p:spPr>
          <a:xfrm>
            <a:off x="6848856" y="2532888"/>
            <a:ext cx="310896" cy="310896"/>
          </a:xfrm>
          <a:prstGeom prst="ellipse">
            <a:avLst/>
          </a:prstGeom>
          <a:solidFill>
            <a:srgbClr val="22C55E"/>
          </a:solidFill>
          <a:ln/>
        </p:spPr>
      </p:sp>
      <p:sp>
        <p:nvSpPr>
          <p:cNvPr id="12" name="Text 10"/>
          <p:cNvSpPr/>
          <p:nvPr/>
        </p:nvSpPr>
        <p:spPr>
          <a:xfrm>
            <a:off x="5852160" y="301752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Debian</a:t>
            </a:r>
            <a:endParaRPr lang="en-US" sz="1400" dirty="0"/>
          </a:p>
        </p:txBody>
      </p:sp>
      <p:sp>
        <p:nvSpPr>
          <p:cNvPr id="13" name="Shape 11"/>
          <p:cNvSpPr/>
          <p:nvPr/>
        </p:nvSpPr>
        <p:spPr>
          <a:xfrm>
            <a:off x="8412480" y="2331720"/>
            <a:ext cx="2487168" cy="1280160"/>
          </a:xfrm>
          <a:prstGeom prst="roundRect">
            <a:avLst>
              <a:gd name="adj" fmla="val 5714"/>
            </a:avLst>
          </a:prstGeom>
          <a:solidFill>
            <a:srgbClr val="16241C"/>
          </a:solidFill>
          <a:ln/>
        </p:spPr>
      </p:sp>
      <p:sp>
        <p:nvSpPr>
          <p:cNvPr id="14" name="Shape 12"/>
          <p:cNvSpPr/>
          <p:nvPr/>
        </p:nvSpPr>
        <p:spPr>
          <a:xfrm>
            <a:off x="9500616" y="2532888"/>
            <a:ext cx="310896" cy="310896"/>
          </a:xfrm>
          <a:prstGeom prst="ellipse">
            <a:avLst/>
          </a:prstGeom>
          <a:solidFill>
            <a:srgbClr val="22C55E"/>
          </a:solidFill>
          <a:ln/>
        </p:spPr>
      </p:sp>
      <p:sp>
        <p:nvSpPr>
          <p:cNvPr id="15" name="Text 13"/>
          <p:cNvSpPr/>
          <p:nvPr/>
        </p:nvSpPr>
        <p:spPr>
          <a:xfrm>
            <a:off x="8503920" y="301752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Fedora</a:t>
            </a:r>
            <a:endParaRPr lang="en-US" sz="1400" dirty="0"/>
          </a:p>
        </p:txBody>
      </p:sp>
      <p:sp>
        <p:nvSpPr>
          <p:cNvPr id="16" name="Shape 14"/>
          <p:cNvSpPr/>
          <p:nvPr/>
        </p:nvSpPr>
        <p:spPr>
          <a:xfrm>
            <a:off x="457200" y="3840480"/>
            <a:ext cx="2487168" cy="1280160"/>
          </a:xfrm>
          <a:prstGeom prst="roundRect">
            <a:avLst>
              <a:gd name="adj" fmla="val 5714"/>
            </a:avLst>
          </a:prstGeom>
          <a:solidFill>
            <a:srgbClr val="16241C"/>
          </a:solidFill>
          <a:ln/>
        </p:spPr>
      </p:sp>
      <p:sp>
        <p:nvSpPr>
          <p:cNvPr id="17" name="Shape 15"/>
          <p:cNvSpPr/>
          <p:nvPr/>
        </p:nvSpPr>
        <p:spPr>
          <a:xfrm>
            <a:off x="1545336" y="4041648"/>
            <a:ext cx="310896" cy="310896"/>
          </a:xfrm>
          <a:prstGeom prst="ellipse">
            <a:avLst/>
          </a:prstGeom>
          <a:solidFill>
            <a:srgbClr val="22C55E"/>
          </a:solidFill>
          <a:ln/>
        </p:spPr>
      </p:sp>
      <p:sp>
        <p:nvSpPr>
          <p:cNvPr id="18" name="Text 16"/>
          <p:cNvSpPr/>
          <p:nvPr/>
        </p:nvSpPr>
        <p:spPr>
          <a:xfrm>
            <a:off x="548640" y="452628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CentOS</a:t>
            </a:r>
            <a:endParaRPr lang="en-US" sz="1400" dirty="0"/>
          </a:p>
        </p:txBody>
      </p:sp>
      <p:sp>
        <p:nvSpPr>
          <p:cNvPr id="19" name="Shape 17"/>
          <p:cNvSpPr/>
          <p:nvPr/>
        </p:nvSpPr>
        <p:spPr>
          <a:xfrm>
            <a:off x="3108960" y="3840480"/>
            <a:ext cx="2487168" cy="1280160"/>
          </a:xfrm>
          <a:prstGeom prst="roundRect">
            <a:avLst>
              <a:gd name="adj" fmla="val 5714"/>
            </a:avLst>
          </a:prstGeom>
          <a:solidFill>
            <a:srgbClr val="16241C"/>
          </a:solidFill>
          <a:ln/>
        </p:spPr>
      </p:sp>
      <p:sp>
        <p:nvSpPr>
          <p:cNvPr id="20" name="Shape 18"/>
          <p:cNvSpPr/>
          <p:nvPr/>
        </p:nvSpPr>
        <p:spPr>
          <a:xfrm>
            <a:off x="4197096" y="4041648"/>
            <a:ext cx="310896" cy="310896"/>
          </a:xfrm>
          <a:prstGeom prst="ellipse">
            <a:avLst/>
          </a:prstGeom>
          <a:solidFill>
            <a:srgbClr val="22C55E"/>
          </a:solidFill>
          <a:ln/>
        </p:spPr>
      </p:sp>
      <p:sp>
        <p:nvSpPr>
          <p:cNvPr id="21" name="Text 19"/>
          <p:cNvSpPr/>
          <p:nvPr/>
        </p:nvSpPr>
        <p:spPr>
          <a:xfrm>
            <a:off x="3200400" y="452628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Rocky Linux</a:t>
            </a:r>
            <a:endParaRPr lang="en-US" sz="1400" dirty="0"/>
          </a:p>
        </p:txBody>
      </p:sp>
      <p:sp>
        <p:nvSpPr>
          <p:cNvPr id="22" name="Shape 20"/>
          <p:cNvSpPr/>
          <p:nvPr/>
        </p:nvSpPr>
        <p:spPr>
          <a:xfrm>
            <a:off x="5760720" y="3840480"/>
            <a:ext cx="2487168" cy="1280160"/>
          </a:xfrm>
          <a:prstGeom prst="roundRect">
            <a:avLst>
              <a:gd name="adj" fmla="val 5714"/>
            </a:avLst>
          </a:prstGeom>
          <a:solidFill>
            <a:srgbClr val="16241C"/>
          </a:solidFill>
          <a:ln/>
        </p:spPr>
      </p:sp>
      <p:sp>
        <p:nvSpPr>
          <p:cNvPr id="23" name="Shape 21"/>
          <p:cNvSpPr/>
          <p:nvPr/>
        </p:nvSpPr>
        <p:spPr>
          <a:xfrm>
            <a:off x="6848856" y="4041648"/>
            <a:ext cx="310896" cy="310896"/>
          </a:xfrm>
          <a:prstGeom prst="ellipse">
            <a:avLst/>
          </a:prstGeom>
          <a:solidFill>
            <a:srgbClr val="22C55E"/>
          </a:solidFill>
          <a:ln/>
        </p:spPr>
      </p:sp>
      <p:sp>
        <p:nvSpPr>
          <p:cNvPr id="24" name="Text 22"/>
          <p:cNvSpPr/>
          <p:nvPr/>
        </p:nvSpPr>
        <p:spPr>
          <a:xfrm>
            <a:off x="5852160" y="452628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Arch Linux</a:t>
            </a:r>
            <a:endParaRPr lang="en-US" sz="1400" dirty="0"/>
          </a:p>
        </p:txBody>
      </p:sp>
      <p:sp>
        <p:nvSpPr>
          <p:cNvPr id="25" name="Shape 23"/>
          <p:cNvSpPr/>
          <p:nvPr/>
        </p:nvSpPr>
        <p:spPr>
          <a:xfrm>
            <a:off x="8412480" y="3840480"/>
            <a:ext cx="2487168" cy="1280160"/>
          </a:xfrm>
          <a:prstGeom prst="roundRect">
            <a:avLst>
              <a:gd name="adj" fmla="val 5714"/>
            </a:avLst>
          </a:prstGeom>
          <a:solidFill>
            <a:srgbClr val="16241C"/>
          </a:solidFill>
          <a:ln/>
        </p:spPr>
      </p:sp>
      <p:sp>
        <p:nvSpPr>
          <p:cNvPr id="26" name="Shape 24"/>
          <p:cNvSpPr/>
          <p:nvPr/>
        </p:nvSpPr>
        <p:spPr>
          <a:xfrm>
            <a:off x="9500616" y="4041648"/>
            <a:ext cx="310896" cy="310896"/>
          </a:xfrm>
          <a:prstGeom prst="ellipse">
            <a:avLst/>
          </a:prstGeom>
          <a:solidFill>
            <a:srgbClr val="22C55E"/>
          </a:solidFill>
          <a:ln/>
        </p:spPr>
      </p:sp>
      <p:sp>
        <p:nvSpPr>
          <p:cNvPr id="27" name="Text 25"/>
          <p:cNvSpPr/>
          <p:nvPr/>
        </p:nvSpPr>
        <p:spPr>
          <a:xfrm>
            <a:off x="8503920" y="4526280"/>
            <a:ext cx="2304288"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Linux Mint</a:t>
            </a:r>
            <a:endParaRPr lang="en-US" sz="1400" dirty="0"/>
          </a:p>
        </p:txBody>
      </p:sp>
      <p:sp>
        <p:nvSpPr>
          <p:cNvPr id="28" name="Text 26"/>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9" name="Text 27"/>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Ubuntu</a:t>
            </a:r>
            <a:endParaRPr lang="en-US" sz="3000" dirty="0"/>
          </a:p>
        </p:txBody>
      </p:sp>
      <p:sp>
        <p:nvSpPr>
          <p:cNvPr id="3" name="Text 1"/>
          <p:cNvSpPr/>
          <p:nvPr/>
        </p:nvSpPr>
        <p:spPr>
          <a:xfrm>
            <a:off x="457200" y="1371600"/>
            <a:ext cx="11274552" cy="457200"/>
          </a:xfrm>
          <a:prstGeom prst="rect">
            <a:avLst/>
          </a:prstGeom>
          <a:noFill/>
          <a:ln/>
        </p:spPr>
        <p:txBody>
          <a:bodyPr wrap="square" rtlCol="0" anchor="ctr"/>
          <a:lstStyle/>
          <a:p>
            <a:pPr indent="0" marL="0">
              <a:buNone/>
            </a:pPr>
            <a:r>
              <a:rPr lang="en-US" sz="1450" i="1" dirty="0">
                <a:solidFill>
                  <a:srgbClr val="16241C"/>
                </a:solidFill>
                <a:latin typeface="Calibri" pitchFamily="34" charset="0"/>
                <a:ea typeface="Calibri" pitchFamily="34" charset="-122"/>
                <a:cs typeface="Calibri" pitchFamily="34" charset="-120"/>
              </a:rPr>
              <a:t>Ubuntu is one of the most popular Linux distributions developed by Canonical.</a:t>
            </a:r>
            <a:endParaRPr lang="en-US" sz="1450" dirty="0"/>
          </a:p>
        </p:txBody>
      </p:sp>
      <p:sp>
        <p:nvSpPr>
          <p:cNvPr id="4" name="Text 2"/>
          <p:cNvSpPr/>
          <p:nvPr/>
        </p:nvSpPr>
        <p:spPr>
          <a:xfrm>
            <a:off x="457200" y="2011680"/>
            <a:ext cx="5486400" cy="365760"/>
          </a:xfrm>
          <a:prstGeom prst="rect">
            <a:avLst/>
          </a:prstGeom>
          <a:noFill/>
          <a:ln/>
        </p:spPr>
        <p:txBody>
          <a:bodyPr wrap="square" rtlCol="0" anchor="ctr"/>
          <a:lstStyle/>
          <a:p>
            <a:pPr indent="0" marL="0">
              <a:buNone/>
            </a:pPr>
            <a:r>
              <a:rPr lang="en-US" sz="1800" b="1" dirty="0">
                <a:solidFill>
                  <a:srgbClr val="16A34A"/>
                </a:solidFill>
                <a:latin typeface="Cambria" pitchFamily="34" charset="0"/>
                <a:ea typeface="Cambria" pitchFamily="34" charset="-122"/>
                <a:cs typeface="Cambria" pitchFamily="34" charset="-120"/>
              </a:rPr>
              <a:t>Advantages</a:t>
            </a:r>
            <a:endParaRPr lang="en-US" sz="1800" dirty="0"/>
          </a:p>
        </p:txBody>
      </p:sp>
      <p:sp>
        <p:nvSpPr>
          <p:cNvPr id="5" name="Shape 3"/>
          <p:cNvSpPr/>
          <p:nvPr/>
        </p:nvSpPr>
        <p:spPr>
          <a:xfrm>
            <a:off x="457200" y="2606040"/>
            <a:ext cx="5212080" cy="502920"/>
          </a:xfrm>
          <a:prstGeom prst="roundRect">
            <a:avLst>
              <a:gd name="adj" fmla="val 10909"/>
            </a:avLst>
          </a:prstGeom>
          <a:solidFill>
            <a:srgbClr val="F1F5F2"/>
          </a:solidFill>
          <a:ln/>
        </p:spPr>
      </p:sp>
      <p:sp>
        <p:nvSpPr>
          <p:cNvPr id="6" name="Shape 4"/>
          <p:cNvSpPr/>
          <p:nvPr/>
        </p:nvSpPr>
        <p:spPr>
          <a:xfrm>
            <a:off x="594360" y="2724912"/>
            <a:ext cx="256032" cy="256032"/>
          </a:xfrm>
          <a:prstGeom prst="ellipse">
            <a:avLst/>
          </a:prstGeom>
          <a:solidFill>
            <a:srgbClr val="22C55E"/>
          </a:solidFill>
          <a:ln/>
        </p:spPr>
      </p:sp>
      <p:sp>
        <p:nvSpPr>
          <p:cNvPr id="7" name="Text 5"/>
          <p:cNvSpPr/>
          <p:nvPr/>
        </p:nvSpPr>
        <p:spPr>
          <a:xfrm>
            <a:off x="960120" y="2606040"/>
            <a:ext cx="4617720" cy="502920"/>
          </a:xfrm>
          <a:prstGeom prst="rect">
            <a:avLst/>
          </a:prstGeom>
          <a:noFill/>
          <a:ln/>
        </p:spPr>
        <p:txBody>
          <a:bodyPr wrap="square" rtlCol="0" anchor="ctr"/>
          <a:lstStyle/>
          <a:p>
            <a:pPr indent="0" marL="0">
              <a:buNone/>
            </a:pPr>
            <a:r>
              <a:rPr lang="en-US" sz="1350" dirty="0">
                <a:solidFill>
                  <a:srgbClr val="16241C"/>
                </a:solidFill>
                <a:latin typeface="Calibri" pitchFamily="34" charset="0"/>
                <a:ea typeface="Calibri" pitchFamily="34" charset="-122"/>
                <a:cs typeface="Calibri" pitchFamily="34" charset="-120"/>
              </a:rPr>
              <a:t>Beginner-friendly</a:t>
            </a:r>
            <a:endParaRPr lang="en-US" sz="1350" dirty="0"/>
          </a:p>
        </p:txBody>
      </p:sp>
      <p:sp>
        <p:nvSpPr>
          <p:cNvPr id="8" name="Shape 6"/>
          <p:cNvSpPr/>
          <p:nvPr/>
        </p:nvSpPr>
        <p:spPr>
          <a:xfrm>
            <a:off x="6035040" y="2606040"/>
            <a:ext cx="5212080" cy="502920"/>
          </a:xfrm>
          <a:prstGeom prst="roundRect">
            <a:avLst>
              <a:gd name="adj" fmla="val 10909"/>
            </a:avLst>
          </a:prstGeom>
          <a:solidFill>
            <a:srgbClr val="F1F5F2"/>
          </a:solidFill>
          <a:ln/>
        </p:spPr>
      </p:sp>
      <p:sp>
        <p:nvSpPr>
          <p:cNvPr id="9" name="Shape 7"/>
          <p:cNvSpPr/>
          <p:nvPr/>
        </p:nvSpPr>
        <p:spPr>
          <a:xfrm>
            <a:off x="6172200" y="2724912"/>
            <a:ext cx="256032" cy="256032"/>
          </a:xfrm>
          <a:prstGeom prst="ellipse">
            <a:avLst/>
          </a:prstGeom>
          <a:solidFill>
            <a:srgbClr val="22C55E"/>
          </a:solidFill>
          <a:ln/>
        </p:spPr>
      </p:sp>
      <p:sp>
        <p:nvSpPr>
          <p:cNvPr id="10" name="Text 8"/>
          <p:cNvSpPr/>
          <p:nvPr/>
        </p:nvSpPr>
        <p:spPr>
          <a:xfrm>
            <a:off x="6537960" y="2606040"/>
            <a:ext cx="4617720" cy="502920"/>
          </a:xfrm>
          <a:prstGeom prst="rect">
            <a:avLst/>
          </a:prstGeom>
          <a:noFill/>
          <a:ln/>
        </p:spPr>
        <p:txBody>
          <a:bodyPr wrap="square" rtlCol="0" anchor="ctr"/>
          <a:lstStyle/>
          <a:p>
            <a:pPr indent="0" marL="0">
              <a:buNone/>
            </a:pPr>
            <a:r>
              <a:rPr lang="en-US" sz="1350" dirty="0">
                <a:solidFill>
                  <a:srgbClr val="16241C"/>
                </a:solidFill>
                <a:latin typeface="Calibri" pitchFamily="34" charset="0"/>
                <a:ea typeface="Calibri" pitchFamily="34" charset="-122"/>
                <a:cs typeface="Calibri" pitchFamily="34" charset="-120"/>
              </a:rPr>
              <a:t>Free</a:t>
            </a:r>
            <a:endParaRPr lang="en-US" sz="1350" dirty="0"/>
          </a:p>
        </p:txBody>
      </p:sp>
      <p:sp>
        <p:nvSpPr>
          <p:cNvPr id="11" name="Shape 9"/>
          <p:cNvSpPr/>
          <p:nvPr/>
        </p:nvSpPr>
        <p:spPr>
          <a:xfrm>
            <a:off x="457200" y="3291840"/>
            <a:ext cx="5212080" cy="502920"/>
          </a:xfrm>
          <a:prstGeom prst="roundRect">
            <a:avLst>
              <a:gd name="adj" fmla="val 10909"/>
            </a:avLst>
          </a:prstGeom>
          <a:solidFill>
            <a:srgbClr val="F1F5F2"/>
          </a:solidFill>
          <a:ln/>
        </p:spPr>
      </p:sp>
      <p:sp>
        <p:nvSpPr>
          <p:cNvPr id="12" name="Shape 10"/>
          <p:cNvSpPr/>
          <p:nvPr/>
        </p:nvSpPr>
        <p:spPr>
          <a:xfrm>
            <a:off x="594360" y="3410712"/>
            <a:ext cx="256032" cy="256032"/>
          </a:xfrm>
          <a:prstGeom prst="ellipse">
            <a:avLst/>
          </a:prstGeom>
          <a:solidFill>
            <a:srgbClr val="22C55E"/>
          </a:solidFill>
          <a:ln/>
        </p:spPr>
      </p:sp>
      <p:sp>
        <p:nvSpPr>
          <p:cNvPr id="13" name="Text 11"/>
          <p:cNvSpPr/>
          <p:nvPr/>
        </p:nvSpPr>
        <p:spPr>
          <a:xfrm>
            <a:off x="960120" y="3291840"/>
            <a:ext cx="4617720" cy="502920"/>
          </a:xfrm>
          <a:prstGeom prst="rect">
            <a:avLst/>
          </a:prstGeom>
          <a:noFill/>
          <a:ln/>
        </p:spPr>
        <p:txBody>
          <a:bodyPr wrap="square" rtlCol="0" anchor="ctr"/>
          <a:lstStyle/>
          <a:p>
            <a:pPr indent="0" marL="0">
              <a:buNone/>
            </a:pPr>
            <a:r>
              <a:rPr lang="en-US" sz="1350" dirty="0">
                <a:solidFill>
                  <a:srgbClr val="16241C"/>
                </a:solidFill>
                <a:latin typeface="Calibri" pitchFamily="34" charset="0"/>
                <a:ea typeface="Calibri" pitchFamily="34" charset="-122"/>
                <a:cs typeface="Calibri" pitchFamily="34" charset="-120"/>
              </a:rPr>
              <a:t>Stable</a:t>
            </a:r>
            <a:endParaRPr lang="en-US" sz="1350" dirty="0"/>
          </a:p>
        </p:txBody>
      </p:sp>
      <p:sp>
        <p:nvSpPr>
          <p:cNvPr id="14" name="Shape 12"/>
          <p:cNvSpPr/>
          <p:nvPr/>
        </p:nvSpPr>
        <p:spPr>
          <a:xfrm>
            <a:off x="6035040" y="3291840"/>
            <a:ext cx="5212080" cy="502920"/>
          </a:xfrm>
          <a:prstGeom prst="roundRect">
            <a:avLst>
              <a:gd name="adj" fmla="val 10909"/>
            </a:avLst>
          </a:prstGeom>
          <a:solidFill>
            <a:srgbClr val="F1F5F2"/>
          </a:solidFill>
          <a:ln/>
        </p:spPr>
      </p:sp>
      <p:sp>
        <p:nvSpPr>
          <p:cNvPr id="15" name="Shape 13"/>
          <p:cNvSpPr/>
          <p:nvPr/>
        </p:nvSpPr>
        <p:spPr>
          <a:xfrm>
            <a:off x="6172200" y="3410712"/>
            <a:ext cx="256032" cy="256032"/>
          </a:xfrm>
          <a:prstGeom prst="ellipse">
            <a:avLst/>
          </a:prstGeom>
          <a:solidFill>
            <a:srgbClr val="22C55E"/>
          </a:solidFill>
          <a:ln/>
        </p:spPr>
      </p:sp>
      <p:sp>
        <p:nvSpPr>
          <p:cNvPr id="16" name="Text 14"/>
          <p:cNvSpPr/>
          <p:nvPr/>
        </p:nvSpPr>
        <p:spPr>
          <a:xfrm>
            <a:off x="6537960" y="3291840"/>
            <a:ext cx="4617720" cy="502920"/>
          </a:xfrm>
          <a:prstGeom prst="rect">
            <a:avLst/>
          </a:prstGeom>
          <a:noFill/>
          <a:ln/>
        </p:spPr>
        <p:txBody>
          <a:bodyPr wrap="square" rtlCol="0" anchor="ctr"/>
          <a:lstStyle/>
          <a:p>
            <a:pPr indent="0" marL="0">
              <a:buNone/>
            </a:pPr>
            <a:r>
              <a:rPr lang="en-US" sz="1350" dirty="0">
                <a:solidFill>
                  <a:srgbClr val="16241C"/>
                </a:solidFill>
                <a:latin typeface="Calibri" pitchFamily="34" charset="0"/>
                <a:ea typeface="Calibri" pitchFamily="34" charset="-122"/>
                <a:cs typeface="Calibri" pitchFamily="34" charset="-120"/>
              </a:rPr>
              <a:t>Large community support</a:t>
            </a:r>
            <a:endParaRPr lang="en-US" sz="1350" dirty="0"/>
          </a:p>
        </p:txBody>
      </p:sp>
      <p:sp>
        <p:nvSpPr>
          <p:cNvPr id="17" name="Shape 15"/>
          <p:cNvSpPr/>
          <p:nvPr/>
        </p:nvSpPr>
        <p:spPr>
          <a:xfrm>
            <a:off x="457200" y="3977640"/>
            <a:ext cx="5212080" cy="502920"/>
          </a:xfrm>
          <a:prstGeom prst="roundRect">
            <a:avLst>
              <a:gd name="adj" fmla="val 10909"/>
            </a:avLst>
          </a:prstGeom>
          <a:solidFill>
            <a:srgbClr val="F1F5F2"/>
          </a:solidFill>
          <a:ln/>
        </p:spPr>
      </p:sp>
      <p:sp>
        <p:nvSpPr>
          <p:cNvPr id="18" name="Shape 16"/>
          <p:cNvSpPr/>
          <p:nvPr/>
        </p:nvSpPr>
        <p:spPr>
          <a:xfrm>
            <a:off x="594360" y="4096512"/>
            <a:ext cx="256032" cy="256032"/>
          </a:xfrm>
          <a:prstGeom prst="ellipse">
            <a:avLst/>
          </a:prstGeom>
          <a:solidFill>
            <a:srgbClr val="22C55E"/>
          </a:solidFill>
          <a:ln/>
        </p:spPr>
      </p:sp>
      <p:sp>
        <p:nvSpPr>
          <p:cNvPr id="19" name="Text 17"/>
          <p:cNvSpPr/>
          <p:nvPr/>
        </p:nvSpPr>
        <p:spPr>
          <a:xfrm>
            <a:off x="960120" y="3977640"/>
            <a:ext cx="4617720" cy="502920"/>
          </a:xfrm>
          <a:prstGeom prst="rect">
            <a:avLst/>
          </a:prstGeom>
          <a:noFill/>
          <a:ln/>
        </p:spPr>
        <p:txBody>
          <a:bodyPr wrap="square" rtlCol="0" anchor="ctr"/>
          <a:lstStyle/>
          <a:p>
            <a:pPr indent="0" marL="0">
              <a:buNone/>
            </a:pPr>
            <a:r>
              <a:rPr lang="en-US" sz="1350" dirty="0">
                <a:solidFill>
                  <a:srgbClr val="16241C"/>
                </a:solidFill>
                <a:latin typeface="Calibri" pitchFamily="34" charset="0"/>
                <a:ea typeface="Calibri" pitchFamily="34" charset="-122"/>
                <a:cs typeface="Calibri" pitchFamily="34" charset="-120"/>
              </a:rPr>
              <a:t>Easy software installation</a:t>
            </a:r>
            <a:endParaRPr lang="en-US" sz="1350" dirty="0"/>
          </a:p>
        </p:txBody>
      </p:sp>
      <p:sp>
        <p:nvSpPr>
          <p:cNvPr id="20" name="Shape 18"/>
          <p:cNvSpPr/>
          <p:nvPr/>
        </p:nvSpPr>
        <p:spPr>
          <a:xfrm>
            <a:off x="6035040" y="3977640"/>
            <a:ext cx="5212080" cy="502920"/>
          </a:xfrm>
          <a:prstGeom prst="roundRect">
            <a:avLst>
              <a:gd name="adj" fmla="val 10909"/>
            </a:avLst>
          </a:prstGeom>
          <a:solidFill>
            <a:srgbClr val="F1F5F2"/>
          </a:solidFill>
          <a:ln/>
        </p:spPr>
      </p:sp>
      <p:sp>
        <p:nvSpPr>
          <p:cNvPr id="21" name="Shape 19"/>
          <p:cNvSpPr/>
          <p:nvPr/>
        </p:nvSpPr>
        <p:spPr>
          <a:xfrm>
            <a:off x="6172200" y="4096512"/>
            <a:ext cx="256032" cy="256032"/>
          </a:xfrm>
          <a:prstGeom prst="ellipse">
            <a:avLst/>
          </a:prstGeom>
          <a:solidFill>
            <a:srgbClr val="22C55E"/>
          </a:solidFill>
          <a:ln/>
        </p:spPr>
      </p:sp>
      <p:sp>
        <p:nvSpPr>
          <p:cNvPr id="22" name="Text 20"/>
          <p:cNvSpPr/>
          <p:nvPr/>
        </p:nvSpPr>
        <p:spPr>
          <a:xfrm>
            <a:off x="6537960" y="3977640"/>
            <a:ext cx="4617720" cy="502920"/>
          </a:xfrm>
          <a:prstGeom prst="rect">
            <a:avLst/>
          </a:prstGeom>
          <a:noFill/>
          <a:ln/>
        </p:spPr>
        <p:txBody>
          <a:bodyPr wrap="square" rtlCol="0" anchor="ctr"/>
          <a:lstStyle/>
          <a:p>
            <a:pPr indent="0" marL="0">
              <a:buNone/>
            </a:pPr>
            <a:r>
              <a:rPr lang="en-US" sz="1350" dirty="0">
                <a:solidFill>
                  <a:srgbClr val="16241C"/>
                </a:solidFill>
                <a:latin typeface="Calibri" pitchFamily="34" charset="0"/>
                <a:ea typeface="Calibri" pitchFamily="34" charset="-122"/>
                <a:cs typeface="Calibri" pitchFamily="34" charset="-120"/>
              </a:rPr>
              <a:t>Suitable for learning Linux and cybersecurity</a:t>
            </a:r>
            <a:endParaRPr lang="en-US" sz="1350" dirty="0"/>
          </a:p>
        </p:txBody>
      </p:sp>
      <p:sp>
        <p:nvSpPr>
          <p:cNvPr id="23" name="Text 2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4" name="Text 22"/>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Linux Installation</a:t>
            </a:r>
            <a:endParaRPr lang="en-US" sz="3000" dirty="0"/>
          </a:p>
        </p:txBody>
      </p:sp>
      <p:sp>
        <p:nvSpPr>
          <p:cNvPr id="3" name="Text 1"/>
          <p:cNvSpPr/>
          <p:nvPr/>
        </p:nvSpPr>
        <p:spPr>
          <a:xfrm>
            <a:off x="457200" y="960120"/>
            <a:ext cx="11274552" cy="365760"/>
          </a:xfrm>
          <a:prstGeom prst="rect">
            <a:avLst/>
          </a:prstGeom>
          <a:noFill/>
          <a:ln/>
        </p:spPr>
        <p:txBody>
          <a:bodyPr wrap="square" rtlCol="0" anchor="ctr"/>
          <a:lstStyle/>
          <a:p>
            <a:pPr indent="0" marL="0">
              <a:buNone/>
            </a:pPr>
            <a:r>
              <a:rPr lang="en-US" sz="1400" i="1" dirty="0">
                <a:solidFill>
                  <a:srgbClr val="5B6B63"/>
                </a:solidFill>
                <a:latin typeface="Calibri" pitchFamily="34" charset="0"/>
                <a:ea typeface="Calibri" pitchFamily="34" charset="-122"/>
                <a:cs typeface="Calibri" pitchFamily="34" charset="-120"/>
              </a:rPr>
              <a:t>Linux can be installed in different ways.</a:t>
            </a:r>
            <a:endParaRPr lang="en-US" sz="1400" dirty="0"/>
          </a:p>
        </p:txBody>
      </p:sp>
      <p:sp>
        <p:nvSpPr>
          <p:cNvPr id="4" name="Shape 2"/>
          <p:cNvSpPr/>
          <p:nvPr/>
        </p:nvSpPr>
        <p:spPr>
          <a:xfrm>
            <a:off x="457200" y="2103120"/>
            <a:ext cx="3520440" cy="3017520"/>
          </a:xfrm>
          <a:prstGeom prst="roundRect">
            <a:avLst>
              <a:gd name="adj" fmla="val 3030"/>
            </a:avLst>
          </a:prstGeom>
          <a:solidFill>
            <a:srgbClr val="F1F5F2"/>
          </a:solidFill>
          <a:ln/>
        </p:spPr>
      </p:sp>
      <p:sp>
        <p:nvSpPr>
          <p:cNvPr id="5" name="Shape 3"/>
          <p:cNvSpPr/>
          <p:nvPr/>
        </p:nvSpPr>
        <p:spPr>
          <a:xfrm>
            <a:off x="1943100" y="2468880"/>
            <a:ext cx="548640" cy="548640"/>
          </a:xfrm>
          <a:prstGeom prst="ellipse">
            <a:avLst/>
          </a:prstGeom>
          <a:solidFill>
            <a:srgbClr val="22C55E"/>
          </a:solidFill>
          <a:ln/>
        </p:spPr>
      </p:sp>
      <p:sp>
        <p:nvSpPr>
          <p:cNvPr id="6" name="Text 4"/>
          <p:cNvSpPr/>
          <p:nvPr/>
        </p:nvSpPr>
        <p:spPr>
          <a:xfrm>
            <a:off x="1943100" y="24688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640080" y="3246120"/>
            <a:ext cx="3154680" cy="365760"/>
          </a:xfrm>
          <a:prstGeom prst="rect">
            <a:avLst/>
          </a:prstGeom>
          <a:noFill/>
          <a:ln/>
        </p:spPr>
        <p:txBody>
          <a:bodyPr wrap="square" rtlCol="0" anchor="ctr"/>
          <a:lstStyle/>
          <a:p>
            <a:pPr algn="ctr" indent="0" marL="0">
              <a:buNone/>
            </a:pPr>
            <a:r>
              <a:rPr lang="en-US" sz="1700" b="1" dirty="0">
                <a:solidFill>
                  <a:srgbClr val="16241C"/>
                </a:solidFill>
                <a:latin typeface="Cambria" pitchFamily="34" charset="0"/>
                <a:ea typeface="Cambria" pitchFamily="34" charset="-122"/>
                <a:cs typeface="Cambria" pitchFamily="34" charset="-120"/>
              </a:rPr>
              <a:t>Method 1</a:t>
            </a:r>
            <a:endParaRPr lang="en-US" sz="1700" dirty="0"/>
          </a:p>
        </p:txBody>
      </p:sp>
      <p:sp>
        <p:nvSpPr>
          <p:cNvPr id="8" name="Text 6"/>
          <p:cNvSpPr/>
          <p:nvPr/>
        </p:nvSpPr>
        <p:spPr>
          <a:xfrm>
            <a:off x="731520" y="3703320"/>
            <a:ext cx="2971800" cy="1097280"/>
          </a:xfrm>
          <a:prstGeom prst="rect">
            <a:avLst/>
          </a:prstGeom>
          <a:noFill/>
          <a:ln/>
        </p:spPr>
        <p:txBody>
          <a:bodyPr wrap="square" rtlCol="0" anchor="ctr"/>
          <a:lstStyle/>
          <a:p>
            <a:pPr algn="ctr" indent="0" marL="0">
              <a:buNone/>
            </a:pPr>
            <a:r>
              <a:rPr lang="en-US" sz="1350" dirty="0">
                <a:solidFill>
                  <a:srgbClr val="5B6B63"/>
                </a:solidFill>
                <a:latin typeface="Calibri" pitchFamily="34" charset="0"/>
                <a:ea typeface="Calibri" pitchFamily="34" charset="-122"/>
                <a:cs typeface="Calibri" pitchFamily="34" charset="-120"/>
              </a:rPr>
              <a:t>Install directly on the computer.</a:t>
            </a:r>
            <a:endParaRPr lang="en-US" sz="1350" dirty="0"/>
          </a:p>
        </p:txBody>
      </p:sp>
      <p:sp>
        <p:nvSpPr>
          <p:cNvPr id="9" name="Shape 7"/>
          <p:cNvSpPr/>
          <p:nvPr/>
        </p:nvSpPr>
        <p:spPr>
          <a:xfrm>
            <a:off x="4251960" y="2103120"/>
            <a:ext cx="3520440" cy="3017520"/>
          </a:xfrm>
          <a:prstGeom prst="roundRect">
            <a:avLst>
              <a:gd name="adj" fmla="val 3030"/>
            </a:avLst>
          </a:prstGeom>
          <a:solidFill>
            <a:srgbClr val="F1F5F2"/>
          </a:solidFill>
          <a:ln/>
        </p:spPr>
      </p:sp>
      <p:sp>
        <p:nvSpPr>
          <p:cNvPr id="10" name="Shape 8"/>
          <p:cNvSpPr/>
          <p:nvPr/>
        </p:nvSpPr>
        <p:spPr>
          <a:xfrm>
            <a:off x="5737860" y="2468880"/>
            <a:ext cx="548640" cy="548640"/>
          </a:xfrm>
          <a:prstGeom prst="ellipse">
            <a:avLst/>
          </a:prstGeom>
          <a:solidFill>
            <a:srgbClr val="22C55E"/>
          </a:solidFill>
          <a:ln/>
        </p:spPr>
      </p:sp>
      <p:sp>
        <p:nvSpPr>
          <p:cNvPr id="11" name="Text 9"/>
          <p:cNvSpPr/>
          <p:nvPr/>
        </p:nvSpPr>
        <p:spPr>
          <a:xfrm>
            <a:off x="5737860" y="24688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4434840" y="3246120"/>
            <a:ext cx="3154680" cy="365760"/>
          </a:xfrm>
          <a:prstGeom prst="rect">
            <a:avLst/>
          </a:prstGeom>
          <a:noFill/>
          <a:ln/>
        </p:spPr>
        <p:txBody>
          <a:bodyPr wrap="square" rtlCol="0" anchor="ctr"/>
          <a:lstStyle/>
          <a:p>
            <a:pPr algn="ctr" indent="0" marL="0">
              <a:buNone/>
            </a:pPr>
            <a:r>
              <a:rPr lang="en-US" sz="1700" b="1" dirty="0">
                <a:solidFill>
                  <a:srgbClr val="16241C"/>
                </a:solidFill>
                <a:latin typeface="Cambria" pitchFamily="34" charset="0"/>
                <a:ea typeface="Cambria" pitchFamily="34" charset="-122"/>
                <a:cs typeface="Cambria" pitchFamily="34" charset="-120"/>
              </a:rPr>
              <a:t>Method 2</a:t>
            </a:r>
            <a:endParaRPr lang="en-US" sz="1700" dirty="0"/>
          </a:p>
        </p:txBody>
      </p:sp>
      <p:sp>
        <p:nvSpPr>
          <p:cNvPr id="13" name="Text 11"/>
          <p:cNvSpPr/>
          <p:nvPr/>
        </p:nvSpPr>
        <p:spPr>
          <a:xfrm>
            <a:off x="4526280" y="3703320"/>
            <a:ext cx="2971800" cy="1097280"/>
          </a:xfrm>
          <a:prstGeom prst="rect">
            <a:avLst/>
          </a:prstGeom>
          <a:noFill/>
          <a:ln/>
        </p:spPr>
        <p:txBody>
          <a:bodyPr wrap="square" rtlCol="0" anchor="ctr"/>
          <a:lstStyle/>
          <a:p>
            <a:pPr algn="ctr" indent="0" marL="0">
              <a:buNone/>
            </a:pPr>
            <a:r>
              <a:rPr lang="en-US" sz="1350" dirty="0">
                <a:solidFill>
                  <a:srgbClr val="5B6B63"/>
                </a:solidFill>
                <a:latin typeface="Calibri" pitchFamily="34" charset="0"/>
                <a:ea typeface="Calibri" pitchFamily="34" charset="-122"/>
                <a:cs typeface="Calibri" pitchFamily="34" charset="-120"/>
              </a:rPr>
              <a:t>Dual Boot with Windows.</a:t>
            </a:r>
            <a:endParaRPr lang="en-US" sz="1350" dirty="0"/>
          </a:p>
        </p:txBody>
      </p:sp>
      <p:sp>
        <p:nvSpPr>
          <p:cNvPr id="14" name="Shape 12"/>
          <p:cNvSpPr/>
          <p:nvPr/>
        </p:nvSpPr>
        <p:spPr>
          <a:xfrm>
            <a:off x="8046720" y="2103120"/>
            <a:ext cx="3520440" cy="3017520"/>
          </a:xfrm>
          <a:prstGeom prst="roundRect">
            <a:avLst>
              <a:gd name="adj" fmla="val 3030"/>
            </a:avLst>
          </a:prstGeom>
          <a:solidFill>
            <a:srgbClr val="16241C"/>
          </a:solidFill>
          <a:ln/>
        </p:spPr>
      </p:sp>
      <p:sp>
        <p:nvSpPr>
          <p:cNvPr id="15" name="Shape 13"/>
          <p:cNvSpPr/>
          <p:nvPr/>
        </p:nvSpPr>
        <p:spPr>
          <a:xfrm>
            <a:off x="9532620" y="2468880"/>
            <a:ext cx="548640" cy="548640"/>
          </a:xfrm>
          <a:prstGeom prst="ellipse">
            <a:avLst/>
          </a:prstGeom>
          <a:solidFill>
            <a:srgbClr val="22C55E"/>
          </a:solidFill>
          <a:ln/>
        </p:spPr>
      </p:sp>
      <p:sp>
        <p:nvSpPr>
          <p:cNvPr id="16" name="Text 14"/>
          <p:cNvSpPr/>
          <p:nvPr/>
        </p:nvSpPr>
        <p:spPr>
          <a:xfrm>
            <a:off x="9532620" y="2468880"/>
            <a:ext cx="548640" cy="5486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8229600" y="3246120"/>
            <a:ext cx="3154680" cy="3657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Method 3</a:t>
            </a:r>
            <a:endParaRPr lang="en-US" sz="1700" dirty="0"/>
          </a:p>
        </p:txBody>
      </p:sp>
      <p:sp>
        <p:nvSpPr>
          <p:cNvPr id="18" name="Text 16"/>
          <p:cNvSpPr/>
          <p:nvPr/>
        </p:nvSpPr>
        <p:spPr>
          <a:xfrm>
            <a:off x="8321040" y="3703320"/>
            <a:ext cx="2971800" cy="1097280"/>
          </a:xfrm>
          <a:prstGeom prst="rect">
            <a:avLst/>
          </a:prstGeom>
          <a:noFill/>
          <a:ln/>
        </p:spPr>
        <p:txBody>
          <a:bodyPr wrap="square" rtlCol="0" anchor="ctr"/>
          <a:lstStyle/>
          <a:p>
            <a:pPr algn="ctr" indent="0" marL="0">
              <a:buNone/>
            </a:pPr>
            <a:r>
              <a:rPr lang="en-US" sz="1350" dirty="0">
                <a:solidFill>
                  <a:srgbClr val="D5E8DC"/>
                </a:solidFill>
                <a:latin typeface="Calibri" pitchFamily="34" charset="0"/>
                <a:ea typeface="Calibri" pitchFamily="34" charset="-122"/>
                <a:cs typeface="Calibri" pitchFamily="34" charset="-120"/>
              </a:rPr>
              <a:t>Inside a Virtual Machine (Recommended for Beginners).</a:t>
            </a:r>
            <a:endParaRPr lang="en-US" sz="1350" dirty="0"/>
          </a:p>
        </p:txBody>
      </p:sp>
      <p:sp>
        <p:nvSpPr>
          <p:cNvPr id="19" name="Text 17"/>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0" name="Text 18"/>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Steps to Install Ubuntu in VirtualBox</a:t>
            </a:r>
            <a:endParaRPr lang="en-US" sz="3000" dirty="0"/>
          </a:p>
        </p:txBody>
      </p:sp>
      <p:sp>
        <p:nvSpPr>
          <p:cNvPr id="3" name="Shape 1"/>
          <p:cNvSpPr/>
          <p:nvPr/>
        </p:nvSpPr>
        <p:spPr>
          <a:xfrm>
            <a:off x="457200" y="1554480"/>
            <a:ext cx="365760" cy="365760"/>
          </a:xfrm>
          <a:prstGeom prst="ellipse">
            <a:avLst/>
          </a:prstGeom>
          <a:solidFill>
            <a:srgbClr val="22C55E"/>
          </a:solidFill>
          <a:ln/>
        </p:spPr>
      </p:sp>
      <p:sp>
        <p:nvSpPr>
          <p:cNvPr id="4" name="Text 2"/>
          <p:cNvSpPr/>
          <p:nvPr/>
        </p:nvSpPr>
        <p:spPr>
          <a:xfrm>
            <a:off x="457200" y="155448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960120" y="1517904"/>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Download Ubuntu ISO.</a:t>
            </a:r>
            <a:endParaRPr lang="en-US" sz="1400" dirty="0"/>
          </a:p>
        </p:txBody>
      </p:sp>
      <p:sp>
        <p:nvSpPr>
          <p:cNvPr id="6" name="Shape 4"/>
          <p:cNvSpPr/>
          <p:nvPr/>
        </p:nvSpPr>
        <p:spPr>
          <a:xfrm>
            <a:off x="457200" y="2121408"/>
            <a:ext cx="365760" cy="365760"/>
          </a:xfrm>
          <a:prstGeom prst="ellipse">
            <a:avLst/>
          </a:prstGeom>
          <a:solidFill>
            <a:srgbClr val="22C55E"/>
          </a:solidFill>
          <a:ln/>
        </p:spPr>
      </p:sp>
      <p:sp>
        <p:nvSpPr>
          <p:cNvPr id="7" name="Text 5"/>
          <p:cNvSpPr/>
          <p:nvPr/>
        </p:nvSpPr>
        <p:spPr>
          <a:xfrm>
            <a:off x="457200" y="2121408"/>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Text 6"/>
          <p:cNvSpPr/>
          <p:nvPr/>
        </p:nvSpPr>
        <p:spPr>
          <a:xfrm>
            <a:off x="960120" y="2084832"/>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Install VirtualBox.</a:t>
            </a:r>
            <a:endParaRPr lang="en-US" sz="1400" dirty="0"/>
          </a:p>
        </p:txBody>
      </p:sp>
      <p:sp>
        <p:nvSpPr>
          <p:cNvPr id="9" name="Shape 7"/>
          <p:cNvSpPr/>
          <p:nvPr/>
        </p:nvSpPr>
        <p:spPr>
          <a:xfrm>
            <a:off x="457200" y="2688336"/>
            <a:ext cx="365760" cy="365760"/>
          </a:xfrm>
          <a:prstGeom prst="ellipse">
            <a:avLst/>
          </a:prstGeom>
          <a:solidFill>
            <a:srgbClr val="22C55E"/>
          </a:solidFill>
          <a:ln/>
        </p:spPr>
      </p:sp>
      <p:sp>
        <p:nvSpPr>
          <p:cNvPr id="10" name="Text 8"/>
          <p:cNvSpPr/>
          <p:nvPr/>
        </p:nvSpPr>
        <p:spPr>
          <a:xfrm>
            <a:off x="457200" y="2688336"/>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1" name="Text 9"/>
          <p:cNvSpPr/>
          <p:nvPr/>
        </p:nvSpPr>
        <p:spPr>
          <a:xfrm>
            <a:off x="960120" y="2651760"/>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Create a new Virtual Machine.</a:t>
            </a:r>
            <a:endParaRPr lang="en-US" sz="1400" dirty="0"/>
          </a:p>
        </p:txBody>
      </p:sp>
      <p:sp>
        <p:nvSpPr>
          <p:cNvPr id="12" name="Shape 10"/>
          <p:cNvSpPr/>
          <p:nvPr/>
        </p:nvSpPr>
        <p:spPr>
          <a:xfrm>
            <a:off x="457200" y="3255264"/>
            <a:ext cx="365760" cy="365760"/>
          </a:xfrm>
          <a:prstGeom prst="ellipse">
            <a:avLst/>
          </a:prstGeom>
          <a:solidFill>
            <a:srgbClr val="22C55E"/>
          </a:solidFill>
          <a:ln/>
        </p:spPr>
      </p:sp>
      <p:sp>
        <p:nvSpPr>
          <p:cNvPr id="13" name="Text 11"/>
          <p:cNvSpPr/>
          <p:nvPr/>
        </p:nvSpPr>
        <p:spPr>
          <a:xfrm>
            <a:off x="457200" y="3255264"/>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4" name="Text 12"/>
          <p:cNvSpPr/>
          <p:nvPr/>
        </p:nvSpPr>
        <p:spPr>
          <a:xfrm>
            <a:off x="960120" y="3218688"/>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Select Ubuntu ISO.</a:t>
            </a:r>
            <a:endParaRPr lang="en-US" sz="1400" dirty="0"/>
          </a:p>
        </p:txBody>
      </p:sp>
      <p:sp>
        <p:nvSpPr>
          <p:cNvPr id="15" name="Shape 13"/>
          <p:cNvSpPr/>
          <p:nvPr/>
        </p:nvSpPr>
        <p:spPr>
          <a:xfrm>
            <a:off x="457200" y="3822192"/>
            <a:ext cx="365760" cy="365760"/>
          </a:xfrm>
          <a:prstGeom prst="ellipse">
            <a:avLst/>
          </a:prstGeom>
          <a:solidFill>
            <a:srgbClr val="22C55E"/>
          </a:solidFill>
          <a:ln/>
        </p:spPr>
      </p:sp>
      <p:sp>
        <p:nvSpPr>
          <p:cNvPr id="16" name="Text 14"/>
          <p:cNvSpPr/>
          <p:nvPr/>
        </p:nvSpPr>
        <p:spPr>
          <a:xfrm>
            <a:off x="457200" y="3822192"/>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7" name="Text 15"/>
          <p:cNvSpPr/>
          <p:nvPr/>
        </p:nvSpPr>
        <p:spPr>
          <a:xfrm>
            <a:off x="960120" y="3785616"/>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Allocate RAM.</a:t>
            </a:r>
            <a:endParaRPr lang="en-US" sz="1400" dirty="0"/>
          </a:p>
        </p:txBody>
      </p:sp>
      <p:sp>
        <p:nvSpPr>
          <p:cNvPr id="18" name="Shape 16"/>
          <p:cNvSpPr/>
          <p:nvPr/>
        </p:nvSpPr>
        <p:spPr>
          <a:xfrm>
            <a:off x="6080760" y="1554480"/>
            <a:ext cx="365760" cy="365760"/>
          </a:xfrm>
          <a:prstGeom prst="ellipse">
            <a:avLst/>
          </a:prstGeom>
          <a:solidFill>
            <a:srgbClr val="22C55E"/>
          </a:solidFill>
          <a:ln/>
        </p:spPr>
      </p:sp>
      <p:sp>
        <p:nvSpPr>
          <p:cNvPr id="19" name="Text 17"/>
          <p:cNvSpPr/>
          <p:nvPr/>
        </p:nvSpPr>
        <p:spPr>
          <a:xfrm>
            <a:off x="6080760" y="1554480"/>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0" name="Text 18"/>
          <p:cNvSpPr/>
          <p:nvPr/>
        </p:nvSpPr>
        <p:spPr>
          <a:xfrm>
            <a:off x="6583680" y="1517904"/>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Allocate CPU cores.</a:t>
            </a:r>
            <a:endParaRPr lang="en-US" sz="1400" dirty="0"/>
          </a:p>
        </p:txBody>
      </p:sp>
      <p:sp>
        <p:nvSpPr>
          <p:cNvPr id="21" name="Shape 19"/>
          <p:cNvSpPr/>
          <p:nvPr/>
        </p:nvSpPr>
        <p:spPr>
          <a:xfrm>
            <a:off x="6080760" y="2121408"/>
            <a:ext cx="365760" cy="365760"/>
          </a:xfrm>
          <a:prstGeom prst="ellipse">
            <a:avLst/>
          </a:prstGeom>
          <a:solidFill>
            <a:srgbClr val="22C55E"/>
          </a:solidFill>
          <a:ln/>
        </p:spPr>
      </p:sp>
      <p:sp>
        <p:nvSpPr>
          <p:cNvPr id="22" name="Text 20"/>
          <p:cNvSpPr/>
          <p:nvPr/>
        </p:nvSpPr>
        <p:spPr>
          <a:xfrm>
            <a:off x="6080760" y="2121408"/>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3" name="Text 21"/>
          <p:cNvSpPr/>
          <p:nvPr/>
        </p:nvSpPr>
        <p:spPr>
          <a:xfrm>
            <a:off x="6583680" y="2084832"/>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Create a virtual hard disk.</a:t>
            </a:r>
            <a:endParaRPr lang="en-US" sz="1400" dirty="0"/>
          </a:p>
        </p:txBody>
      </p:sp>
      <p:sp>
        <p:nvSpPr>
          <p:cNvPr id="24" name="Shape 22"/>
          <p:cNvSpPr/>
          <p:nvPr/>
        </p:nvSpPr>
        <p:spPr>
          <a:xfrm>
            <a:off x="6080760" y="2688336"/>
            <a:ext cx="365760" cy="365760"/>
          </a:xfrm>
          <a:prstGeom prst="ellipse">
            <a:avLst/>
          </a:prstGeom>
          <a:solidFill>
            <a:srgbClr val="22C55E"/>
          </a:solidFill>
          <a:ln/>
        </p:spPr>
      </p:sp>
      <p:sp>
        <p:nvSpPr>
          <p:cNvPr id="25" name="Text 23"/>
          <p:cNvSpPr/>
          <p:nvPr/>
        </p:nvSpPr>
        <p:spPr>
          <a:xfrm>
            <a:off x="6080760" y="2688336"/>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4"/>
          <p:cNvSpPr/>
          <p:nvPr/>
        </p:nvSpPr>
        <p:spPr>
          <a:xfrm>
            <a:off x="6583680" y="2651760"/>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Start the Virtual Machine.</a:t>
            </a:r>
            <a:endParaRPr lang="en-US" sz="1400" dirty="0"/>
          </a:p>
        </p:txBody>
      </p:sp>
      <p:sp>
        <p:nvSpPr>
          <p:cNvPr id="27" name="Shape 25"/>
          <p:cNvSpPr/>
          <p:nvPr/>
        </p:nvSpPr>
        <p:spPr>
          <a:xfrm>
            <a:off x="6080760" y="3255264"/>
            <a:ext cx="365760" cy="365760"/>
          </a:xfrm>
          <a:prstGeom prst="ellipse">
            <a:avLst/>
          </a:prstGeom>
          <a:solidFill>
            <a:srgbClr val="22C55E"/>
          </a:solidFill>
          <a:ln/>
        </p:spPr>
      </p:sp>
      <p:sp>
        <p:nvSpPr>
          <p:cNvPr id="28" name="Text 26"/>
          <p:cNvSpPr/>
          <p:nvPr/>
        </p:nvSpPr>
        <p:spPr>
          <a:xfrm>
            <a:off x="6080760" y="3255264"/>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29" name="Text 27"/>
          <p:cNvSpPr/>
          <p:nvPr/>
        </p:nvSpPr>
        <p:spPr>
          <a:xfrm>
            <a:off x="6583680" y="3218688"/>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Follow Ubuntu installation wizard.</a:t>
            </a:r>
            <a:endParaRPr lang="en-US" sz="1400" dirty="0"/>
          </a:p>
        </p:txBody>
      </p:sp>
      <p:sp>
        <p:nvSpPr>
          <p:cNvPr id="30" name="Shape 28"/>
          <p:cNvSpPr/>
          <p:nvPr/>
        </p:nvSpPr>
        <p:spPr>
          <a:xfrm>
            <a:off x="6080760" y="3822192"/>
            <a:ext cx="365760" cy="365760"/>
          </a:xfrm>
          <a:prstGeom prst="ellipse">
            <a:avLst/>
          </a:prstGeom>
          <a:solidFill>
            <a:srgbClr val="22C55E"/>
          </a:solidFill>
          <a:ln/>
        </p:spPr>
      </p:sp>
      <p:sp>
        <p:nvSpPr>
          <p:cNvPr id="31" name="Text 29"/>
          <p:cNvSpPr/>
          <p:nvPr/>
        </p:nvSpPr>
        <p:spPr>
          <a:xfrm>
            <a:off x="6080760" y="3822192"/>
            <a:ext cx="3657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32" name="Text 30"/>
          <p:cNvSpPr/>
          <p:nvPr/>
        </p:nvSpPr>
        <p:spPr>
          <a:xfrm>
            <a:off x="6583680" y="3785616"/>
            <a:ext cx="5029200" cy="457200"/>
          </a:xfrm>
          <a:prstGeom prst="rect">
            <a:avLst/>
          </a:prstGeom>
          <a:noFill/>
          <a:ln/>
        </p:spPr>
        <p:txBody>
          <a:bodyPr wrap="square" rtlCol="0" anchor="ctr"/>
          <a:lstStyle/>
          <a:p>
            <a:pPr indent="0" marL="0">
              <a:buNone/>
            </a:pPr>
            <a:r>
              <a:rPr lang="en-US" sz="1400" dirty="0">
                <a:solidFill>
                  <a:srgbClr val="16241C"/>
                </a:solidFill>
                <a:latin typeface="Calibri" pitchFamily="34" charset="0"/>
                <a:ea typeface="Calibri" pitchFamily="34" charset="-122"/>
                <a:cs typeface="Calibri" pitchFamily="34" charset="-120"/>
              </a:rPr>
              <a:t>Restart after installation.</a:t>
            </a:r>
            <a:endParaRPr lang="en-US" sz="1400" dirty="0"/>
          </a:p>
        </p:txBody>
      </p:sp>
      <p:sp>
        <p:nvSpPr>
          <p:cNvPr id="33" name="Text 3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34" name="Text 32"/>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Virtual Machine (VM)</a:t>
            </a:r>
            <a:endParaRPr lang="en-US" sz="3000" dirty="0"/>
          </a:p>
        </p:txBody>
      </p:sp>
      <p:sp>
        <p:nvSpPr>
          <p:cNvPr id="3" name="Text 1"/>
          <p:cNvSpPr/>
          <p:nvPr/>
        </p:nvSpPr>
        <p:spPr>
          <a:xfrm>
            <a:off x="457200" y="1371600"/>
            <a:ext cx="11274552" cy="777240"/>
          </a:xfrm>
          <a:prstGeom prst="rect">
            <a:avLst/>
          </a:prstGeom>
          <a:noFill/>
          <a:ln/>
        </p:spPr>
        <p:txBody>
          <a:bodyPr wrap="square" rtlCol="0" anchor="ctr"/>
          <a:lstStyle/>
          <a:p>
            <a:pPr indent="0" marL="0">
              <a:lnSpc>
                <a:spcPct val="120000"/>
              </a:lnSpc>
              <a:buNone/>
            </a:pPr>
            <a:r>
              <a:rPr lang="en-US" sz="1400" dirty="0">
                <a:solidFill>
                  <a:srgbClr val="16241C"/>
                </a:solidFill>
                <a:latin typeface="Calibri" pitchFamily="34" charset="0"/>
                <a:ea typeface="Calibri" pitchFamily="34" charset="-122"/>
                <a:cs typeface="Calibri" pitchFamily="34" charset="-120"/>
              </a:rPr>
              <a:t>A Virtual Machine is software that allows you to run another operating system inside your current operating system. The Ubuntu system behaves like a separate computer.</a:t>
            </a:r>
            <a:endParaRPr lang="en-US" sz="1400" dirty="0"/>
          </a:p>
        </p:txBody>
      </p:sp>
      <p:sp>
        <p:nvSpPr>
          <p:cNvPr id="4" name="Shape 2"/>
          <p:cNvSpPr/>
          <p:nvPr/>
        </p:nvSpPr>
        <p:spPr>
          <a:xfrm>
            <a:off x="882396" y="2743200"/>
            <a:ext cx="3017520" cy="914400"/>
          </a:xfrm>
          <a:prstGeom prst="roundRect">
            <a:avLst>
              <a:gd name="adj" fmla="val 8000"/>
            </a:avLst>
          </a:prstGeom>
          <a:solidFill>
            <a:srgbClr val="16241C"/>
          </a:solidFill>
          <a:ln/>
        </p:spPr>
      </p:sp>
      <p:sp>
        <p:nvSpPr>
          <p:cNvPr id="5" name="Text 3"/>
          <p:cNvSpPr/>
          <p:nvPr/>
        </p:nvSpPr>
        <p:spPr>
          <a:xfrm>
            <a:off x="882396" y="2743200"/>
            <a:ext cx="301752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Host Computer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(Windows)</a:t>
            </a:r>
            <a:endParaRPr lang="en-US" sz="1400" dirty="0"/>
          </a:p>
        </p:txBody>
      </p:sp>
      <p:sp>
        <p:nvSpPr>
          <p:cNvPr id="6" name="Text 4"/>
          <p:cNvSpPr/>
          <p:nvPr/>
        </p:nvSpPr>
        <p:spPr>
          <a:xfrm>
            <a:off x="3899916" y="2743200"/>
            <a:ext cx="685800" cy="914400"/>
          </a:xfrm>
          <a:prstGeom prst="rect">
            <a:avLst/>
          </a:prstGeom>
          <a:noFill/>
          <a:ln/>
        </p:spPr>
        <p:txBody>
          <a:bodyPr wrap="square" rtlCol="0" anchor="ctr"/>
          <a:lstStyle/>
          <a:p>
            <a:pPr algn="ctr" indent="0" marL="0">
              <a:buNone/>
            </a:pPr>
            <a:r>
              <a:rPr lang="en-US" sz="2200" b="1" dirty="0">
                <a:solidFill>
                  <a:srgbClr val="16A34A"/>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4585716" y="2743200"/>
            <a:ext cx="3017520" cy="914400"/>
          </a:xfrm>
          <a:prstGeom prst="roundRect">
            <a:avLst>
              <a:gd name="adj" fmla="val 8000"/>
            </a:avLst>
          </a:prstGeom>
          <a:solidFill>
            <a:srgbClr val="22C55E"/>
          </a:solidFill>
          <a:ln/>
        </p:spPr>
      </p:sp>
      <p:sp>
        <p:nvSpPr>
          <p:cNvPr id="8" name="Text 6"/>
          <p:cNvSpPr/>
          <p:nvPr/>
        </p:nvSpPr>
        <p:spPr>
          <a:xfrm>
            <a:off x="4585716" y="2743200"/>
            <a:ext cx="301752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VirtualBox</a:t>
            </a:r>
            <a:endParaRPr lang="en-US" sz="1400" dirty="0"/>
          </a:p>
        </p:txBody>
      </p:sp>
      <p:sp>
        <p:nvSpPr>
          <p:cNvPr id="9" name="Text 7"/>
          <p:cNvSpPr/>
          <p:nvPr/>
        </p:nvSpPr>
        <p:spPr>
          <a:xfrm>
            <a:off x="7603236" y="2743200"/>
            <a:ext cx="685800" cy="914400"/>
          </a:xfrm>
          <a:prstGeom prst="rect">
            <a:avLst/>
          </a:prstGeom>
          <a:noFill/>
          <a:ln/>
        </p:spPr>
        <p:txBody>
          <a:bodyPr wrap="square" rtlCol="0" anchor="ctr"/>
          <a:lstStyle/>
          <a:p>
            <a:pPr algn="ctr" indent="0" marL="0">
              <a:buNone/>
            </a:pPr>
            <a:r>
              <a:rPr lang="en-US" sz="2200" b="1" dirty="0">
                <a:solidFill>
                  <a:srgbClr val="16A34A"/>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8289036" y="2743200"/>
            <a:ext cx="3017520" cy="914400"/>
          </a:xfrm>
          <a:prstGeom prst="roundRect">
            <a:avLst>
              <a:gd name="adj" fmla="val 8000"/>
            </a:avLst>
          </a:prstGeom>
          <a:solidFill>
            <a:srgbClr val="16241C"/>
          </a:solidFill>
          <a:ln/>
        </p:spPr>
      </p:sp>
      <p:sp>
        <p:nvSpPr>
          <p:cNvPr id="11" name="Text 9"/>
          <p:cNvSpPr/>
          <p:nvPr/>
        </p:nvSpPr>
        <p:spPr>
          <a:xfrm>
            <a:off x="8289036" y="2743200"/>
            <a:ext cx="301752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Ubuntu Linux</a:t>
            </a:r>
            <a:endParaRPr lang="en-US" sz="1400" dirty="0"/>
          </a:p>
        </p:txBody>
      </p:sp>
      <p:sp>
        <p:nvSpPr>
          <p:cNvPr id="12" name="Shape 10"/>
          <p:cNvSpPr/>
          <p:nvPr/>
        </p:nvSpPr>
        <p:spPr>
          <a:xfrm>
            <a:off x="457200" y="4206240"/>
            <a:ext cx="3520440" cy="1554480"/>
          </a:xfrm>
          <a:prstGeom prst="roundRect">
            <a:avLst>
              <a:gd name="adj" fmla="val 4706"/>
            </a:avLst>
          </a:prstGeom>
          <a:solidFill>
            <a:srgbClr val="F1F5F2"/>
          </a:solidFill>
          <a:ln/>
        </p:spPr>
      </p:sp>
      <p:sp>
        <p:nvSpPr>
          <p:cNvPr id="13" name="Text 11"/>
          <p:cNvSpPr/>
          <p:nvPr/>
        </p:nvSpPr>
        <p:spPr>
          <a:xfrm>
            <a:off x="640080" y="4343400"/>
            <a:ext cx="3154680" cy="365760"/>
          </a:xfrm>
          <a:prstGeom prst="rect">
            <a:avLst/>
          </a:prstGeom>
          <a:noFill/>
          <a:ln/>
        </p:spPr>
        <p:txBody>
          <a:bodyPr wrap="square" rtlCol="0" anchor="ctr"/>
          <a:lstStyle/>
          <a:p>
            <a:pPr indent="0" marL="0">
              <a:buNone/>
            </a:pPr>
            <a:r>
              <a:rPr lang="en-US" sz="1500" b="1" dirty="0">
                <a:solidFill>
                  <a:srgbClr val="16A34A"/>
                </a:solidFill>
                <a:latin typeface="Cambria" pitchFamily="34" charset="0"/>
                <a:ea typeface="Cambria" pitchFamily="34" charset="-122"/>
                <a:cs typeface="Cambria" pitchFamily="34" charset="-120"/>
              </a:rPr>
              <a:t>Host OS</a:t>
            </a:r>
            <a:endParaRPr lang="en-US" sz="1500" dirty="0"/>
          </a:p>
        </p:txBody>
      </p:sp>
      <p:sp>
        <p:nvSpPr>
          <p:cNvPr id="14" name="Text 12"/>
          <p:cNvSpPr/>
          <p:nvPr/>
        </p:nvSpPr>
        <p:spPr>
          <a:xfrm>
            <a:off x="640080" y="4754880"/>
            <a:ext cx="3154680" cy="868680"/>
          </a:xfrm>
          <a:prstGeom prst="rect">
            <a:avLst/>
          </a:prstGeom>
          <a:noFill/>
          <a:ln/>
        </p:spPr>
        <p:txBody>
          <a:bodyPr wrap="square" rtlCol="0" anchor="ctr"/>
          <a:lstStyle/>
          <a:p>
            <a:pPr indent="0" marL="0">
              <a:lnSpc>
                <a:spcPct val="115000"/>
              </a:lnSpc>
              <a:buNone/>
            </a:pPr>
            <a:r>
              <a:rPr lang="en-US" sz="1150" dirty="0">
                <a:solidFill>
                  <a:srgbClr val="16241C"/>
                </a:solidFill>
                <a:latin typeface="Calibri" pitchFamily="34" charset="0"/>
                <a:ea typeface="Calibri" pitchFamily="34" charset="-122"/>
                <a:cs typeface="Calibri" pitchFamily="34" charset="-120"/>
              </a:rPr>
              <a:t>The operating system installed on the physical computer.</a:t>
            </a:r>
            <a:endParaRPr lang="en-US" sz="1150" dirty="0"/>
          </a:p>
          <a:p>
            <a:pPr indent="0" marL="0">
              <a:lnSpc>
                <a:spcPct val="115000"/>
              </a:lnSpc>
              <a:buNone/>
            </a:pPr>
            <a:r>
              <a:rPr lang="en-US" sz="1150" dirty="0">
                <a:solidFill>
                  <a:srgbClr val="16241C"/>
                </a:solidFill>
                <a:latin typeface="Calibri" pitchFamily="34" charset="0"/>
                <a:ea typeface="Calibri" pitchFamily="34" charset="-122"/>
                <a:cs typeface="Calibri" pitchFamily="34" charset="-120"/>
              </a:rPr>
              <a:t>Example: Windows 11</a:t>
            </a:r>
            <a:endParaRPr lang="en-US" sz="1150" dirty="0"/>
          </a:p>
        </p:txBody>
      </p:sp>
      <p:sp>
        <p:nvSpPr>
          <p:cNvPr id="15" name="Shape 13"/>
          <p:cNvSpPr/>
          <p:nvPr/>
        </p:nvSpPr>
        <p:spPr>
          <a:xfrm>
            <a:off x="4251960" y="4206240"/>
            <a:ext cx="3520440" cy="1554480"/>
          </a:xfrm>
          <a:prstGeom prst="roundRect">
            <a:avLst>
              <a:gd name="adj" fmla="val 4706"/>
            </a:avLst>
          </a:prstGeom>
          <a:solidFill>
            <a:srgbClr val="F1F5F2"/>
          </a:solidFill>
          <a:ln/>
        </p:spPr>
      </p:sp>
      <p:sp>
        <p:nvSpPr>
          <p:cNvPr id="16" name="Text 14"/>
          <p:cNvSpPr/>
          <p:nvPr/>
        </p:nvSpPr>
        <p:spPr>
          <a:xfrm>
            <a:off x="4434840" y="4343400"/>
            <a:ext cx="3154680" cy="365760"/>
          </a:xfrm>
          <a:prstGeom prst="rect">
            <a:avLst/>
          </a:prstGeom>
          <a:noFill/>
          <a:ln/>
        </p:spPr>
        <p:txBody>
          <a:bodyPr wrap="square" rtlCol="0" anchor="ctr"/>
          <a:lstStyle/>
          <a:p>
            <a:pPr indent="0" marL="0">
              <a:buNone/>
            </a:pPr>
            <a:r>
              <a:rPr lang="en-US" sz="1500" b="1" dirty="0">
                <a:solidFill>
                  <a:srgbClr val="16A34A"/>
                </a:solidFill>
                <a:latin typeface="Cambria" pitchFamily="34" charset="0"/>
                <a:ea typeface="Cambria" pitchFamily="34" charset="-122"/>
                <a:cs typeface="Cambria" pitchFamily="34" charset="-120"/>
              </a:rPr>
              <a:t>Guest OS</a:t>
            </a:r>
            <a:endParaRPr lang="en-US" sz="1500" dirty="0"/>
          </a:p>
        </p:txBody>
      </p:sp>
      <p:sp>
        <p:nvSpPr>
          <p:cNvPr id="17" name="Text 15"/>
          <p:cNvSpPr/>
          <p:nvPr/>
        </p:nvSpPr>
        <p:spPr>
          <a:xfrm>
            <a:off x="4434840" y="4754880"/>
            <a:ext cx="3154680" cy="868680"/>
          </a:xfrm>
          <a:prstGeom prst="rect">
            <a:avLst/>
          </a:prstGeom>
          <a:noFill/>
          <a:ln/>
        </p:spPr>
        <p:txBody>
          <a:bodyPr wrap="square" rtlCol="0" anchor="ctr"/>
          <a:lstStyle/>
          <a:p>
            <a:pPr indent="0" marL="0">
              <a:lnSpc>
                <a:spcPct val="115000"/>
              </a:lnSpc>
              <a:buNone/>
            </a:pPr>
            <a:r>
              <a:rPr lang="en-US" sz="1150" dirty="0">
                <a:solidFill>
                  <a:srgbClr val="16241C"/>
                </a:solidFill>
                <a:latin typeface="Calibri" pitchFamily="34" charset="0"/>
                <a:ea typeface="Calibri" pitchFamily="34" charset="-122"/>
                <a:cs typeface="Calibri" pitchFamily="34" charset="-120"/>
              </a:rPr>
              <a:t>The operating system running inside the Virtual Machine.</a:t>
            </a:r>
            <a:endParaRPr lang="en-US" sz="1150" dirty="0"/>
          </a:p>
          <a:p>
            <a:pPr indent="0" marL="0">
              <a:lnSpc>
                <a:spcPct val="115000"/>
              </a:lnSpc>
              <a:buNone/>
            </a:pPr>
            <a:r>
              <a:rPr lang="en-US" sz="1150" dirty="0">
                <a:solidFill>
                  <a:srgbClr val="16241C"/>
                </a:solidFill>
                <a:latin typeface="Calibri" pitchFamily="34" charset="0"/>
                <a:ea typeface="Calibri" pitchFamily="34" charset="-122"/>
                <a:cs typeface="Calibri" pitchFamily="34" charset="-120"/>
              </a:rPr>
              <a:t>Example: Ubuntu Linux</a:t>
            </a:r>
            <a:endParaRPr lang="en-US" sz="1150" dirty="0"/>
          </a:p>
        </p:txBody>
      </p:sp>
      <p:sp>
        <p:nvSpPr>
          <p:cNvPr id="18" name="Shape 16"/>
          <p:cNvSpPr/>
          <p:nvPr/>
        </p:nvSpPr>
        <p:spPr>
          <a:xfrm>
            <a:off x="8046720" y="4206240"/>
            <a:ext cx="3520440" cy="1554480"/>
          </a:xfrm>
          <a:prstGeom prst="roundRect">
            <a:avLst>
              <a:gd name="adj" fmla="val 4706"/>
            </a:avLst>
          </a:prstGeom>
          <a:solidFill>
            <a:srgbClr val="F1F5F2"/>
          </a:solidFill>
          <a:ln/>
        </p:spPr>
      </p:sp>
      <p:sp>
        <p:nvSpPr>
          <p:cNvPr id="19" name="Text 17"/>
          <p:cNvSpPr/>
          <p:nvPr/>
        </p:nvSpPr>
        <p:spPr>
          <a:xfrm>
            <a:off x="8229600" y="4343400"/>
            <a:ext cx="3154680" cy="365760"/>
          </a:xfrm>
          <a:prstGeom prst="rect">
            <a:avLst/>
          </a:prstGeom>
          <a:noFill/>
          <a:ln/>
        </p:spPr>
        <p:txBody>
          <a:bodyPr wrap="square" rtlCol="0" anchor="ctr"/>
          <a:lstStyle/>
          <a:p>
            <a:pPr indent="0" marL="0">
              <a:buNone/>
            </a:pPr>
            <a:r>
              <a:rPr lang="en-US" sz="1500" b="1" dirty="0">
                <a:solidFill>
                  <a:srgbClr val="16A34A"/>
                </a:solidFill>
                <a:latin typeface="Cambria" pitchFamily="34" charset="0"/>
                <a:ea typeface="Cambria" pitchFamily="34" charset="-122"/>
                <a:cs typeface="Cambria" pitchFamily="34" charset="-120"/>
              </a:rPr>
              <a:t>Hypervisor</a:t>
            </a:r>
            <a:endParaRPr lang="en-US" sz="1500" dirty="0"/>
          </a:p>
        </p:txBody>
      </p:sp>
      <p:sp>
        <p:nvSpPr>
          <p:cNvPr id="20" name="Text 18"/>
          <p:cNvSpPr/>
          <p:nvPr/>
        </p:nvSpPr>
        <p:spPr>
          <a:xfrm>
            <a:off x="8229600" y="4754880"/>
            <a:ext cx="3154680" cy="868680"/>
          </a:xfrm>
          <a:prstGeom prst="rect">
            <a:avLst/>
          </a:prstGeom>
          <a:noFill/>
          <a:ln/>
        </p:spPr>
        <p:txBody>
          <a:bodyPr wrap="square" rtlCol="0" anchor="ctr"/>
          <a:lstStyle/>
          <a:p>
            <a:pPr indent="0" marL="0">
              <a:lnSpc>
                <a:spcPct val="115000"/>
              </a:lnSpc>
              <a:buNone/>
            </a:pPr>
            <a:r>
              <a:rPr lang="en-US" sz="1150" dirty="0">
                <a:solidFill>
                  <a:srgbClr val="16241C"/>
                </a:solidFill>
                <a:latin typeface="Calibri" pitchFamily="34" charset="0"/>
                <a:ea typeface="Calibri" pitchFamily="34" charset="-122"/>
                <a:cs typeface="Calibri" pitchFamily="34" charset="-120"/>
              </a:rPr>
              <a:t>Software that creates and manages Virtual Machines, allowing multiple operating systems to run on one physical computer.</a:t>
            </a:r>
            <a:endParaRPr lang="en-US" sz="1150" dirty="0"/>
          </a:p>
        </p:txBody>
      </p:sp>
      <p:sp>
        <p:nvSpPr>
          <p:cNvPr id="21" name="Text 19"/>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2" name="Text 20"/>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Why Use a Virtual Machine?</a:t>
            </a:r>
            <a:endParaRPr lang="en-US" sz="3000" dirty="0"/>
          </a:p>
        </p:txBody>
      </p:sp>
      <p:sp>
        <p:nvSpPr>
          <p:cNvPr id="3" name="Shape 1"/>
          <p:cNvSpPr/>
          <p:nvPr/>
        </p:nvSpPr>
        <p:spPr>
          <a:xfrm>
            <a:off x="457200" y="1920240"/>
            <a:ext cx="3520440" cy="1554480"/>
          </a:xfrm>
          <a:prstGeom prst="roundRect">
            <a:avLst>
              <a:gd name="adj" fmla="val 5882"/>
            </a:avLst>
          </a:prstGeom>
          <a:solidFill>
            <a:srgbClr val="16241C"/>
          </a:solidFill>
          <a:ln/>
        </p:spPr>
      </p:sp>
      <p:sp>
        <p:nvSpPr>
          <p:cNvPr id="4" name="Shape 2"/>
          <p:cNvSpPr/>
          <p:nvPr/>
        </p:nvSpPr>
        <p:spPr>
          <a:xfrm>
            <a:off x="685800" y="2148840"/>
            <a:ext cx="411480" cy="411480"/>
          </a:xfrm>
          <a:prstGeom prst="ellipse">
            <a:avLst/>
          </a:prstGeom>
          <a:solidFill>
            <a:srgbClr val="22C55E"/>
          </a:solidFill>
          <a:ln/>
        </p:spPr>
      </p:sp>
      <p:sp>
        <p:nvSpPr>
          <p:cNvPr id="5" name="Text 3"/>
          <p:cNvSpPr/>
          <p:nvPr/>
        </p:nvSpPr>
        <p:spPr>
          <a:xfrm>
            <a:off x="685800" y="21488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685800" y="2697480"/>
            <a:ext cx="3063240" cy="6858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Safe testing</a:t>
            </a:r>
            <a:endParaRPr lang="en-US" sz="1500" dirty="0"/>
          </a:p>
        </p:txBody>
      </p:sp>
      <p:sp>
        <p:nvSpPr>
          <p:cNvPr id="7" name="Shape 5"/>
          <p:cNvSpPr/>
          <p:nvPr/>
        </p:nvSpPr>
        <p:spPr>
          <a:xfrm>
            <a:off x="4251960" y="1920240"/>
            <a:ext cx="3520440" cy="1554480"/>
          </a:xfrm>
          <a:prstGeom prst="roundRect">
            <a:avLst>
              <a:gd name="adj" fmla="val 5882"/>
            </a:avLst>
          </a:prstGeom>
          <a:solidFill>
            <a:srgbClr val="16241C"/>
          </a:solidFill>
          <a:ln/>
        </p:spPr>
      </p:sp>
      <p:sp>
        <p:nvSpPr>
          <p:cNvPr id="8" name="Shape 6"/>
          <p:cNvSpPr/>
          <p:nvPr/>
        </p:nvSpPr>
        <p:spPr>
          <a:xfrm>
            <a:off x="4480560" y="2148840"/>
            <a:ext cx="411480" cy="411480"/>
          </a:xfrm>
          <a:prstGeom prst="ellipse">
            <a:avLst/>
          </a:prstGeom>
          <a:solidFill>
            <a:srgbClr val="22C55E"/>
          </a:solidFill>
          <a:ln/>
        </p:spPr>
      </p:sp>
      <p:sp>
        <p:nvSpPr>
          <p:cNvPr id="9" name="Text 7"/>
          <p:cNvSpPr/>
          <p:nvPr/>
        </p:nvSpPr>
        <p:spPr>
          <a:xfrm>
            <a:off x="4480560" y="21488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4480560" y="2697480"/>
            <a:ext cx="3063240" cy="6858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Run multiple operating systems</a:t>
            </a:r>
            <a:endParaRPr lang="en-US" sz="1500" dirty="0"/>
          </a:p>
        </p:txBody>
      </p:sp>
      <p:sp>
        <p:nvSpPr>
          <p:cNvPr id="11" name="Shape 9"/>
          <p:cNvSpPr/>
          <p:nvPr/>
        </p:nvSpPr>
        <p:spPr>
          <a:xfrm>
            <a:off x="8046720" y="1920240"/>
            <a:ext cx="3520440" cy="1554480"/>
          </a:xfrm>
          <a:prstGeom prst="roundRect">
            <a:avLst>
              <a:gd name="adj" fmla="val 5882"/>
            </a:avLst>
          </a:prstGeom>
          <a:solidFill>
            <a:srgbClr val="16241C"/>
          </a:solidFill>
          <a:ln/>
        </p:spPr>
      </p:sp>
      <p:sp>
        <p:nvSpPr>
          <p:cNvPr id="12" name="Shape 10"/>
          <p:cNvSpPr/>
          <p:nvPr/>
        </p:nvSpPr>
        <p:spPr>
          <a:xfrm>
            <a:off x="8275320" y="2148840"/>
            <a:ext cx="411480" cy="411480"/>
          </a:xfrm>
          <a:prstGeom prst="ellipse">
            <a:avLst/>
          </a:prstGeom>
          <a:solidFill>
            <a:srgbClr val="22C55E"/>
          </a:solidFill>
          <a:ln/>
        </p:spPr>
      </p:sp>
      <p:sp>
        <p:nvSpPr>
          <p:cNvPr id="13" name="Text 11"/>
          <p:cNvSpPr/>
          <p:nvPr/>
        </p:nvSpPr>
        <p:spPr>
          <a:xfrm>
            <a:off x="8275320" y="21488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8275320" y="2697480"/>
            <a:ext cx="3063240" cy="6858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Practice cybersecurity</a:t>
            </a:r>
            <a:endParaRPr lang="en-US" sz="1500" dirty="0"/>
          </a:p>
        </p:txBody>
      </p:sp>
      <p:sp>
        <p:nvSpPr>
          <p:cNvPr id="15" name="Shape 13"/>
          <p:cNvSpPr/>
          <p:nvPr/>
        </p:nvSpPr>
        <p:spPr>
          <a:xfrm>
            <a:off x="457200" y="3749040"/>
            <a:ext cx="3520440" cy="1554480"/>
          </a:xfrm>
          <a:prstGeom prst="roundRect">
            <a:avLst>
              <a:gd name="adj" fmla="val 5882"/>
            </a:avLst>
          </a:prstGeom>
          <a:solidFill>
            <a:srgbClr val="16241C"/>
          </a:solidFill>
          <a:ln/>
        </p:spPr>
      </p:sp>
      <p:sp>
        <p:nvSpPr>
          <p:cNvPr id="16" name="Shape 14"/>
          <p:cNvSpPr/>
          <p:nvPr/>
        </p:nvSpPr>
        <p:spPr>
          <a:xfrm>
            <a:off x="685800" y="3977640"/>
            <a:ext cx="411480" cy="411480"/>
          </a:xfrm>
          <a:prstGeom prst="ellipse">
            <a:avLst/>
          </a:prstGeom>
          <a:solidFill>
            <a:srgbClr val="22C55E"/>
          </a:solidFill>
          <a:ln/>
        </p:spPr>
      </p:sp>
      <p:sp>
        <p:nvSpPr>
          <p:cNvPr id="17" name="Text 15"/>
          <p:cNvSpPr/>
          <p:nvPr/>
        </p:nvSpPr>
        <p:spPr>
          <a:xfrm>
            <a:off x="685800" y="39776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685800" y="4526280"/>
            <a:ext cx="3063240" cy="6858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Malware analysis</a:t>
            </a:r>
            <a:endParaRPr lang="en-US" sz="1500" dirty="0"/>
          </a:p>
        </p:txBody>
      </p:sp>
      <p:sp>
        <p:nvSpPr>
          <p:cNvPr id="19" name="Shape 17"/>
          <p:cNvSpPr/>
          <p:nvPr/>
        </p:nvSpPr>
        <p:spPr>
          <a:xfrm>
            <a:off x="4251960" y="3749040"/>
            <a:ext cx="3520440" cy="1554480"/>
          </a:xfrm>
          <a:prstGeom prst="roundRect">
            <a:avLst>
              <a:gd name="adj" fmla="val 5882"/>
            </a:avLst>
          </a:prstGeom>
          <a:solidFill>
            <a:srgbClr val="16241C"/>
          </a:solidFill>
          <a:ln/>
        </p:spPr>
      </p:sp>
      <p:sp>
        <p:nvSpPr>
          <p:cNvPr id="20" name="Shape 18"/>
          <p:cNvSpPr/>
          <p:nvPr/>
        </p:nvSpPr>
        <p:spPr>
          <a:xfrm>
            <a:off x="4480560" y="3977640"/>
            <a:ext cx="411480" cy="411480"/>
          </a:xfrm>
          <a:prstGeom prst="ellipse">
            <a:avLst/>
          </a:prstGeom>
          <a:solidFill>
            <a:srgbClr val="22C55E"/>
          </a:solidFill>
          <a:ln/>
        </p:spPr>
      </p:sp>
      <p:sp>
        <p:nvSpPr>
          <p:cNvPr id="21" name="Text 19"/>
          <p:cNvSpPr/>
          <p:nvPr/>
        </p:nvSpPr>
        <p:spPr>
          <a:xfrm>
            <a:off x="4480560" y="39776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4480560" y="4526280"/>
            <a:ext cx="3063240" cy="6858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Software testing</a:t>
            </a:r>
            <a:endParaRPr lang="en-US" sz="1500" dirty="0"/>
          </a:p>
        </p:txBody>
      </p:sp>
      <p:sp>
        <p:nvSpPr>
          <p:cNvPr id="23" name="Shape 21"/>
          <p:cNvSpPr/>
          <p:nvPr/>
        </p:nvSpPr>
        <p:spPr>
          <a:xfrm>
            <a:off x="8046720" y="3749040"/>
            <a:ext cx="3520440" cy="1554480"/>
          </a:xfrm>
          <a:prstGeom prst="roundRect">
            <a:avLst>
              <a:gd name="adj" fmla="val 5882"/>
            </a:avLst>
          </a:prstGeom>
          <a:solidFill>
            <a:srgbClr val="16241C"/>
          </a:solidFill>
          <a:ln/>
        </p:spPr>
      </p:sp>
      <p:sp>
        <p:nvSpPr>
          <p:cNvPr id="24" name="Shape 22"/>
          <p:cNvSpPr/>
          <p:nvPr/>
        </p:nvSpPr>
        <p:spPr>
          <a:xfrm>
            <a:off x="8275320" y="3977640"/>
            <a:ext cx="411480" cy="411480"/>
          </a:xfrm>
          <a:prstGeom prst="ellipse">
            <a:avLst/>
          </a:prstGeom>
          <a:solidFill>
            <a:srgbClr val="22C55E"/>
          </a:solidFill>
          <a:ln/>
        </p:spPr>
      </p:sp>
      <p:sp>
        <p:nvSpPr>
          <p:cNvPr id="25" name="Text 23"/>
          <p:cNvSpPr/>
          <p:nvPr/>
        </p:nvSpPr>
        <p:spPr>
          <a:xfrm>
            <a:off x="8275320" y="39776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p:nvPr/>
        </p:nvSpPr>
        <p:spPr>
          <a:xfrm>
            <a:off x="8275320" y="4526280"/>
            <a:ext cx="3063240" cy="68580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Snapshot recovery</a:t>
            </a:r>
            <a:endParaRPr lang="en-US" sz="1500" dirty="0"/>
          </a:p>
        </p:txBody>
      </p:sp>
      <p:sp>
        <p:nvSpPr>
          <p:cNvPr id="27" name="Text 25"/>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8" name="Text 26"/>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Types of Hypervisor</a:t>
            </a:r>
            <a:endParaRPr lang="en-US" sz="3000" dirty="0"/>
          </a:p>
        </p:txBody>
      </p:sp>
      <p:sp>
        <p:nvSpPr>
          <p:cNvPr id="3" name="Shape 1"/>
          <p:cNvSpPr/>
          <p:nvPr/>
        </p:nvSpPr>
        <p:spPr>
          <a:xfrm>
            <a:off x="457200" y="1417320"/>
            <a:ext cx="5349240" cy="5074920"/>
          </a:xfrm>
          <a:prstGeom prst="roundRect">
            <a:avLst>
              <a:gd name="adj" fmla="val 1802"/>
            </a:avLst>
          </a:prstGeom>
          <a:solidFill>
            <a:srgbClr val="F1F5F2"/>
          </a:solidFill>
          <a:ln/>
        </p:spPr>
      </p:sp>
      <p:sp>
        <p:nvSpPr>
          <p:cNvPr id="4" name="Shape 2"/>
          <p:cNvSpPr/>
          <p:nvPr/>
        </p:nvSpPr>
        <p:spPr>
          <a:xfrm>
            <a:off x="457200" y="1417320"/>
            <a:ext cx="5349240" cy="594360"/>
          </a:xfrm>
          <a:prstGeom prst="roundRect">
            <a:avLst>
              <a:gd name="adj" fmla="val 15385"/>
            </a:avLst>
          </a:prstGeom>
          <a:solidFill>
            <a:srgbClr val="16241C"/>
          </a:solidFill>
          <a:ln/>
        </p:spPr>
      </p:sp>
      <p:sp>
        <p:nvSpPr>
          <p:cNvPr id="5" name="Text 3"/>
          <p:cNvSpPr/>
          <p:nvPr/>
        </p:nvSpPr>
        <p:spPr>
          <a:xfrm>
            <a:off x="685800" y="1417320"/>
            <a:ext cx="489204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Type 1 Hypervisor</a:t>
            </a:r>
            <a:endParaRPr lang="en-US" sz="1600" dirty="0"/>
          </a:p>
        </p:txBody>
      </p:sp>
      <p:sp>
        <p:nvSpPr>
          <p:cNvPr id="6" name="Text 4"/>
          <p:cNvSpPr/>
          <p:nvPr/>
        </p:nvSpPr>
        <p:spPr>
          <a:xfrm>
            <a:off x="685800" y="2130552"/>
            <a:ext cx="4892040" cy="585216"/>
          </a:xfrm>
          <a:prstGeom prst="rect">
            <a:avLst/>
          </a:prstGeom>
          <a:noFill/>
          <a:ln/>
        </p:spPr>
        <p:txBody>
          <a:bodyPr wrap="square" rtlCol="0" anchor="ctr"/>
          <a:lstStyle/>
          <a:p>
            <a:pPr indent="0" marL="0">
              <a:buNone/>
            </a:pPr>
            <a:r>
              <a:rPr lang="en-US" sz="1200" i="1" dirty="0">
                <a:solidFill>
                  <a:srgbClr val="5B6B63"/>
                </a:solidFill>
                <a:latin typeface="Calibri" pitchFamily="34" charset="0"/>
                <a:ea typeface="Calibri" pitchFamily="34" charset="-122"/>
                <a:cs typeface="Calibri" pitchFamily="34" charset="-120"/>
              </a:rPr>
              <a:t>Runs directly on hardware.</a:t>
            </a:r>
            <a:endParaRPr lang="en-US" sz="1200" dirty="0"/>
          </a:p>
        </p:txBody>
      </p:sp>
      <p:sp>
        <p:nvSpPr>
          <p:cNvPr id="7" name="Text 5"/>
          <p:cNvSpPr/>
          <p:nvPr/>
        </p:nvSpPr>
        <p:spPr>
          <a:xfrm>
            <a:off x="685800" y="2587752"/>
            <a:ext cx="4892040" cy="237744"/>
          </a:xfrm>
          <a:prstGeom prst="rect">
            <a:avLst/>
          </a:prstGeom>
          <a:noFill/>
          <a:ln/>
        </p:spPr>
        <p:txBody>
          <a:bodyPr wrap="square"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Examples</a:t>
            </a:r>
            <a:endParaRPr lang="en-US" sz="1200" dirty="0"/>
          </a:p>
        </p:txBody>
      </p:sp>
      <p:sp>
        <p:nvSpPr>
          <p:cNvPr id="8" name="Text 6"/>
          <p:cNvSpPr/>
          <p:nvPr/>
        </p:nvSpPr>
        <p:spPr>
          <a:xfrm>
            <a:off x="777240" y="2843784"/>
            <a:ext cx="4800600" cy="658368"/>
          </a:xfrm>
          <a:prstGeom prst="rect">
            <a:avLst/>
          </a:prstGeom>
          <a:noFill/>
          <a:ln/>
        </p:spPr>
        <p:txBody>
          <a:bodyPr wrap="square" rtlCol="0" anchor="ctr"/>
          <a:lstStyle/>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VMware ESXi</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Microsoft Hyper-V Server</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Xen</a:t>
            </a:r>
            <a:endParaRPr lang="en-US" sz="1150" dirty="0"/>
          </a:p>
        </p:txBody>
      </p:sp>
      <p:sp>
        <p:nvSpPr>
          <p:cNvPr id="9" name="Text 7"/>
          <p:cNvSpPr/>
          <p:nvPr/>
        </p:nvSpPr>
        <p:spPr>
          <a:xfrm>
            <a:off x="685800" y="3703320"/>
            <a:ext cx="4892040" cy="237744"/>
          </a:xfrm>
          <a:prstGeom prst="rect">
            <a:avLst/>
          </a:prstGeom>
          <a:noFill/>
          <a:ln/>
        </p:spPr>
        <p:txBody>
          <a:bodyPr wrap="square"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Advantages</a:t>
            </a:r>
            <a:endParaRPr lang="en-US" sz="1200" dirty="0"/>
          </a:p>
        </p:txBody>
      </p:sp>
      <p:sp>
        <p:nvSpPr>
          <p:cNvPr id="10" name="Text 8"/>
          <p:cNvSpPr/>
          <p:nvPr/>
        </p:nvSpPr>
        <p:spPr>
          <a:xfrm>
            <a:off x="777240" y="3959352"/>
            <a:ext cx="4800600" cy="658368"/>
          </a:xfrm>
          <a:prstGeom prst="rect">
            <a:avLst/>
          </a:prstGeom>
          <a:noFill/>
          <a:ln/>
        </p:spPr>
        <p:txBody>
          <a:bodyPr wrap="square" rtlCol="0" anchor="ctr"/>
          <a:lstStyle/>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Faster</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More secure</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Better performance</a:t>
            </a:r>
            <a:endParaRPr lang="en-US" sz="1150" dirty="0"/>
          </a:p>
        </p:txBody>
      </p:sp>
      <p:sp>
        <p:nvSpPr>
          <p:cNvPr id="11" name="Text 9"/>
          <p:cNvSpPr/>
          <p:nvPr/>
        </p:nvSpPr>
        <p:spPr>
          <a:xfrm>
            <a:off x="685800" y="4818888"/>
            <a:ext cx="4892040" cy="237744"/>
          </a:xfrm>
          <a:prstGeom prst="rect">
            <a:avLst/>
          </a:prstGeom>
          <a:noFill/>
          <a:ln/>
        </p:spPr>
        <p:txBody>
          <a:bodyPr wrap="square"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Used in</a:t>
            </a:r>
            <a:endParaRPr lang="en-US" sz="1200" dirty="0"/>
          </a:p>
        </p:txBody>
      </p:sp>
      <p:sp>
        <p:nvSpPr>
          <p:cNvPr id="12" name="Text 10"/>
          <p:cNvSpPr/>
          <p:nvPr/>
        </p:nvSpPr>
        <p:spPr>
          <a:xfrm>
            <a:off x="777240" y="5074920"/>
            <a:ext cx="4800600" cy="658368"/>
          </a:xfrm>
          <a:prstGeom prst="rect">
            <a:avLst/>
          </a:prstGeom>
          <a:noFill/>
          <a:ln/>
        </p:spPr>
        <p:txBody>
          <a:bodyPr wrap="square" rtlCol="0" anchor="ctr"/>
          <a:lstStyle/>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Data Centers</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Cloud Computing</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Enterprise Servers</a:t>
            </a:r>
            <a:endParaRPr lang="en-US" sz="1150" dirty="0"/>
          </a:p>
        </p:txBody>
      </p:sp>
      <p:sp>
        <p:nvSpPr>
          <p:cNvPr id="13" name="Shape 11"/>
          <p:cNvSpPr/>
          <p:nvPr/>
        </p:nvSpPr>
        <p:spPr>
          <a:xfrm>
            <a:off x="6263640" y="1417320"/>
            <a:ext cx="5349240" cy="5074920"/>
          </a:xfrm>
          <a:prstGeom prst="roundRect">
            <a:avLst>
              <a:gd name="adj" fmla="val 1802"/>
            </a:avLst>
          </a:prstGeom>
          <a:solidFill>
            <a:srgbClr val="F1F5F2"/>
          </a:solidFill>
          <a:ln/>
        </p:spPr>
      </p:sp>
      <p:sp>
        <p:nvSpPr>
          <p:cNvPr id="14" name="Shape 12"/>
          <p:cNvSpPr/>
          <p:nvPr/>
        </p:nvSpPr>
        <p:spPr>
          <a:xfrm>
            <a:off x="6263640" y="1417320"/>
            <a:ext cx="5349240" cy="594360"/>
          </a:xfrm>
          <a:prstGeom prst="roundRect">
            <a:avLst>
              <a:gd name="adj" fmla="val 15385"/>
            </a:avLst>
          </a:prstGeom>
          <a:solidFill>
            <a:srgbClr val="22C55E"/>
          </a:solidFill>
          <a:ln/>
        </p:spPr>
      </p:sp>
      <p:sp>
        <p:nvSpPr>
          <p:cNvPr id="15" name="Text 13"/>
          <p:cNvSpPr/>
          <p:nvPr/>
        </p:nvSpPr>
        <p:spPr>
          <a:xfrm>
            <a:off x="6492240" y="1417320"/>
            <a:ext cx="4892040" cy="5943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Type 2 Hypervisor</a:t>
            </a:r>
            <a:endParaRPr lang="en-US" sz="1600" dirty="0"/>
          </a:p>
        </p:txBody>
      </p:sp>
      <p:sp>
        <p:nvSpPr>
          <p:cNvPr id="16" name="Text 14"/>
          <p:cNvSpPr/>
          <p:nvPr/>
        </p:nvSpPr>
        <p:spPr>
          <a:xfrm>
            <a:off x="6492240" y="2130552"/>
            <a:ext cx="4892040" cy="585216"/>
          </a:xfrm>
          <a:prstGeom prst="rect">
            <a:avLst/>
          </a:prstGeom>
          <a:noFill/>
          <a:ln/>
        </p:spPr>
        <p:txBody>
          <a:bodyPr wrap="square" rtlCol="0" anchor="ctr"/>
          <a:lstStyle/>
          <a:p>
            <a:pPr indent="0" marL="0">
              <a:buNone/>
            </a:pPr>
            <a:r>
              <a:rPr lang="en-US" sz="1200" i="1" dirty="0">
                <a:solidFill>
                  <a:srgbClr val="5B6B63"/>
                </a:solidFill>
                <a:latin typeface="Calibri" pitchFamily="34" charset="0"/>
                <a:ea typeface="Calibri" pitchFamily="34" charset="-122"/>
                <a:cs typeface="Calibri" pitchFamily="34" charset="-120"/>
              </a:rPr>
              <a:t>Runs on top of an operating system.</a:t>
            </a:r>
            <a:endParaRPr lang="en-US" sz="1200" dirty="0"/>
          </a:p>
        </p:txBody>
      </p:sp>
      <p:sp>
        <p:nvSpPr>
          <p:cNvPr id="17" name="Text 15"/>
          <p:cNvSpPr/>
          <p:nvPr/>
        </p:nvSpPr>
        <p:spPr>
          <a:xfrm>
            <a:off x="6492240" y="2587752"/>
            <a:ext cx="4892040" cy="237744"/>
          </a:xfrm>
          <a:prstGeom prst="rect">
            <a:avLst/>
          </a:prstGeom>
          <a:noFill/>
          <a:ln/>
        </p:spPr>
        <p:txBody>
          <a:bodyPr wrap="square"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Examples</a:t>
            </a:r>
            <a:endParaRPr lang="en-US" sz="1200" dirty="0"/>
          </a:p>
        </p:txBody>
      </p:sp>
      <p:sp>
        <p:nvSpPr>
          <p:cNvPr id="18" name="Text 16"/>
          <p:cNvSpPr/>
          <p:nvPr/>
        </p:nvSpPr>
        <p:spPr>
          <a:xfrm>
            <a:off x="6583680" y="2843784"/>
            <a:ext cx="4800600" cy="438912"/>
          </a:xfrm>
          <a:prstGeom prst="rect">
            <a:avLst/>
          </a:prstGeom>
          <a:noFill/>
          <a:ln/>
        </p:spPr>
        <p:txBody>
          <a:bodyPr wrap="square" rtlCol="0" anchor="ctr"/>
          <a:lstStyle/>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VirtualBox</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VMware Workstation</a:t>
            </a:r>
            <a:endParaRPr lang="en-US" sz="1150" dirty="0"/>
          </a:p>
        </p:txBody>
      </p:sp>
      <p:sp>
        <p:nvSpPr>
          <p:cNvPr id="19" name="Text 17"/>
          <p:cNvSpPr/>
          <p:nvPr/>
        </p:nvSpPr>
        <p:spPr>
          <a:xfrm>
            <a:off x="6492240" y="3483864"/>
            <a:ext cx="4892040" cy="237744"/>
          </a:xfrm>
          <a:prstGeom prst="rect">
            <a:avLst/>
          </a:prstGeom>
          <a:noFill/>
          <a:ln/>
        </p:spPr>
        <p:txBody>
          <a:bodyPr wrap="square"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Advantages</a:t>
            </a:r>
            <a:endParaRPr lang="en-US" sz="1200" dirty="0"/>
          </a:p>
        </p:txBody>
      </p:sp>
      <p:sp>
        <p:nvSpPr>
          <p:cNvPr id="20" name="Text 18"/>
          <p:cNvSpPr/>
          <p:nvPr/>
        </p:nvSpPr>
        <p:spPr>
          <a:xfrm>
            <a:off x="6583680" y="3739896"/>
            <a:ext cx="4800600" cy="658368"/>
          </a:xfrm>
          <a:prstGeom prst="rect">
            <a:avLst/>
          </a:prstGeom>
          <a:noFill/>
          <a:ln/>
        </p:spPr>
        <p:txBody>
          <a:bodyPr wrap="square" rtlCol="0" anchor="ctr"/>
          <a:lstStyle/>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Easy to install</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Best for learning</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Suitable for personal computers</a:t>
            </a:r>
            <a:endParaRPr lang="en-US" sz="1150" dirty="0"/>
          </a:p>
        </p:txBody>
      </p:sp>
      <p:sp>
        <p:nvSpPr>
          <p:cNvPr id="21" name="Text 19"/>
          <p:cNvSpPr/>
          <p:nvPr/>
        </p:nvSpPr>
        <p:spPr>
          <a:xfrm>
            <a:off x="6492240" y="4599432"/>
            <a:ext cx="4892040" cy="237744"/>
          </a:xfrm>
          <a:prstGeom prst="rect">
            <a:avLst/>
          </a:prstGeom>
          <a:noFill/>
          <a:ln/>
        </p:spPr>
        <p:txBody>
          <a:bodyPr wrap="square"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Used in</a:t>
            </a:r>
            <a:endParaRPr lang="en-US" sz="1200" dirty="0"/>
          </a:p>
        </p:txBody>
      </p:sp>
      <p:sp>
        <p:nvSpPr>
          <p:cNvPr id="22" name="Text 20"/>
          <p:cNvSpPr/>
          <p:nvPr/>
        </p:nvSpPr>
        <p:spPr>
          <a:xfrm>
            <a:off x="6583680" y="4855464"/>
            <a:ext cx="4800600" cy="658368"/>
          </a:xfrm>
          <a:prstGeom prst="rect">
            <a:avLst/>
          </a:prstGeom>
          <a:noFill/>
          <a:ln/>
        </p:spPr>
        <p:txBody>
          <a:bodyPr wrap="square" rtlCol="0" anchor="ctr"/>
          <a:lstStyle/>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Students</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Developers</a:t>
            </a:r>
            <a:endParaRPr lang="en-US" sz="1150" dirty="0"/>
          </a:p>
          <a:p>
            <a:pPr marL="342900" indent="-342900">
              <a:lnSpc>
                <a:spcPct val="105000"/>
              </a:lnSpc>
              <a:buSzPct val="100000"/>
              <a:buChar char="•"/>
            </a:pPr>
            <a:r>
              <a:rPr lang="en-US" sz="1150" dirty="0">
                <a:solidFill>
                  <a:srgbClr val="16241C"/>
                </a:solidFill>
                <a:latin typeface="Calibri" pitchFamily="34" charset="0"/>
                <a:ea typeface="Calibri" pitchFamily="34" charset="-122"/>
                <a:cs typeface="Calibri" pitchFamily="34" charset="-120"/>
              </a:rPr>
              <a:t>Cybersecurity learners</a:t>
            </a:r>
            <a:endParaRPr lang="en-US" sz="1150" dirty="0"/>
          </a:p>
        </p:txBody>
      </p:sp>
      <p:sp>
        <p:nvSpPr>
          <p:cNvPr id="23" name="Text 2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4" name="Text 22"/>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VirtualBox</a:t>
            </a:r>
            <a:endParaRPr lang="en-US" sz="3000" dirty="0"/>
          </a:p>
        </p:txBody>
      </p:sp>
      <p:sp>
        <p:nvSpPr>
          <p:cNvPr id="3" name="Text 1"/>
          <p:cNvSpPr/>
          <p:nvPr/>
        </p:nvSpPr>
        <p:spPr>
          <a:xfrm>
            <a:off x="457200" y="960120"/>
            <a:ext cx="11274552" cy="365760"/>
          </a:xfrm>
          <a:prstGeom prst="rect">
            <a:avLst/>
          </a:prstGeom>
          <a:noFill/>
          <a:ln/>
        </p:spPr>
        <p:txBody>
          <a:bodyPr wrap="square" rtlCol="0" anchor="ctr"/>
          <a:lstStyle/>
          <a:p>
            <a:pPr indent="0" marL="0">
              <a:buNone/>
            </a:pPr>
            <a:r>
              <a:rPr lang="en-US" sz="1400" i="1" dirty="0">
                <a:solidFill>
                  <a:srgbClr val="5B6B63"/>
                </a:solidFill>
                <a:latin typeface="Calibri" pitchFamily="34" charset="0"/>
                <a:ea typeface="Calibri" pitchFamily="34" charset="-122"/>
                <a:cs typeface="Calibri" pitchFamily="34" charset="-120"/>
              </a:rPr>
              <a:t>VirtualBox is a free Type 2 Hypervisor developed by Oracle.</a:t>
            </a:r>
            <a:endParaRPr lang="en-US" sz="1400" dirty="0"/>
          </a:p>
        </p:txBody>
      </p:sp>
      <p:sp>
        <p:nvSpPr>
          <p:cNvPr id="4" name="Shape 2"/>
          <p:cNvSpPr/>
          <p:nvPr/>
        </p:nvSpPr>
        <p:spPr>
          <a:xfrm>
            <a:off x="457200" y="2011680"/>
            <a:ext cx="5349240" cy="621792"/>
          </a:xfrm>
          <a:prstGeom prst="roundRect">
            <a:avLst>
              <a:gd name="adj" fmla="val 11765"/>
            </a:avLst>
          </a:prstGeom>
          <a:solidFill>
            <a:srgbClr val="F1F5F2"/>
          </a:solidFill>
          <a:ln/>
        </p:spPr>
      </p:sp>
      <p:sp>
        <p:nvSpPr>
          <p:cNvPr id="5" name="Shape 3"/>
          <p:cNvSpPr/>
          <p:nvPr/>
        </p:nvSpPr>
        <p:spPr>
          <a:xfrm>
            <a:off x="594360" y="2157984"/>
            <a:ext cx="329184" cy="329184"/>
          </a:xfrm>
          <a:prstGeom prst="ellipse">
            <a:avLst/>
          </a:prstGeom>
          <a:solidFill>
            <a:srgbClr val="22C55E"/>
          </a:solidFill>
          <a:ln/>
        </p:spPr>
      </p:sp>
      <p:sp>
        <p:nvSpPr>
          <p:cNvPr id="6" name="Text 4"/>
          <p:cNvSpPr/>
          <p:nvPr/>
        </p:nvSpPr>
        <p:spPr>
          <a:xfrm>
            <a:off x="594360" y="215798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201168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Supports Windows, Linux, and macOS</a:t>
            </a:r>
            <a:endParaRPr lang="en-US" sz="1300" dirty="0"/>
          </a:p>
        </p:txBody>
      </p:sp>
      <p:sp>
        <p:nvSpPr>
          <p:cNvPr id="8" name="Shape 6"/>
          <p:cNvSpPr/>
          <p:nvPr/>
        </p:nvSpPr>
        <p:spPr>
          <a:xfrm>
            <a:off x="6172200" y="2011680"/>
            <a:ext cx="5349240" cy="621792"/>
          </a:xfrm>
          <a:prstGeom prst="roundRect">
            <a:avLst>
              <a:gd name="adj" fmla="val 11765"/>
            </a:avLst>
          </a:prstGeom>
          <a:solidFill>
            <a:srgbClr val="F1F5F2"/>
          </a:solidFill>
          <a:ln/>
        </p:spPr>
      </p:sp>
      <p:sp>
        <p:nvSpPr>
          <p:cNvPr id="9" name="Shape 7"/>
          <p:cNvSpPr/>
          <p:nvPr/>
        </p:nvSpPr>
        <p:spPr>
          <a:xfrm>
            <a:off x="6309360" y="2157984"/>
            <a:ext cx="329184" cy="329184"/>
          </a:xfrm>
          <a:prstGeom prst="ellipse">
            <a:avLst/>
          </a:prstGeom>
          <a:solidFill>
            <a:srgbClr val="22C55E"/>
          </a:solidFill>
          <a:ln/>
        </p:spPr>
      </p:sp>
      <p:sp>
        <p:nvSpPr>
          <p:cNvPr id="10" name="Text 8"/>
          <p:cNvSpPr/>
          <p:nvPr/>
        </p:nvSpPr>
        <p:spPr>
          <a:xfrm>
            <a:off x="6309360" y="215798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6766560" y="201168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Easy to use</a:t>
            </a:r>
            <a:endParaRPr lang="en-US" sz="1300" dirty="0"/>
          </a:p>
        </p:txBody>
      </p:sp>
      <p:sp>
        <p:nvSpPr>
          <p:cNvPr id="12" name="Shape 10"/>
          <p:cNvSpPr/>
          <p:nvPr/>
        </p:nvSpPr>
        <p:spPr>
          <a:xfrm>
            <a:off x="457200" y="2834640"/>
            <a:ext cx="5349240" cy="621792"/>
          </a:xfrm>
          <a:prstGeom prst="roundRect">
            <a:avLst>
              <a:gd name="adj" fmla="val 11765"/>
            </a:avLst>
          </a:prstGeom>
          <a:solidFill>
            <a:srgbClr val="F1F5F2"/>
          </a:solidFill>
          <a:ln/>
        </p:spPr>
      </p:sp>
      <p:sp>
        <p:nvSpPr>
          <p:cNvPr id="13" name="Shape 11"/>
          <p:cNvSpPr/>
          <p:nvPr/>
        </p:nvSpPr>
        <p:spPr>
          <a:xfrm>
            <a:off x="594360" y="2980944"/>
            <a:ext cx="329184" cy="329184"/>
          </a:xfrm>
          <a:prstGeom prst="ellipse">
            <a:avLst/>
          </a:prstGeom>
          <a:solidFill>
            <a:srgbClr val="22C55E"/>
          </a:solidFill>
          <a:ln/>
        </p:spPr>
      </p:sp>
      <p:sp>
        <p:nvSpPr>
          <p:cNvPr id="14" name="Text 12"/>
          <p:cNvSpPr/>
          <p:nvPr/>
        </p:nvSpPr>
        <p:spPr>
          <a:xfrm>
            <a:off x="594360" y="2980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051560" y="283464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Free</a:t>
            </a:r>
            <a:endParaRPr lang="en-US" sz="1300" dirty="0"/>
          </a:p>
        </p:txBody>
      </p:sp>
      <p:sp>
        <p:nvSpPr>
          <p:cNvPr id="16" name="Shape 14"/>
          <p:cNvSpPr/>
          <p:nvPr/>
        </p:nvSpPr>
        <p:spPr>
          <a:xfrm>
            <a:off x="6172200" y="2834640"/>
            <a:ext cx="5349240" cy="621792"/>
          </a:xfrm>
          <a:prstGeom prst="roundRect">
            <a:avLst>
              <a:gd name="adj" fmla="val 11765"/>
            </a:avLst>
          </a:prstGeom>
          <a:solidFill>
            <a:srgbClr val="F1F5F2"/>
          </a:solidFill>
          <a:ln/>
        </p:spPr>
      </p:sp>
      <p:sp>
        <p:nvSpPr>
          <p:cNvPr id="17" name="Shape 15"/>
          <p:cNvSpPr/>
          <p:nvPr/>
        </p:nvSpPr>
        <p:spPr>
          <a:xfrm>
            <a:off x="6309360" y="2980944"/>
            <a:ext cx="329184" cy="329184"/>
          </a:xfrm>
          <a:prstGeom prst="ellipse">
            <a:avLst/>
          </a:prstGeom>
          <a:solidFill>
            <a:srgbClr val="22C55E"/>
          </a:solidFill>
          <a:ln/>
        </p:spPr>
      </p:sp>
      <p:sp>
        <p:nvSpPr>
          <p:cNvPr id="18" name="Text 16"/>
          <p:cNvSpPr/>
          <p:nvPr/>
        </p:nvSpPr>
        <p:spPr>
          <a:xfrm>
            <a:off x="6309360" y="2980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6766560" y="283464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Snapshot support</a:t>
            </a:r>
            <a:endParaRPr lang="en-US" sz="1300" dirty="0"/>
          </a:p>
        </p:txBody>
      </p:sp>
      <p:sp>
        <p:nvSpPr>
          <p:cNvPr id="20" name="Shape 18"/>
          <p:cNvSpPr/>
          <p:nvPr/>
        </p:nvSpPr>
        <p:spPr>
          <a:xfrm>
            <a:off x="457200" y="3657600"/>
            <a:ext cx="5349240" cy="621792"/>
          </a:xfrm>
          <a:prstGeom prst="roundRect">
            <a:avLst>
              <a:gd name="adj" fmla="val 11765"/>
            </a:avLst>
          </a:prstGeom>
          <a:solidFill>
            <a:srgbClr val="F1F5F2"/>
          </a:solidFill>
          <a:ln/>
        </p:spPr>
      </p:sp>
      <p:sp>
        <p:nvSpPr>
          <p:cNvPr id="21" name="Shape 19"/>
          <p:cNvSpPr/>
          <p:nvPr/>
        </p:nvSpPr>
        <p:spPr>
          <a:xfrm>
            <a:off x="594360" y="3803904"/>
            <a:ext cx="329184" cy="329184"/>
          </a:xfrm>
          <a:prstGeom prst="ellipse">
            <a:avLst/>
          </a:prstGeom>
          <a:solidFill>
            <a:srgbClr val="22C55E"/>
          </a:solidFill>
          <a:ln/>
        </p:spPr>
      </p:sp>
      <p:sp>
        <p:nvSpPr>
          <p:cNvPr id="22" name="Text 20"/>
          <p:cNvSpPr/>
          <p:nvPr/>
        </p:nvSpPr>
        <p:spPr>
          <a:xfrm>
            <a:off x="594360" y="380390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051560" y="365760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USB support</a:t>
            </a:r>
            <a:endParaRPr lang="en-US" sz="1300" dirty="0"/>
          </a:p>
        </p:txBody>
      </p:sp>
      <p:sp>
        <p:nvSpPr>
          <p:cNvPr id="24" name="Shape 22"/>
          <p:cNvSpPr/>
          <p:nvPr/>
        </p:nvSpPr>
        <p:spPr>
          <a:xfrm>
            <a:off x="6172200" y="3657600"/>
            <a:ext cx="5349240" cy="621792"/>
          </a:xfrm>
          <a:prstGeom prst="roundRect">
            <a:avLst>
              <a:gd name="adj" fmla="val 11765"/>
            </a:avLst>
          </a:prstGeom>
          <a:solidFill>
            <a:srgbClr val="F1F5F2"/>
          </a:solidFill>
          <a:ln/>
        </p:spPr>
      </p:sp>
      <p:sp>
        <p:nvSpPr>
          <p:cNvPr id="25" name="Shape 23"/>
          <p:cNvSpPr/>
          <p:nvPr/>
        </p:nvSpPr>
        <p:spPr>
          <a:xfrm>
            <a:off x="6309360" y="3803904"/>
            <a:ext cx="329184" cy="329184"/>
          </a:xfrm>
          <a:prstGeom prst="ellipse">
            <a:avLst/>
          </a:prstGeom>
          <a:solidFill>
            <a:srgbClr val="22C55E"/>
          </a:solidFill>
          <a:ln/>
        </p:spPr>
      </p:sp>
      <p:sp>
        <p:nvSpPr>
          <p:cNvPr id="26" name="Text 24"/>
          <p:cNvSpPr/>
          <p:nvPr/>
        </p:nvSpPr>
        <p:spPr>
          <a:xfrm>
            <a:off x="6309360" y="380390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6766560" y="365760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Network configuration</a:t>
            </a:r>
            <a:endParaRPr lang="en-US" sz="1300" dirty="0"/>
          </a:p>
        </p:txBody>
      </p:sp>
      <p:sp>
        <p:nvSpPr>
          <p:cNvPr id="28" name="Shape 26"/>
          <p:cNvSpPr/>
          <p:nvPr/>
        </p:nvSpPr>
        <p:spPr>
          <a:xfrm>
            <a:off x="457200" y="4480560"/>
            <a:ext cx="5349240" cy="621792"/>
          </a:xfrm>
          <a:prstGeom prst="roundRect">
            <a:avLst>
              <a:gd name="adj" fmla="val 11765"/>
            </a:avLst>
          </a:prstGeom>
          <a:solidFill>
            <a:srgbClr val="F1F5F2"/>
          </a:solidFill>
          <a:ln/>
        </p:spPr>
      </p:sp>
      <p:sp>
        <p:nvSpPr>
          <p:cNvPr id="29" name="Shape 27"/>
          <p:cNvSpPr/>
          <p:nvPr/>
        </p:nvSpPr>
        <p:spPr>
          <a:xfrm>
            <a:off x="594360" y="4626864"/>
            <a:ext cx="329184" cy="329184"/>
          </a:xfrm>
          <a:prstGeom prst="ellipse">
            <a:avLst/>
          </a:prstGeom>
          <a:solidFill>
            <a:srgbClr val="22C55E"/>
          </a:solidFill>
          <a:ln/>
        </p:spPr>
      </p:sp>
      <p:sp>
        <p:nvSpPr>
          <p:cNvPr id="30" name="Text 28"/>
          <p:cNvSpPr/>
          <p:nvPr/>
        </p:nvSpPr>
        <p:spPr>
          <a:xfrm>
            <a:off x="594360" y="462686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051560" y="4480560"/>
            <a:ext cx="4617720" cy="621792"/>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Shared folders</a:t>
            </a:r>
            <a:endParaRPr lang="en-US" sz="1300" dirty="0"/>
          </a:p>
        </p:txBody>
      </p:sp>
      <p:sp>
        <p:nvSpPr>
          <p:cNvPr id="32" name="Text 30"/>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33" name="Text 31"/>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Snapshot &amp; Clone</a:t>
            </a:r>
            <a:endParaRPr lang="en-US" sz="3000" dirty="0"/>
          </a:p>
        </p:txBody>
      </p:sp>
      <p:sp>
        <p:nvSpPr>
          <p:cNvPr id="3" name="Shape 1"/>
          <p:cNvSpPr/>
          <p:nvPr/>
        </p:nvSpPr>
        <p:spPr>
          <a:xfrm>
            <a:off x="457200" y="1463040"/>
            <a:ext cx="5303520" cy="4572000"/>
          </a:xfrm>
          <a:prstGeom prst="roundRect">
            <a:avLst>
              <a:gd name="adj" fmla="val 2000"/>
            </a:avLst>
          </a:prstGeom>
          <a:solidFill>
            <a:srgbClr val="F1F5F2"/>
          </a:solidFill>
          <a:ln/>
        </p:spPr>
      </p:sp>
      <p:sp>
        <p:nvSpPr>
          <p:cNvPr id="4" name="Text 2"/>
          <p:cNvSpPr/>
          <p:nvPr/>
        </p:nvSpPr>
        <p:spPr>
          <a:xfrm>
            <a:off x="685800" y="1645920"/>
            <a:ext cx="4846320" cy="365760"/>
          </a:xfrm>
          <a:prstGeom prst="rect">
            <a:avLst/>
          </a:prstGeom>
          <a:noFill/>
          <a:ln/>
        </p:spPr>
        <p:txBody>
          <a:bodyPr wrap="square"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Snapshot</a:t>
            </a:r>
            <a:endParaRPr lang="en-US" sz="1700" dirty="0"/>
          </a:p>
        </p:txBody>
      </p:sp>
      <p:sp>
        <p:nvSpPr>
          <p:cNvPr id="5" name="Text 3"/>
          <p:cNvSpPr/>
          <p:nvPr/>
        </p:nvSpPr>
        <p:spPr>
          <a:xfrm>
            <a:off x="685800" y="2057400"/>
            <a:ext cx="4846320" cy="731520"/>
          </a:xfrm>
          <a:prstGeom prst="rect">
            <a:avLst/>
          </a:prstGeom>
          <a:noFill/>
          <a:ln/>
        </p:spPr>
        <p:txBody>
          <a:bodyPr wrap="square" rtlCol="0" anchor="ctr"/>
          <a:lstStyle/>
          <a:p>
            <a:pPr indent="0" marL="0">
              <a:lnSpc>
                <a:spcPct val="120000"/>
              </a:lnSpc>
              <a:buNone/>
            </a:pPr>
            <a:r>
              <a:rPr lang="en-US" sz="1300" dirty="0">
                <a:solidFill>
                  <a:srgbClr val="16241C"/>
                </a:solidFill>
                <a:latin typeface="Calibri" pitchFamily="34" charset="0"/>
                <a:ea typeface="Calibri" pitchFamily="34" charset="-122"/>
                <a:cs typeface="Calibri" pitchFamily="34" charset="-120"/>
              </a:rPr>
              <a:t>A Snapshot saves the current state of a Virtual Machine. If something goes wrong, you can restore the VM to that saved state.</a:t>
            </a:r>
            <a:endParaRPr lang="en-US" sz="1300" dirty="0"/>
          </a:p>
        </p:txBody>
      </p:sp>
      <p:sp>
        <p:nvSpPr>
          <p:cNvPr id="6" name="Shape 4"/>
          <p:cNvSpPr/>
          <p:nvPr/>
        </p:nvSpPr>
        <p:spPr>
          <a:xfrm>
            <a:off x="914400" y="2971800"/>
            <a:ext cx="3931920" cy="384048"/>
          </a:xfrm>
          <a:prstGeom prst="roundRect">
            <a:avLst>
              <a:gd name="adj" fmla="val 14286"/>
            </a:avLst>
          </a:prstGeom>
          <a:solidFill>
            <a:srgbClr val="16241C"/>
          </a:solidFill>
          <a:ln/>
        </p:spPr>
      </p:sp>
      <p:sp>
        <p:nvSpPr>
          <p:cNvPr id="7" name="Text 5"/>
          <p:cNvSpPr/>
          <p:nvPr/>
        </p:nvSpPr>
        <p:spPr>
          <a:xfrm>
            <a:off x="914400" y="2971800"/>
            <a:ext cx="393192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Install Ubuntu</a:t>
            </a:r>
            <a:endParaRPr lang="en-US" sz="1150" dirty="0"/>
          </a:p>
        </p:txBody>
      </p:sp>
      <p:sp>
        <p:nvSpPr>
          <p:cNvPr id="8" name="Text 6"/>
          <p:cNvSpPr/>
          <p:nvPr/>
        </p:nvSpPr>
        <p:spPr>
          <a:xfrm>
            <a:off x="914400" y="3355848"/>
            <a:ext cx="3931920" cy="164592"/>
          </a:xfrm>
          <a:prstGeom prst="rect">
            <a:avLst/>
          </a:prstGeom>
          <a:noFill/>
          <a:ln/>
        </p:spPr>
        <p:txBody>
          <a:bodyPr wrap="square" rtlCol="0" anchor="ctr"/>
          <a:lstStyle/>
          <a:p>
            <a:pPr algn="ctr" indent="0" marL="0">
              <a:buNone/>
            </a:pPr>
            <a:r>
              <a:rPr lang="en-US" sz="1200" dirty="0">
                <a:solidFill>
                  <a:srgbClr val="16A34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914400" y="3520440"/>
            <a:ext cx="3931920" cy="384048"/>
          </a:xfrm>
          <a:prstGeom prst="roundRect">
            <a:avLst>
              <a:gd name="adj" fmla="val 14286"/>
            </a:avLst>
          </a:prstGeom>
          <a:solidFill>
            <a:srgbClr val="16241C"/>
          </a:solidFill>
          <a:ln/>
        </p:spPr>
      </p:sp>
      <p:sp>
        <p:nvSpPr>
          <p:cNvPr id="10" name="Text 8"/>
          <p:cNvSpPr/>
          <p:nvPr/>
        </p:nvSpPr>
        <p:spPr>
          <a:xfrm>
            <a:off x="914400" y="3520440"/>
            <a:ext cx="393192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Take Snapshot</a:t>
            </a:r>
            <a:endParaRPr lang="en-US" sz="1150" dirty="0"/>
          </a:p>
        </p:txBody>
      </p:sp>
      <p:sp>
        <p:nvSpPr>
          <p:cNvPr id="11" name="Text 9"/>
          <p:cNvSpPr/>
          <p:nvPr/>
        </p:nvSpPr>
        <p:spPr>
          <a:xfrm>
            <a:off x="914400" y="3904488"/>
            <a:ext cx="3931920" cy="164592"/>
          </a:xfrm>
          <a:prstGeom prst="rect">
            <a:avLst/>
          </a:prstGeom>
          <a:noFill/>
          <a:ln/>
        </p:spPr>
        <p:txBody>
          <a:bodyPr wrap="square" rtlCol="0" anchor="ctr"/>
          <a:lstStyle/>
          <a:p>
            <a:pPr algn="ctr" indent="0" marL="0">
              <a:buNone/>
            </a:pPr>
            <a:r>
              <a:rPr lang="en-US" sz="1200" dirty="0">
                <a:solidFill>
                  <a:srgbClr val="16A34A"/>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914400" y="4069080"/>
            <a:ext cx="3931920" cy="384048"/>
          </a:xfrm>
          <a:prstGeom prst="roundRect">
            <a:avLst>
              <a:gd name="adj" fmla="val 14286"/>
            </a:avLst>
          </a:prstGeom>
          <a:solidFill>
            <a:srgbClr val="16241C"/>
          </a:solidFill>
          <a:ln/>
        </p:spPr>
      </p:sp>
      <p:sp>
        <p:nvSpPr>
          <p:cNvPr id="13" name="Text 11"/>
          <p:cNvSpPr/>
          <p:nvPr/>
        </p:nvSpPr>
        <p:spPr>
          <a:xfrm>
            <a:off x="914400" y="4069080"/>
            <a:ext cx="393192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Install software</a:t>
            </a:r>
            <a:endParaRPr lang="en-US" sz="1150" dirty="0"/>
          </a:p>
        </p:txBody>
      </p:sp>
      <p:sp>
        <p:nvSpPr>
          <p:cNvPr id="14" name="Text 12"/>
          <p:cNvSpPr/>
          <p:nvPr/>
        </p:nvSpPr>
        <p:spPr>
          <a:xfrm>
            <a:off x="914400" y="4453128"/>
            <a:ext cx="3931920" cy="164592"/>
          </a:xfrm>
          <a:prstGeom prst="rect">
            <a:avLst/>
          </a:prstGeom>
          <a:noFill/>
          <a:ln/>
        </p:spPr>
        <p:txBody>
          <a:bodyPr wrap="square" rtlCol="0" anchor="ctr"/>
          <a:lstStyle/>
          <a:p>
            <a:pPr algn="ctr" indent="0" marL="0">
              <a:buNone/>
            </a:pPr>
            <a:r>
              <a:rPr lang="en-US" sz="1200" dirty="0">
                <a:solidFill>
                  <a:srgbClr val="16A34A"/>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914400" y="4617720"/>
            <a:ext cx="3931920" cy="384048"/>
          </a:xfrm>
          <a:prstGeom prst="roundRect">
            <a:avLst>
              <a:gd name="adj" fmla="val 14286"/>
            </a:avLst>
          </a:prstGeom>
          <a:solidFill>
            <a:srgbClr val="16241C"/>
          </a:solidFill>
          <a:ln/>
        </p:spPr>
      </p:sp>
      <p:sp>
        <p:nvSpPr>
          <p:cNvPr id="16" name="Text 14"/>
          <p:cNvSpPr/>
          <p:nvPr/>
        </p:nvSpPr>
        <p:spPr>
          <a:xfrm>
            <a:off x="914400" y="4617720"/>
            <a:ext cx="393192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Software breaks system</a:t>
            </a:r>
            <a:endParaRPr lang="en-US" sz="1150" dirty="0"/>
          </a:p>
        </p:txBody>
      </p:sp>
      <p:sp>
        <p:nvSpPr>
          <p:cNvPr id="17" name="Text 15"/>
          <p:cNvSpPr/>
          <p:nvPr/>
        </p:nvSpPr>
        <p:spPr>
          <a:xfrm>
            <a:off x="914400" y="5001768"/>
            <a:ext cx="3931920" cy="164592"/>
          </a:xfrm>
          <a:prstGeom prst="rect">
            <a:avLst/>
          </a:prstGeom>
          <a:noFill/>
          <a:ln/>
        </p:spPr>
        <p:txBody>
          <a:bodyPr wrap="square" rtlCol="0" anchor="ctr"/>
          <a:lstStyle/>
          <a:p>
            <a:pPr algn="ctr" indent="0" marL="0">
              <a:buNone/>
            </a:pPr>
            <a:r>
              <a:rPr lang="en-US" sz="1200" dirty="0">
                <a:solidFill>
                  <a:srgbClr val="16A34A"/>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914400" y="5166360"/>
            <a:ext cx="3931920" cy="384048"/>
          </a:xfrm>
          <a:prstGeom prst="roundRect">
            <a:avLst>
              <a:gd name="adj" fmla="val 14286"/>
            </a:avLst>
          </a:prstGeom>
          <a:solidFill>
            <a:srgbClr val="16241C"/>
          </a:solidFill>
          <a:ln/>
        </p:spPr>
      </p:sp>
      <p:sp>
        <p:nvSpPr>
          <p:cNvPr id="19" name="Text 17"/>
          <p:cNvSpPr/>
          <p:nvPr/>
        </p:nvSpPr>
        <p:spPr>
          <a:xfrm>
            <a:off x="914400" y="5166360"/>
            <a:ext cx="393192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Restore Snapshot</a:t>
            </a:r>
            <a:endParaRPr lang="en-US" sz="1150" dirty="0"/>
          </a:p>
        </p:txBody>
      </p:sp>
      <p:sp>
        <p:nvSpPr>
          <p:cNvPr id="20" name="Text 18"/>
          <p:cNvSpPr/>
          <p:nvPr/>
        </p:nvSpPr>
        <p:spPr>
          <a:xfrm>
            <a:off x="685800" y="5715000"/>
            <a:ext cx="4846320" cy="274320"/>
          </a:xfrm>
          <a:prstGeom prst="rect">
            <a:avLst/>
          </a:prstGeom>
          <a:noFill/>
          <a:ln/>
        </p:spPr>
        <p:txBody>
          <a:bodyPr wrap="square" rtlCol="0" anchor="ctr"/>
          <a:lstStyle/>
          <a:p>
            <a:pPr indent="0" marL="0">
              <a:buNone/>
            </a:pPr>
            <a:r>
              <a:rPr lang="en-US" sz="1150" i="1" dirty="0">
                <a:solidFill>
                  <a:srgbClr val="5B6B63"/>
                </a:solidFill>
                <a:latin typeface="Calibri" pitchFamily="34" charset="0"/>
                <a:ea typeface="Calibri" pitchFamily="34" charset="-122"/>
                <a:cs typeface="Calibri" pitchFamily="34" charset="-120"/>
              </a:rPr>
              <a:t>Everything returns to the previous state.</a:t>
            </a:r>
            <a:endParaRPr lang="en-US" sz="1150" dirty="0"/>
          </a:p>
        </p:txBody>
      </p:sp>
      <p:sp>
        <p:nvSpPr>
          <p:cNvPr id="21" name="Shape 19"/>
          <p:cNvSpPr/>
          <p:nvPr/>
        </p:nvSpPr>
        <p:spPr>
          <a:xfrm>
            <a:off x="6035040" y="1463040"/>
            <a:ext cx="5239512" cy="4572000"/>
          </a:xfrm>
          <a:prstGeom prst="roundRect">
            <a:avLst>
              <a:gd name="adj" fmla="val 2000"/>
            </a:avLst>
          </a:prstGeom>
          <a:solidFill>
            <a:srgbClr val="16241C"/>
          </a:solidFill>
          <a:ln/>
        </p:spPr>
      </p:sp>
      <p:sp>
        <p:nvSpPr>
          <p:cNvPr id="22" name="Text 20"/>
          <p:cNvSpPr/>
          <p:nvPr/>
        </p:nvSpPr>
        <p:spPr>
          <a:xfrm>
            <a:off x="6263640" y="1645920"/>
            <a:ext cx="4754880" cy="365760"/>
          </a:xfrm>
          <a:prstGeom prst="rect">
            <a:avLst/>
          </a:prstGeom>
          <a:noFill/>
          <a:ln/>
        </p:spPr>
        <p:txBody>
          <a:bodyPr wrap="square" rtlCol="0" anchor="ctr"/>
          <a:lstStyle/>
          <a:p>
            <a:pPr indent="0" marL="0">
              <a:buNone/>
            </a:pPr>
            <a:r>
              <a:rPr lang="en-US" sz="1700" b="1" dirty="0">
                <a:solidFill>
                  <a:srgbClr val="22C55E"/>
                </a:solidFill>
                <a:latin typeface="Cambria" pitchFamily="34" charset="0"/>
                <a:ea typeface="Cambria" pitchFamily="34" charset="-122"/>
                <a:cs typeface="Cambria" pitchFamily="34" charset="-120"/>
              </a:rPr>
              <a:t>Clone</a:t>
            </a:r>
            <a:endParaRPr lang="en-US" sz="1700" dirty="0"/>
          </a:p>
        </p:txBody>
      </p:sp>
      <p:sp>
        <p:nvSpPr>
          <p:cNvPr id="23" name="Text 21"/>
          <p:cNvSpPr/>
          <p:nvPr/>
        </p:nvSpPr>
        <p:spPr>
          <a:xfrm>
            <a:off x="6263640" y="2103120"/>
            <a:ext cx="4754880" cy="2286000"/>
          </a:xfrm>
          <a:prstGeom prst="rect">
            <a:avLst/>
          </a:prstGeom>
          <a:noFill/>
          <a:ln/>
        </p:spPr>
        <p:txBody>
          <a:bodyPr wrap="square" rtlCol="0" anchor="ctr"/>
          <a:lstStyle/>
          <a:p>
            <a:pPr indent="0" marL="0">
              <a:lnSpc>
                <a:spcPct val="130000"/>
              </a:lnSpc>
              <a:buNone/>
            </a:pPr>
            <a:r>
              <a:rPr lang="en-US" sz="1400" dirty="0">
                <a:solidFill>
                  <a:srgbClr val="E4EEE8"/>
                </a:solidFill>
                <a:latin typeface="Calibri" pitchFamily="34" charset="0"/>
                <a:ea typeface="Calibri" pitchFamily="34" charset="-122"/>
                <a:cs typeface="Calibri" pitchFamily="34" charset="-120"/>
              </a:rPr>
              <a:t>A Clone creates an exact copy of an existing Virtual Machine.</a:t>
            </a:r>
            <a:endParaRPr lang="en-US" sz="1400" dirty="0"/>
          </a:p>
          <a:p>
            <a:pPr indent="0" marL="0">
              <a:lnSpc>
                <a:spcPct val="130000"/>
              </a:lnSpc>
              <a:buNone/>
            </a:pPr>
            <a:endParaRPr lang="en-US" sz="1400" dirty="0"/>
          </a:p>
          <a:p>
            <a:pPr indent="0" marL="0">
              <a:lnSpc>
                <a:spcPct val="130000"/>
              </a:lnSpc>
              <a:buNone/>
            </a:pPr>
            <a:r>
              <a:rPr lang="en-US" sz="1400" dirty="0">
                <a:solidFill>
                  <a:srgbClr val="E4EEE8"/>
                </a:solidFill>
                <a:latin typeface="Calibri" pitchFamily="34" charset="0"/>
                <a:ea typeface="Calibri" pitchFamily="34" charset="-122"/>
                <a:cs typeface="Calibri" pitchFamily="34" charset="-120"/>
              </a:rPr>
              <a:t>Useful when testing different configurations without affecting the original VM.</a:t>
            </a:r>
            <a:endParaRPr lang="en-US" sz="1400" dirty="0"/>
          </a:p>
        </p:txBody>
      </p:sp>
      <p:sp>
        <p:nvSpPr>
          <p:cNvPr id="24" name="Text 22"/>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25" name="Text 23"/>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Advantages &amp; Disadvantages of Virtual Machines</a:t>
            </a:r>
            <a:endParaRPr lang="en-US" sz="3000" dirty="0"/>
          </a:p>
        </p:txBody>
      </p:sp>
      <p:sp>
        <p:nvSpPr>
          <p:cNvPr id="3" name="Shape 1"/>
          <p:cNvSpPr/>
          <p:nvPr/>
        </p:nvSpPr>
        <p:spPr>
          <a:xfrm>
            <a:off x="457200" y="1554480"/>
            <a:ext cx="5349240" cy="4480560"/>
          </a:xfrm>
          <a:prstGeom prst="roundRect">
            <a:avLst>
              <a:gd name="adj" fmla="val 2041"/>
            </a:avLst>
          </a:prstGeom>
          <a:solidFill>
            <a:srgbClr val="F1F5F2"/>
          </a:solidFill>
          <a:ln/>
        </p:spPr>
      </p:sp>
      <p:sp>
        <p:nvSpPr>
          <p:cNvPr id="4" name="Text 2"/>
          <p:cNvSpPr/>
          <p:nvPr/>
        </p:nvSpPr>
        <p:spPr>
          <a:xfrm>
            <a:off x="685800" y="1737360"/>
            <a:ext cx="4846320" cy="365760"/>
          </a:xfrm>
          <a:prstGeom prst="rect">
            <a:avLst/>
          </a:prstGeom>
          <a:noFill/>
          <a:ln/>
        </p:spPr>
        <p:txBody>
          <a:bodyPr wrap="square"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Advantages</a:t>
            </a:r>
            <a:endParaRPr lang="en-US" sz="1700" dirty="0"/>
          </a:p>
        </p:txBody>
      </p:sp>
      <p:sp>
        <p:nvSpPr>
          <p:cNvPr id="5" name="Text 3"/>
          <p:cNvSpPr/>
          <p:nvPr/>
        </p:nvSpPr>
        <p:spPr>
          <a:xfrm>
            <a:off x="777240" y="2194560"/>
            <a:ext cx="4709160" cy="3566160"/>
          </a:xfrm>
          <a:prstGeom prst="rect">
            <a:avLst/>
          </a:prstGeom>
          <a:noFill/>
          <a:ln/>
        </p:spPr>
        <p:txBody>
          <a:bodyPr wrap="square" rtlCol="0" anchor="ctr"/>
          <a:lstStyle/>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Safe environment</a:t>
            </a:r>
            <a:endParaRPr lang="en-US" sz="1350" dirty="0"/>
          </a:p>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Cost-effective</a:t>
            </a:r>
            <a:endParaRPr lang="en-US" sz="1350" dirty="0"/>
          </a:p>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Easy backup</a:t>
            </a:r>
            <a:endParaRPr lang="en-US" sz="1350" dirty="0"/>
          </a:p>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Supports multiple operating systems</a:t>
            </a:r>
            <a:endParaRPr lang="en-US" sz="1350" dirty="0"/>
          </a:p>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Good for labs</a:t>
            </a:r>
            <a:endParaRPr lang="en-US" sz="1350" dirty="0"/>
          </a:p>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Malware testing</a:t>
            </a:r>
            <a:endParaRPr lang="en-US" sz="1350" dirty="0"/>
          </a:p>
          <a:p>
            <a:pPr marL="342900" indent="-342900">
              <a:lnSpc>
                <a:spcPct val="130000"/>
              </a:lnSpc>
              <a:buSzPct val="100000"/>
              <a:buChar char="✓"/>
            </a:pPr>
            <a:r>
              <a:rPr lang="en-US" sz="1350" dirty="0">
                <a:solidFill>
                  <a:srgbClr val="16241C"/>
                </a:solidFill>
                <a:latin typeface="Calibri" pitchFamily="34" charset="0"/>
                <a:ea typeface="Calibri" pitchFamily="34" charset="-122"/>
                <a:cs typeface="Calibri" pitchFamily="34" charset="-120"/>
              </a:rPr>
              <a:t>Easy recovery</a:t>
            </a:r>
            <a:endParaRPr lang="en-US" sz="1350" dirty="0"/>
          </a:p>
        </p:txBody>
      </p:sp>
      <p:sp>
        <p:nvSpPr>
          <p:cNvPr id="6" name="Shape 4"/>
          <p:cNvSpPr/>
          <p:nvPr/>
        </p:nvSpPr>
        <p:spPr>
          <a:xfrm>
            <a:off x="6080760" y="1554480"/>
            <a:ext cx="5193792" cy="4480560"/>
          </a:xfrm>
          <a:prstGeom prst="roundRect">
            <a:avLst>
              <a:gd name="adj" fmla="val 2041"/>
            </a:avLst>
          </a:prstGeom>
          <a:solidFill>
            <a:srgbClr val="16241C"/>
          </a:solidFill>
          <a:ln/>
        </p:spPr>
      </p:sp>
      <p:sp>
        <p:nvSpPr>
          <p:cNvPr id="7" name="Text 5"/>
          <p:cNvSpPr/>
          <p:nvPr/>
        </p:nvSpPr>
        <p:spPr>
          <a:xfrm>
            <a:off x="6309360" y="1737360"/>
            <a:ext cx="4754880" cy="365760"/>
          </a:xfrm>
          <a:prstGeom prst="rect">
            <a:avLst/>
          </a:prstGeom>
          <a:noFill/>
          <a:ln/>
        </p:spPr>
        <p:txBody>
          <a:bodyPr wrap="square" rtlCol="0" anchor="ctr"/>
          <a:lstStyle/>
          <a:p>
            <a:pPr indent="0" marL="0">
              <a:buNone/>
            </a:pPr>
            <a:r>
              <a:rPr lang="en-US" sz="1700" b="1" dirty="0">
                <a:solidFill>
                  <a:srgbClr val="22C55E"/>
                </a:solidFill>
                <a:latin typeface="Cambria" pitchFamily="34" charset="0"/>
                <a:ea typeface="Cambria" pitchFamily="34" charset="-122"/>
                <a:cs typeface="Cambria" pitchFamily="34" charset="-120"/>
              </a:rPr>
              <a:t>Disadvantages</a:t>
            </a:r>
            <a:endParaRPr lang="en-US" sz="1700" dirty="0"/>
          </a:p>
        </p:txBody>
      </p:sp>
      <p:sp>
        <p:nvSpPr>
          <p:cNvPr id="8" name="Text 6"/>
          <p:cNvSpPr/>
          <p:nvPr/>
        </p:nvSpPr>
        <p:spPr>
          <a:xfrm>
            <a:off x="6400800" y="2194560"/>
            <a:ext cx="4572000" cy="2286000"/>
          </a:xfrm>
          <a:prstGeom prst="rect">
            <a:avLst/>
          </a:prstGeom>
          <a:noFill/>
          <a:ln/>
        </p:spPr>
        <p:txBody>
          <a:bodyPr wrap="square" rtlCol="0" anchor="ctr"/>
          <a:lstStyle/>
          <a:p>
            <a:pPr marL="342900" indent="-342900">
              <a:lnSpc>
                <a:spcPct val="130000"/>
              </a:lnSpc>
              <a:buSzPct val="100000"/>
              <a:buChar char="✗"/>
            </a:pPr>
            <a:r>
              <a:rPr lang="en-US" sz="1350" dirty="0">
                <a:solidFill>
                  <a:srgbClr val="FFFFFF"/>
                </a:solidFill>
                <a:latin typeface="Calibri" pitchFamily="34" charset="0"/>
                <a:ea typeface="Calibri" pitchFamily="34" charset="-122"/>
                <a:cs typeface="Calibri" pitchFamily="34" charset="-120"/>
              </a:rPr>
              <a:t>Slower than physical computers</a:t>
            </a:r>
            <a:endParaRPr lang="en-US" sz="1350" dirty="0"/>
          </a:p>
          <a:p>
            <a:pPr marL="342900" indent="-342900">
              <a:lnSpc>
                <a:spcPct val="130000"/>
              </a:lnSpc>
              <a:buSzPct val="100000"/>
              <a:buChar char="✗"/>
            </a:pPr>
            <a:r>
              <a:rPr lang="en-US" sz="1350" dirty="0">
                <a:solidFill>
                  <a:srgbClr val="FFFFFF"/>
                </a:solidFill>
                <a:latin typeface="Calibri" pitchFamily="34" charset="0"/>
                <a:ea typeface="Calibri" pitchFamily="34" charset="-122"/>
                <a:cs typeface="Calibri" pitchFamily="34" charset="-120"/>
              </a:rPr>
              <a:t>Requires more RAM</a:t>
            </a:r>
            <a:endParaRPr lang="en-US" sz="1350" dirty="0"/>
          </a:p>
          <a:p>
            <a:pPr marL="342900" indent="-342900">
              <a:lnSpc>
                <a:spcPct val="130000"/>
              </a:lnSpc>
              <a:buSzPct val="100000"/>
              <a:buChar char="✗"/>
            </a:pPr>
            <a:r>
              <a:rPr lang="en-US" sz="1350" dirty="0">
                <a:solidFill>
                  <a:srgbClr val="FFFFFF"/>
                </a:solidFill>
                <a:latin typeface="Calibri" pitchFamily="34" charset="0"/>
                <a:ea typeface="Calibri" pitchFamily="34" charset="-122"/>
                <a:cs typeface="Calibri" pitchFamily="34" charset="-120"/>
              </a:rPr>
              <a:t>Requires more storage</a:t>
            </a:r>
            <a:endParaRPr lang="en-US" sz="1350" dirty="0"/>
          </a:p>
          <a:p>
            <a:pPr marL="342900" indent="-342900">
              <a:lnSpc>
                <a:spcPct val="130000"/>
              </a:lnSpc>
              <a:buSzPct val="100000"/>
              <a:buChar char="✗"/>
            </a:pPr>
            <a:r>
              <a:rPr lang="en-US" sz="1350" dirty="0">
                <a:solidFill>
                  <a:srgbClr val="FFFFFF"/>
                </a:solidFill>
                <a:latin typeface="Calibri" pitchFamily="34" charset="0"/>
                <a:ea typeface="Calibri" pitchFamily="34" charset="-122"/>
                <a:cs typeface="Calibri" pitchFamily="34" charset="-120"/>
              </a:rPr>
              <a:t>Heavy applications may run slowly</a:t>
            </a:r>
            <a:endParaRPr lang="en-US" sz="1350" dirty="0"/>
          </a:p>
        </p:txBody>
      </p:sp>
      <p:sp>
        <p:nvSpPr>
          <p:cNvPr id="9" name="Text 7"/>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10" name="Text 8"/>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Linux File System</a:t>
            </a:r>
            <a:endParaRPr lang="en-US" sz="3000" dirty="0"/>
          </a:p>
        </p:txBody>
      </p:sp>
      <p:sp>
        <p:nvSpPr>
          <p:cNvPr id="3" name="Text 1"/>
          <p:cNvSpPr/>
          <p:nvPr/>
        </p:nvSpPr>
        <p:spPr>
          <a:xfrm>
            <a:off x="457200" y="1371600"/>
            <a:ext cx="5120640" cy="1005840"/>
          </a:xfrm>
          <a:prstGeom prst="rect">
            <a:avLst/>
          </a:prstGeom>
          <a:noFill/>
          <a:ln/>
        </p:spPr>
        <p:txBody>
          <a:bodyPr wrap="square" rtlCol="0" anchor="ctr"/>
          <a:lstStyle/>
          <a:p>
            <a:pPr indent="0" marL="0">
              <a:lnSpc>
                <a:spcPct val="125000"/>
              </a:lnSpc>
              <a:buNone/>
            </a:pPr>
            <a:r>
              <a:rPr lang="en-US" sz="1400" dirty="0">
                <a:solidFill>
                  <a:srgbClr val="16241C"/>
                </a:solidFill>
                <a:latin typeface="Calibri" pitchFamily="34" charset="0"/>
                <a:ea typeface="Calibri" pitchFamily="34" charset="-122"/>
                <a:cs typeface="Calibri" pitchFamily="34" charset="-120"/>
              </a:rPr>
              <a:t>Everything in Linux is treated as a file. Unlike Windows, Linux uses a single directory structure starting from the Root directory.</a:t>
            </a:r>
            <a:endParaRPr lang="en-US" sz="1400" dirty="0"/>
          </a:p>
        </p:txBody>
      </p:sp>
      <p:sp>
        <p:nvSpPr>
          <p:cNvPr id="4" name="Shape 2"/>
          <p:cNvSpPr/>
          <p:nvPr/>
        </p:nvSpPr>
        <p:spPr>
          <a:xfrm>
            <a:off x="457200" y="2514600"/>
            <a:ext cx="5120640" cy="1280160"/>
          </a:xfrm>
          <a:prstGeom prst="roundRect">
            <a:avLst>
              <a:gd name="adj" fmla="val 7143"/>
            </a:avLst>
          </a:prstGeom>
          <a:solidFill>
            <a:srgbClr val="16241C"/>
          </a:solidFill>
          <a:ln/>
        </p:spPr>
      </p:sp>
      <p:sp>
        <p:nvSpPr>
          <p:cNvPr id="5" name="Text 3"/>
          <p:cNvSpPr/>
          <p:nvPr/>
        </p:nvSpPr>
        <p:spPr>
          <a:xfrm>
            <a:off x="685800" y="2651760"/>
            <a:ext cx="4663440" cy="365760"/>
          </a:xfrm>
          <a:prstGeom prst="rect">
            <a:avLst/>
          </a:prstGeom>
          <a:noFill/>
          <a:ln/>
        </p:spPr>
        <p:txBody>
          <a:bodyPr wrap="square" rtlCol="0" anchor="ctr"/>
          <a:lstStyle/>
          <a:p>
            <a:pPr indent="0" marL="0">
              <a:buNone/>
            </a:pPr>
            <a:r>
              <a:rPr lang="en-US" sz="1600" b="1" dirty="0">
                <a:solidFill>
                  <a:srgbClr val="22C55E"/>
                </a:solidFill>
                <a:latin typeface="Courier New" pitchFamily="34" charset="0"/>
                <a:ea typeface="Courier New" pitchFamily="34" charset="-122"/>
                <a:cs typeface="Courier New" pitchFamily="34" charset="-120"/>
              </a:rPr>
              <a:t>Root Directory:  /</a:t>
            </a:r>
            <a:endParaRPr lang="en-US" sz="1600" dirty="0"/>
          </a:p>
        </p:txBody>
      </p:sp>
      <p:sp>
        <p:nvSpPr>
          <p:cNvPr id="6" name="Text 4"/>
          <p:cNvSpPr/>
          <p:nvPr/>
        </p:nvSpPr>
        <p:spPr>
          <a:xfrm>
            <a:off x="685800" y="3063240"/>
            <a:ext cx="4663440" cy="640080"/>
          </a:xfrm>
          <a:prstGeom prst="rect">
            <a:avLst/>
          </a:prstGeom>
          <a:noFill/>
          <a:ln/>
        </p:spPr>
        <p:txBody>
          <a:bodyPr wrap="square" rtlCol="0" anchor="ctr"/>
          <a:lstStyle/>
          <a:p>
            <a:pPr indent="0" marL="0">
              <a:buNone/>
            </a:pPr>
            <a:r>
              <a:rPr lang="en-US" sz="1250" dirty="0">
                <a:solidFill>
                  <a:srgbClr val="D5E8DC"/>
                </a:solidFill>
                <a:latin typeface="Calibri" pitchFamily="34" charset="0"/>
                <a:ea typeface="Calibri" pitchFamily="34" charset="-122"/>
                <a:cs typeface="Calibri" pitchFamily="34" charset="-120"/>
              </a:rPr>
              <a:t>This is the top-level directory of Linux. All other directories are inside it.</a:t>
            </a:r>
            <a:endParaRPr lang="en-US" sz="1250" dirty="0"/>
          </a:p>
        </p:txBody>
      </p:sp>
      <p:sp>
        <p:nvSpPr>
          <p:cNvPr id="7" name="Shape 5"/>
          <p:cNvSpPr/>
          <p:nvPr/>
        </p:nvSpPr>
        <p:spPr>
          <a:xfrm>
            <a:off x="6217920" y="1371600"/>
            <a:ext cx="5486400" cy="4251960"/>
          </a:xfrm>
          <a:prstGeom prst="roundRect">
            <a:avLst>
              <a:gd name="adj" fmla="val 2151"/>
            </a:avLst>
          </a:prstGeom>
          <a:solidFill>
            <a:srgbClr val="0D1912"/>
          </a:solidFill>
          <a:ln/>
        </p:spPr>
      </p:sp>
      <p:sp>
        <p:nvSpPr>
          <p:cNvPr id="8" name="Text 6"/>
          <p:cNvSpPr/>
          <p:nvPr/>
        </p:nvSpPr>
        <p:spPr>
          <a:xfrm>
            <a:off x="6446520" y="1600200"/>
            <a:ext cx="5029200" cy="3749040"/>
          </a:xfrm>
          <a:prstGeom prst="rect">
            <a:avLst/>
          </a:prstGeom>
          <a:noFill/>
          <a:ln/>
        </p:spPr>
        <p:txBody>
          <a:bodyPr wrap="square" rtlCol="0" anchor="ctr"/>
          <a:lstStyle/>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a:t>
            </a:r>
            <a:endParaRPr lang="en-US" sz="1250" dirty="0"/>
          </a:p>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 bin       ├── media     ├── sbin</a:t>
            </a:r>
            <a:endParaRPr lang="en-US" sz="1250" dirty="0"/>
          </a:p>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 boot      ├── mnt       ├── srv</a:t>
            </a:r>
            <a:endParaRPr lang="en-US" sz="1250" dirty="0"/>
          </a:p>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 dev       ├── opt       ├── sys</a:t>
            </a:r>
            <a:endParaRPr lang="en-US" sz="1250" dirty="0"/>
          </a:p>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 etc       ├── proc      ├── tmp</a:t>
            </a:r>
            <a:endParaRPr lang="en-US" sz="1250" dirty="0"/>
          </a:p>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 home      ├── root      ├── usr</a:t>
            </a:r>
            <a:endParaRPr lang="en-US" sz="1250" dirty="0"/>
          </a:p>
          <a:p>
            <a:pPr indent="0" marL="0">
              <a:lnSpc>
                <a:spcPct val="135000"/>
              </a:lnSpc>
              <a:buNone/>
            </a:pPr>
            <a:r>
              <a:rPr lang="en-US" sz="1250" dirty="0">
                <a:solidFill>
                  <a:srgbClr val="7FEBA6"/>
                </a:solidFill>
                <a:latin typeface="Courier New" pitchFamily="34" charset="0"/>
                <a:ea typeface="Courier New" pitchFamily="34" charset="-122"/>
                <a:cs typeface="Courier New" pitchFamily="34" charset="-120"/>
              </a:rPr>
              <a:t>├── lib       ├── run       └── var</a:t>
            </a:r>
            <a:endParaRPr lang="en-US" sz="1250" dirty="0"/>
          </a:p>
        </p:txBody>
      </p:sp>
      <p:sp>
        <p:nvSpPr>
          <p:cNvPr id="9" name="Text 7"/>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10" name="Text 8"/>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Important Linux Directories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5029200"/>
        </p:xfrm>
        <a:graphic>
          <a:graphicData uri="http://schemas.openxmlformats.org/drawingml/2006/table">
            <a:tbl>
              <a:tblPr/>
              <a:tblGrid>
                <a:gridCol w="1828800"/>
                <a:gridCol w="9445752"/>
              </a:tblGrid>
              <a:tr h="295835">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Directory</a:t>
                      </a:r>
                      <a:endParaRPr lang="en-US" sz="11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16241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16241C"/>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Root directory. Contains everything.</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/home</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Stores user files. Example: /home/hamida</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/root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Home directory of the root (administrator) user.</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/etc</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System configuration files (network, password, user config).</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/bin</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Essential commands: ls, cp, mv, cat, pwd</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/usr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Contains installed software and applications.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/var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Frequently changing data: log files, cache, mail, databases.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/tmp</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Temporary files. May be deleted after reboot.</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/boot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Files needed to start Linux.</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/dev</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Device files: hard disk, USB, keyboard, mouse.</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/proc</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Information about running processes and system resources.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/mnt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Used to temporarily mount drives.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/media</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Used for USB drives and CDs.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/opt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Stores optional third-party software.</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/srv</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Stores data for services like web servers.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295835">
                <a:tc>
                  <a:txBody>
                    <a:bodyPr/>
                    <a:lstStyle/>
                    <a:p>
                      <a:pPr indent="0" marL="0">
                        <a:buNone/>
                      </a:pPr>
                      <a:r>
                        <a:rPr lang="en-US" sz="1100" b="1" dirty="0">
                          <a:solidFill>
                            <a:srgbClr val="16A34A"/>
                          </a:solidFill>
                          <a:latin typeface="Courier New" pitchFamily="34" charset="0"/>
                          <a:ea typeface="Courier New" pitchFamily="34" charset="-122"/>
                          <a:cs typeface="Courier New" pitchFamily="34" charset="-120"/>
                        </a:rPr>
                        <a:t>/lib</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050" dirty="0">
                          <a:solidFill>
                            <a:srgbClr val="16241C"/>
                          </a:solidFill>
                          <a:latin typeface="Calibri" pitchFamily="34" charset="0"/>
                          <a:ea typeface="Calibri" pitchFamily="34" charset="-122"/>
                          <a:cs typeface="Calibri" pitchFamily="34" charset="-120"/>
                        </a:rPr>
                        <a:t>Contains important system libraries.</a:t>
                      </a:r>
                      <a:endParaRPr lang="en-US" sz="1050" dirty="0">
                        <a:latin typeface="Calibri" charset="0"/>
                        <a:ea typeface="Calibri" charset="0"/>
                        <a:cs typeface="Calibri" charset="0"/>
                      </a:endParaRPr>
                    </a:p>
                  </a:txBody>
                  <a:tcPr marL="91440" marR="91440"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bl>
          </a:graphicData>
        </a:graphic>
      </p:graphicFrame>
      <p:sp>
        <p:nvSpPr>
          <p:cNvPr id="4" name="Text 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5" name="Text 2"/>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Basic Linux Navigation Commands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035040" cy="4846320"/>
        </p:xfrm>
        <a:graphic>
          <a:graphicData uri="http://schemas.openxmlformats.org/drawingml/2006/table">
            <a:tbl>
              <a:tblPr/>
              <a:tblGrid>
                <a:gridCol w="1463040"/>
                <a:gridCol w="4572000"/>
              </a:tblGrid>
              <a:tr h="440575">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Command</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16241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16241C"/>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pwd</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Shows the current directory.</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ls</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Lists files and folders.</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ls -l</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Long listing.</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ls -a</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Shows hidden files.</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cd</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Change directory.</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cd ..</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Go back one directory.</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cd /</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Go to Root directory.</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clear</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Clear terminal screen.</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history</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Shows previously executed commands.</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FFFFF"/>
                    </a:solidFill>
                  </a:tcPr>
                </a:tc>
              </a:tr>
              <a:tr h="440575">
                <a:tc>
                  <a:txBody>
                    <a:bodyPr/>
                    <a:lstStyle/>
                    <a:p>
                      <a:pPr indent="0" marL="0">
                        <a:buNone/>
                      </a:pPr>
                      <a:r>
                        <a:rPr lang="en-US" sz="1250" b="1" dirty="0">
                          <a:solidFill>
                            <a:srgbClr val="16A34A"/>
                          </a:solidFill>
                          <a:latin typeface="Courier New" pitchFamily="34" charset="0"/>
                          <a:ea typeface="Courier New" pitchFamily="34" charset="-122"/>
                          <a:cs typeface="Courier New" pitchFamily="34" charset="-120"/>
                        </a:rPr>
                        <a:t>whoami</a:t>
                      </a:r>
                      <a:endParaRPr lang="en-US" sz="1250" dirty="0">
                        <a:latin typeface="Courier New" charset="0"/>
                        <a:ea typeface="Courier New" charset="0"/>
                        <a:cs typeface="Courier New"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c>
                  <a:txBody>
                    <a:bodyPr/>
                    <a:lstStyle/>
                    <a:p>
                      <a:pPr indent="0" marL="0">
                        <a:buNone/>
                      </a:pPr>
                      <a:r>
                        <a:rPr lang="en-US" sz="1200" dirty="0">
                          <a:solidFill>
                            <a:srgbClr val="16241C"/>
                          </a:solidFill>
                          <a:latin typeface="Calibri" pitchFamily="34" charset="0"/>
                          <a:ea typeface="Calibri" pitchFamily="34" charset="-122"/>
                          <a:cs typeface="Calibri" pitchFamily="34" charset="-120"/>
                        </a:rPr>
                        <a:t>Displays the current logged-in user.</a:t>
                      </a:r>
                      <a:endParaRPr lang="en-US" sz="1200" dirty="0">
                        <a:latin typeface="Calibri" charset="0"/>
                        <a:ea typeface="Calibri" charset="0"/>
                        <a:cs typeface="Calibri" charset="0"/>
                      </a:endParaRPr>
                    </a:p>
                  </a:txBody>
                  <a:tcPr marL="73152" marR="73152" marT="45720" marB="45720" anchor="ctr">
                    <a:lnL w="6350" cap="flat" cmpd="sng" algn="ctr">
                      <a:solidFill>
                        <a:srgbClr val="E2E8E5"/>
                      </a:solidFill>
                      <a:prstDash val="solid"/>
                      <a:round/>
                      <a:headEnd type="none" w="med" len="med"/>
                      <a:tailEnd type="none" w="med" len="med"/>
                    </a:lnL>
                    <a:lnR w="6350" cap="flat" cmpd="sng" algn="ctr">
                      <a:solidFill>
                        <a:srgbClr val="E2E8E5"/>
                      </a:solidFill>
                      <a:prstDash val="solid"/>
                      <a:round/>
                      <a:headEnd type="none" w="med" len="med"/>
                      <a:tailEnd type="none" w="med" len="med"/>
                    </a:lnR>
                    <a:lnT w="6350" cap="flat" cmpd="sng" algn="ctr">
                      <a:solidFill>
                        <a:srgbClr val="E2E8E5"/>
                      </a:solidFill>
                      <a:prstDash val="solid"/>
                      <a:round/>
                      <a:headEnd type="none" w="med" len="med"/>
                      <a:tailEnd type="none" w="med" len="med"/>
                    </a:lnT>
                    <a:lnB w="6350" cap="flat" cmpd="sng" algn="ctr">
                      <a:solidFill>
                        <a:srgbClr val="E2E8E5"/>
                      </a:solidFill>
                      <a:prstDash val="solid"/>
                      <a:round/>
                      <a:headEnd type="none" w="med" len="med"/>
                      <a:tailEnd type="none" w="med" len="med"/>
                    </a:lnB>
                    <a:solidFill>
                      <a:srgbClr val="F1F5F2"/>
                    </a:solidFill>
                  </a:tcPr>
                </a:tc>
              </a:tr>
            </a:tbl>
          </a:graphicData>
        </a:graphic>
      </p:graphicFrame>
      <p:sp>
        <p:nvSpPr>
          <p:cNvPr id="4" name="Shape 1"/>
          <p:cNvSpPr/>
          <p:nvPr/>
        </p:nvSpPr>
        <p:spPr>
          <a:xfrm>
            <a:off x="6858000" y="1417320"/>
            <a:ext cx="4846320" cy="2743200"/>
          </a:xfrm>
          <a:prstGeom prst="roundRect">
            <a:avLst>
              <a:gd name="adj" fmla="val 3333"/>
            </a:avLst>
          </a:prstGeom>
          <a:solidFill>
            <a:srgbClr val="0D1912"/>
          </a:solidFill>
          <a:ln/>
        </p:spPr>
      </p:sp>
      <p:sp>
        <p:nvSpPr>
          <p:cNvPr id="5" name="Text 2"/>
          <p:cNvSpPr/>
          <p:nvPr/>
        </p:nvSpPr>
        <p:spPr>
          <a:xfrm>
            <a:off x="7086600" y="1554480"/>
            <a:ext cx="4389120" cy="320040"/>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Example Practice</a:t>
            </a:r>
            <a:endParaRPr lang="en-US" sz="1300" dirty="0"/>
          </a:p>
        </p:txBody>
      </p:sp>
      <p:sp>
        <p:nvSpPr>
          <p:cNvPr id="6" name="Text 3"/>
          <p:cNvSpPr/>
          <p:nvPr/>
        </p:nvSpPr>
        <p:spPr>
          <a:xfrm>
            <a:off x="7086600" y="1920240"/>
            <a:ext cx="4389120" cy="2148840"/>
          </a:xfrm>
          <a:prstGeom prst="rect">
            <a:avLst/>
          </a:prstGeom>
          <a:noFill/>
          <a:ln/>
        </p:spPr>
        <p:txBody>
          <a:bodyPr wrap="square" rtlCol="0" anchor="ctr"/>
          <a:lstStyle/>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pwd</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ls</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cd /</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ls</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cd home</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ls</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cd ..</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clear</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history</a:t>
            </a:r>
            <a:endParaRPr lang="en-US" sz="1250" dirty="0"/>
          </a:p>
          <a:p>
            <a:pPr indent="0" marL="0">
              <a:lnSpc>
                <a:spcPct val="125000"/>
              </a:lnSpc>
              <a:buNone/>
            </a:pPr>
            <a:r>
              <a:rPr lang="en-US" sz="1250" dirty="0">
                <a:solidFill>
                  <a:srgbClr val="7FEBA6"/>
                </a:solidFill>
                <a:latin typeface="Courier New" pitchFamily="34" charset="0"/>
                <a:ea typeface="Courier New" pitchFamily="34" charset="-122"/>
                <a:cs typeface="Courier New" pitchFamily="34" charset="-120"/>
              </a:rPr>
              <a:t>whoami</a:t>
            </a:r>
            <a:endParaRPr lang="en-US" sz="1250" dirty="0"/>
          </a:p>
        </p:txBody>
      </p:sp>
      <p:sp>
        <p:nvSpPr>
          <p:cNvPr id="7" name="Shape 4"/>
          <p:cNvSpPr/>
          <p:nvPr/>
        </p:nvSpPr>
        <p:spPr>
          <a:xfrm>
            <a:off x="6858000" y="4343400"/>
            <a:ext cx="4846320" cy="1691640"/>
          </a:xfrm>
          <a:prstGeom prst="roundRect">
            <a:avLst>
              <a:gd name="adj" fmla="val 5405"/>
            </a:avLst>
          </a:prstGeom>
          <a:solidFill>
            <a:srgbClr val="F1F5F2"/>
          </a:solidFill>
          <a:ln/>
        </p:spPr>
      </p:sp>
      <p:sp>
        <p:nvSpPr>
          <p:cNvPr id="8" name="Text 5"/>
          <p:cNvSpPr/>
          <p:nvPr/>
        </p:nvSpPr>
        <p:spPr>
          <a:xfrm>
            <a:off x="7086600" y="4462272"/>
            <a:ext cx="4389120" cy="320040"/>
          </a:xfrm>
          <a:prstGeom prst="rect">
            <a:avLst/>
          </a:prstGeom>
          <a:noFill/>
          <a:ln/>
        </p:spPr>
        <p:txBody>
          <a:bodyPr wrap="square" rtlCol="0" anchor="ctr"/>
          <a:lstStyle/>
          <a:p>
            <a:pPr indent="0" marL="0">
              <a:buNone/>
            </a:pPr>
            <a:r>
              <a:rPr lang="en-US" sz="1250" b="1" dirty="0">
                <a:solidFill>
                  <a:srgbClr val="16A34A"/>
                </a:solidFill>
                <a:latin typeface="Calibri" pitchFamily="34" charset="0"/>
                <a:ea typeface="Calibri" pitchFamily="34" charset="-122"/>
                <a:cs typeface="Calibri" pitchFamily="34" charset="-120"/>
              </a:rPr>
              <a:t>Real-Life Example (user: hamida)</a:t>
            </a:r>
            <a:endParaRPr lang="en-US" sz="1250" dirty="0"/>
          </a:p>
        </p:txBody>
      </p:sp>
      <p:sp>
        <p:nvSpPr>
          <p:cNvPr id="9" name="Text 6"/>
          <p:cNvSpPr/>
          <p:nvPr/>
        </p:nvSpPr>
        <p:spPr>
          <a:xfrm>
            <a:off x="7086600" y="4800600"/>
            <a:ext cx="4389120" cy="1188720"/>
          </a:xfrm>
          <a:prstGeom prst="rect">
            <a:avLst/>
          </a:prstGeom>
          <a:noFill/>
          <a:ln/>
        </p:spPr>
        <p:txBody>
          <a:bodyPr wrap="square" rtlCol="0" anchor="ctr"/>
          <a:lstStyle/>
          <a:p>
            <a:pPr indent="0" marL="0">
              <a:lnSpc>
                <a:spcPct val="130000"/>
              </a:lnSpc>
              <a:buNone/>
            </a:pPr>
            <a:r>
              <a:rPr lang="en-US" sz="1150" dirty="0">
                <a:solidFill>
                  <a:srgbClr val="16241C"/>
                </a:solidFill>
                <a:latin typeface="Courier New" pitchFamily="34" charset="0"/>
                <a:ea typeface="Courier New" pitchFamily="34" charset="-122"/>
                <a:cs typeface="Courier New" pitchFamily="34" charset="-120"/>
              </a:rPr>
              <a:t>Documents → /home/hamida</a:t>
            </a:r>
            <a:endParaRPr lang="en-US" sz="1150" dirty="0"/>
          </a:p>
          <a:p>
            <a:pPr indent="0" marL="0">
              <a:lnSpc>
                <a:spcPct val="130000"/>
              </a:lnSpc>
              <a:buNone/>
            </a:pPr>
            <a:r>
              <a:rPr lang="en-US" sz="1150" dirty="0">
                <a:solidFill>
                  <a:srgbClr val="16241C"/>
                </a:solidFill>
                <a:latin typeface="Courier New" pitchFamily="34" charset="0"/>
                <a:ea typeface="Courier New" pitchFamily="34" charset="-122"/>
                <a:cs typeface="Courier New" pitchFamily="34" charset="-120"/>
              </a:rPr>
              <a:t>System settings → /etc</a:t>
            </a:r>
            <a:endParaRPr lang="en-US" sz="1150" dirty="0"/>
          </a:p>
          <a:p>
            <a:pPr indent="0" marL="0">
              <a:lnSpc>
                <a:spcPct val="130000"/>
              </a:lnSpc>
              <a:buNone/>
            </a:pPr>
            <a:r>
              <a:rPr lang="en-US" sz="1150" dirty="0">
                <a:solidFill>
                  <a:srgbClr val="16241C"/>
                </a:solidFill>
                <a:latin typeface="Courier New" pitchFamily="34" charset="0"/>
                <a:ea typeface="Courier New" pitchFamily="34" charset="-122"/>
                <a:cs typeface="Courier New" pitchFamily="34" charset="-120"/>
              </a:rPr>
              <a:t>Log files → /var/log</a:t>
            </a:r>
            <a:endParaRPr lang="en-US" sz="1150" dirty="0"/>
          </a:p>
          <a:p>
            <a:pPr indent="0" marL="0">
              <a:lnSpc>
                <a:spcPct val="130000"/>
              </a:lnSpc>
              <a:buNone/>
            </a:pPr>
            <a:r>
              <a:rPr lang="en-US" sz="1150" dirty="0">
                <a:solidFill>
                  <a:srgbClr val="16241C"/>
                </a:solidFill>
                <a:latin typeface="Courier New" pitchFamily="34" charset="0"/>
                <a:ea typeface="Courier New" pitchFamily="34" charset="-122"/>
                <a:cs typeface="Courier New" pitchFamily="34" charset="-120"/>
              </a:rPr>
              <a:t>Installed programs → /usr</a:t>
            </a:r>
            <a:endParaRPr lang="en-US" sz="1150" dirty="0"/>
          </a:p>
        </p:txBody>
      </p:sp>
      <p:sp>
        <p:nvSpPr>
          <p:cNvPr id="10" name="Text 7"/>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11" name="Text 8"/>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Interview Questions (1/2)</a:t>
            </a:r>
            <a:endParaRPr lang="en-US" sz="3000" dirty="0"/>
          </a:p>
        </p:txBody>
      </p:sp>
      <p:sp>
        <p:nvSpPr>
          <p:cNvPr id="3" name="Shape 1"/>
          <p:cNvSpPr/>
          <p:nvPr/>
        </p:nvSpPr>
        <p:spPr>
          <a:xfrm>
            <a:off x="457200" y="1508760"/>
            <a:ext cx="11274552" cy="1170432"/>
          </a:xfrm>
          <a:prstGeom prst="roundRect">
            <a:avLst>
              <a:gd name="adj" fmla="val 6250"/>
            </a:avLst>
          </a:prstGeom>
          <a:solidFill>
            <a:srgbClr val="F1F5F2"/>
          </a:solidFill>
          <a:ln/>
        </p:spPr>
      </p:sp>
      <p:sp>
        <p:nvSpPr>
          <p:cNvPr id="4" name="Text 2"/>
          <p:cNvSpPr/>
          <p:nvPr/>
        </p:nvSpPr>
        <p:spPr>
          <a:xfrm>
            <a:off x="685800" y="1618488"/>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Q1. What is Linux?</a:t>
            </a:r>
            <a:endParaRPr lang="en-US" sz="1400" dirty="0"/>
          </a:p>
        </p:txBody>
      </p:sp>
      <p:sp>
        <p:nvSpPr>
          <p:cNvPr id="5" name="Text 3"/>
          <p:cNvSpPr/>
          <p:nvPr/>
        </p:nvSpPr>
        <p:spPr>
          <a:xfrm>
            <a:off x="685800" y="2011680"/>
            <a:ext cx="10817352" cy="594360"/>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Linux is a free and open-source operating system based on the Linux kernel.</a:t>
            </a:r>
            <a:endParaRPr lang="en-US" sz="1300" dirty="0"/>
          </a:p>
        </p:txBody>
      </p:sp>
      <p:sp>
        <p:nvSpPr>
          <p:cNvPr id="6" name="Shape 4"/>
          <p:cNvSpPr/>
          <p:nvPr/>
        </p:nvSpPr>
        <p:spPr>
          <a:xfrm>
            <a:off x="457200" y="2807208"/>
            <a:ext cx="11274552" cy="1170432"/>
          </a:xfrm>
          <a:prstGeom prst="roundRect">
            <a:avLst>
              <a:gd name="adj" fmla="val 6250"/>
            </a:avLst>
          </a:prstGeom>
          <a:solidFill>
            <a:srgbClr val="F1F5F2"/>
          </a:solidFill>
          <a:ln/>
        </p:spPr>
      </p:sp>
      <p:sp>
        <p:nvSpPr>
          <p:cNvPr id="7" name="Text 5"/>
          <p:cNvSpPr/>
          <p:nvPr/>
        </p:nvSpPr>
        <p:spPr>
          <a:xfrm>
            <a:off x="685800" y="2916936"/>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Q2. What is a Virtual Machine?</a:t>
            </a:r>
            <a:endParaRPr lang="en-US" sz="1400" dirty="0"/>
          </a:p>
        </p:txBody>
      </p:sp>
      <p:sp>
        <p:nvSpPr>
          <p:cNvPr id="8" name="Text 6"/>
          <p:cNvSpPr/>
          <p:nvPr/>
        </p:nvSpPr>
        <p:spPr>
          <a:xfrm>
            <a:off x="685800" y="3310128"/>
            <a:ext cx="10817352" cy="594360"/>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A Virtual Machine is software that allows multiple operating systems to run on one physical computer.</a:t>
            </a:r>
            <a:endParaRPr lang="en-US" sz="1300" dirty="0"/>
          </a:p>
        </p:txBody>
      </p:sp>
      <p:sp>
        <p:nvSpPr>
          <p:cNvPr id="9" name="Shape 7"/>
          <p:cNvSpPr/>
          <p:nvPr/>
        </p:nvSpPr>
        <p:spPr>
          <a:xfrm>
            <a:off x="457200" y="4105656"/>
            <a:ext cx="11274552" cy="1170432"/>
          </a:xfrm>
          <a:prstGeom prst="roundRect">
            <a:avLst>
              <a:gd name="adj" fmla="val 6250"/>
            </a:avLst>
          </a:prstGeom>
          <a:solidFill>
            <a:srgbClr val="F1F5F2"/>
          </a:solidFill>
          <a:ln/>
        </p:spPr>
      </p:sp>
      <p:sp>
        <p:nvSpPr>
          <p:cNvPr id="10" name="Text 8"/>
          <p:cNvSpPr/>
          <p:nvPr/>
        </p:nvSpPr>
        <p:spPr>
          <a:xfrm>
            <a:off x="685800" y="4215384"/>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Q3. What is the difference between Host OS and Guest OS?</a:t>
            </a:r>
            <a:endParaRPr lang="en-US" sz="1400" dirty="0"/>
          </a:p>
        </p:txBody>
      </p:sp>
      <p:sp>
        <p:nvSpPr>
          <p:cNvPr id="11" name="Text 9"/>
          <p:cNvSpPr/>
          <p:nvPr/>
        </p:nvSpPr>
        <p:spPr>
          <a:xfrm>
            <a:off x="685800" y="4608576"/>
            <a:ext cx="10817352" cy="594360"/>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Host OS is the main operating system installed on the physical computer, while Guest OS runs inside a Virtual Machine.</a:t>
            </a:r>
            <a:endParaRPr lang="en-US" sz="1300" dirty="0"/>
          </a:p>
        </p:txBody>
      </p:sp>
      <p:sp>
        <p:nvSpPr>
          <p:cNvPr id="12" name="Shape 10"/>
          <p:cNvSpPr/>
          <p:nvPr/>
        </p:nvSpPr>
        <p:spPr>
          <a:xfrm>
            <a:off x="457200" y="5404104"/>
            <a:ext cx="11274552" cy="1170432"/>
          </a:xfrm>
          <a:prstGeom prst="roundRect">
            <a:avLst>
              <a:gd name="adj" fmla="val 6250"/>
            </a:avLst>
          </a:prstGeom>
          <a:solidFill>
            <a:srgbClr val="F1F5F2"/>
          </a:solidFill>
          <a:ln/>
        </p:spPr>
      </p:sp>
      <p:sp>
        <p:nvSpPr>
          <p:cNvPr id="13" name="Text 11"/>
          <p:cNvSpPr/>
          <p:nvPr/>
        </p:nvSpPr>
        <p:spPr>
          <a:xfrm>
            <a:off x="685800" y="5513832"/>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Q4. What is the Root directory?</a:t>
            </a:r>
            <a:endParaRPr lang="en-US" sz="1400" dirty="0"/>
          </a:p>
        </p:txBody>
      </p:sp>
      <p:sp>
        <p:nvSpPr>
          <p:cNvPr id="14" name="Text 12"/>
          <p:cNvSpPr/>
          <p:nvPr/>
        </p:nvSpPr>
        <p:spPr>
          <a:xfrm>
            <a:off x="685800" y="5907024"/>
            <a:ext cx="10817352" cy="594360"/>
          </a:xfrm>
          <a:prstGeom prst="rect">
            <a:avLst/>
          </a:prstGeom>
          <a:noFill/>
          <a:ln/>
        </p:spPr>
        <p:txBody>
          <a:bodyPr wrap="square" rtlCol="0" anchor="ctr"/>
          <a:lstStyle/>
          <a:p>
            <a:pPr indent="0" marL="0">
              <a:buNone/>
            </a:pPr>
            <a:r>
              <a:rPr lang="en-US" sz="1300" dirty="0">
                <a:solidFill>
                  <a:srgbClr val="16241C"/>
                </a:solidFill>
                <a:latin typeface="Calibri" pitchFamily="34" charset="0"/>
                <a:ea typeface="Calibri" pitchFamily="34" charset="-122"/>
                <a:cs typeface="Calibri" pitchFamily="34" charset="-120"/>
              </a:rPr>
              <a:t>The Root directory (/) is the top-level directory of the Linux file system.</a:t>
            </a:r>
            <a:endParaRPr lang="en-US" sz="1300" dirty="0"/>
          </a:p>
        </p:txBody>
      </p:sp>
      <p:sp>
        <p:nvSpPr>
          <p:cNvPr id="15" name="Text 13"/>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16" name="Text 14"/>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rtlCol="0" anchor="ctr"/>
          <a:lstStyle/>
          <a:p>
            <a:pPr indent="0" marL="0">
              <a:buNone/>
            </a:pPr>
            <a:r>
              <a:rPr lang="en-US" sz="3000" b="1" dirty="0">
                <a:solidFill>
                  <a:srgbClr val="16241C"/>
                </a:solidFill>
                <a:latin typeface="Cambria" pitchFamily="34" charset="0"/>
                <a:ea typeface="Cambria" pitchFamily="34" charset="-122"/>
                <a:cs typeface="Cambria" pitchFamily="34" charset="-120"/>
              </a:rPr>
              <a:t>Interview Questions (2/2)</a:t>
            </a:r>
            <a:endParaRPr lang="en-US" sz="3000" dirty="0"/>
          </a:p>
        </p:txBody>
      </p:sp>
      <p:sp>
        <p:nvSpPr>
          <p:cNvPr id="3" name="Shape 1"/>
          <p:cNvSpPr/>
          <p:nvPr/>
        </p:nvSpPr>
        <p:spPr>
          <a:xfrm>
            <a:off x="457200" y="1508760"/>
            <a:ext cx="11274552" cy="1170432"/>
          </a:xfrm>
          <a:prstGeom prst="roundRect">
            <a:avLst>
              <a:gd name="adj" fmla="val 6250"/>
            </a:avLst>
          </a:prstGeom>
          <a:solidFill>
            <a:srgbClr val="F1F5F2"/>
          </a:solidFill>
          <a:ln/>
        </p:spPr>
      </p:sp>
      <p:sp>
        <p:nvSpPr>
          <p:cNvPr id="4" name="Text 2"/>
          <p:cNvSpPr/>
          <p:nvPr/>
        </p:nvSpPr>
        <p:spPr>
          <a:xfrm>
            <a:off x="685800" y="1618488"/>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Q5. Which directory stores user files?</a:t>
            </a:r>
            <a:endParaRPr lang="en-US" sz="1400" dirty="0"/>
          </a:p>
        </p:txBody>
      </p:sp>
      <p:sp>
        <p:nvSpPr>
          <p:cNvPr id="5" name="Text 3"/>
          <p:cNvSpPr/>
          <p:nvPr/>
        </p:nvSpPr>
        <p:spPr>
          <a:xfrm>
            <a:off x="685800" y="2011680"/>
            <a:ext cx="10817352" cy="594360"/>
          </a:xfrm>
          <a:prstGeom prst="rect">
            <a:avLst/>
          </a:prstGeom>
          <a:noFill/>
          <a:ln/>
        </p:spPr>
        <p:txBody>
          <a:bodyPr wrap="square" rtlCol="0" anchor="ctr"/>
          <a:lstStyle/>
          <a:p>
            <a:pPr indent="0" marL="0">
              <a:buNone/>
            </a:pPr>
            <a:r>
              <a:rPr lang="en-US" sz="1350" b="1" dirty="0">
                <a:solidFill>
                  <a:srgbClr val="16241C"/>
                </a:solidFill>
                <a:latin typeface="Courier New" pitchFamily="34" charset="0"/>
                <a:ea typeface="Courier New" pitchFamily="34" charset="-122"/>
                <a:cs typeface="Courier New" pitchFamily="34" charset="-120"/>
              </a:rPr>
              <a:t>/home</a:t>
            </a:r>
            <a:endParaRPr lang="en-US" sz="1350" dirty="0"/>
          </a:p>
        </p:txBody>
      </p:sp>
      <p:sp>
        <p:nvSpPr>
          <p:cNvPr id="6" name="Shape 4"/>
          <p:cNvSpPr/>
          <p:nvPr/>
        </p:nvSpPr>
        <p:spPr>
          <a:xfrm>
            <a:off x="457200" y="2807208"/>
            <a:ext cx="11274552" cy="1170432"/>
          </a:xfrm>
          <a:prstGeom prst="roundRect">
            <a:avLst>
              <a:gd name="adj" fmla="val 6250"/>
            </a:avLst>
          </a:prstGeom>
          <a:solidFill>
            <a:srgbClr val="F1F5F2"/>
          </a:solidFill>
          <a:ln/>
        </p:spPr>
      </p:sp>
      <p:sp>
        <p:nvSpPr>
          <p:cNvPr id="7" name="Text 5"/>
          <p:cNvSpPr/>
          <p:nvPr/>
        </p:nvSpPr>
        <p:spPr>
          <a:xfrm>
            <a:off x="685800" y="2916936"/>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Q6. Which directory stores configuration files?</a:t>
            </a:r>
            <a:endParaRPr lang="en-US" sz="1400" dirty="0"/>
          </a:p>
        </p:txBody>
      </p:sp>
      <p:sp>
        <p:nvSpPr>
          <p:cNvPr id="8" name="Text 6"/>
          <p:cNvSpPr/>
          <p:nvPr/>
        </p:nvSpPr>
        <p:spPr>
          <a:xfrm>
            <a:off x="685800" y="3310128"/>
            <a:ext cx="10817352" cy="594360"/>
          </a:xfrm>
          <a:prstGeom prst="rect">
            <a:avLst/>
          </a:prstGeom>
          <a:noFill/>
          <a:ln/>
        </p:spPr>
        <p:txBody>
          <a:bodyPr wrap="square" rtlCol="0" anchor="ctr"/>
          <a:lstStyle/>
          <a:p>
            <a:pPr indent="0" marL="0">
              <a:buNone/>
            </a:pPr>
            <a:r>
              <a:rPr lang="en-US" sz="1350" b="1" dirty="0">
                <a:solidFill>
                  <a:srgbClr val="16241C"/>
                </a:solidFill>
                <a:latin typeface="Courier New" pitchFamily="34" charset="0"/>
                <a:ea typeface="Courier New" pitchFamily="34" charset="-122"/>
                <a:cs typeface="Courier New" pitchFamily="34" charset="-120"/>
              </a:rPr>
              <a:t>/etc</a:t>
            </a:r>
            <a:endParaRPr lang="en-US" sz="1350" dirty="0"/>
          </a:p>
        </p:txBody>
      </p:sp>
      <p:sp>
        <p:nvSpPr>
          <p:cNvPr id="9" name="Shape 7"/>
          <p:cNvSpPr/>
          <p:nvPr/>
        </p:nvSpPr>
        <p:spPr>
          <a:xfrm>
            <a:off x="457200" y="4105656"/>
            <a:ext cx="11274552" cy="1170432"/>
          </a:xfrm>
          <a:prstGeom prst="roundRect">
            <a:avLst>
              <a:gd name="adj" fmla="val 6250"/>
            </a:avLst>
          </a:prstGeom>
          <a:solidFill>
            <a:srgbClr val="F1F5F2"/>
          </a:solidFill>
          <a:ln/>
        </p:spPr>
      </p:sp>
      <p:sp>
        <p:nvSpPr>
          <p:cNvPr id="10" name="Text 8"/>
          <p:cNvSpPr/>
          <p:nvPr/>
        </p:nvSpPr>
        <p:spPr>
          <a:xfrm>
            <a:off x="685800" y="4215384"/>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Q7. Which directory stores log files?</a:t>
            </a:r>
            <a:endParaRPr lang="en-US" sz="1400" dirty="0"/>
          </a:p>
        </p:txBody>
      </p:sp>
      <p:sp>
        <p:nvSpPr>
          <p:cNvPr id="11" name="Text 9"/>
          <p:cNvSpPr/>
          <p:nvPr/>
        </p:nvSpPr>
        <p:spPr>
          <a:xfrm>
            <a:off x="685800" y="4608576"/>
            <a:ext cx="10817352" cy="594360"/>
          </a:xfrm>
          <a:prstGeom prst="rect">
            <a:avLst/>
          </a:prstGeom>
          <a:noFill/>
          <a:ln/>
        </p:spPr>
        <p:txBody>
          <a:bodyPr wrap="square" rtlCol="0" anchor="ctr"/>
          <a:lstStyle/>
          <a:p>
            <a:pPr indent="0" marL="0">
              <a:buNone/>
            </a:pPr>
            <a:r>
              <a:rPr lang="en-US" sz="1350" b="1" dirty="0">
                <a:solidFill>
                  <a:srgbClr val="16241C"/>
                </a:solidFill>
                <a:latin typeface="Courier New" pitchFamily="34" charset="0"/>
                <a:ea typeface="Courier New" pitchFamily="34" charset="-122"/>
                <a:cs typeface="Courier New" pitchFamily="34" charset="-120"/>
              </a:rPr>
              <a:t>/var/log</a:t>
            </a:r>
            <a:endParaRPr lang="en-US" sz="1350" dirty="0"/>
          </a:p>
        </p:txBody>
      </p:sp>
      <p:sp>
        <p:nvSpPr>
          <p:cNvPr id="12" name="Shape 10"/>
          <p:cNvSpPr/>
          <p:nvPr/>
        </p:nvSpPr>
        <p:spPr>
          <a:xfrm>
            <a:off x="457200" y="5404104"/>
            <a:ext cx="11274552" cy="1170432"/>
          </a:xfrm>
          <a:prstGeom prst="roundRect">
            <a:avLst>
              <a:gd name="adj" fmla="val 6250"/>
            </a:avLst>
          </a:prstGeom>
          <a:solidFill>
            <a:srgbClr val="F1F5F2"/>
          </a:solidFill>
          <a:ln/>
        </p:spPr>
      </p:sp>
      <p:sp>
        <p:nvSpPr>
          <p:cNvPr id="13" name="Text 11"/>
          <p:cNvSpPr/>
          <p:nvPr/>
        </p:nvSpPr>
        <p:spPr>
          <a:xfrm>
            <a:off x="685800" y="5513832"/>
            <a:ext cx="10817352" cy="384048"/>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Q8. Which Hypervisor does VirtualBox use?</a:t>
            </a:r>
            <a:endParaRPr lang="en-US" sz="1400" dirty="0"/>
          </a:p>
        </p:txBody>
      </p:sp>
      <p:sp>
        <p:nvSpPr>
          <p:cNvPr id="14" name="Text 12"/>
          <p:cNvSpPr/>
          <p:nvPr/>
        </p:nvSpPr>
        <p:spPr>
          <a:xfrm>
            <a:off x="685800" y="5907024"/>
            <a:ext cx="10817352" cy="594360"/>
          </a:xfrm>
          <a:prstGeom prst="rect">
            <a:avLst/>
          </a:prstGeom>
          <a:noFill/>
          <a:ln/>
        </p:spPr>
        <p:txBody>
          <a:bodyPr wrap="square" rtlCol="0" anchor="ctr"/>
          <a:lstStyle/>
          <a:p>
            <a:pPr indent="0" marL="0">
              <a:buNone/>
            </a:pPr>
            <a:r>
              <a:rPr lang="en-US" sz="1350" b="1" dirty="0">
                <a:solidFill>
                  <a:srgbClr val="16241C"/>
                </a:solidFill>
                <a:latin typeface="Courier New" pitchFamily="34" charset="0"/>
                <a:ea typeface="Courier New" pitchFamily="34" charset="-122"/>
                <a:cs typeface="Courier New" pitchFamily="34" charset="-120"/>
              </a:rPr>
              <a:t>Type 2 Hypervisor.</a:t>
            </a:r>
            <a:endParaRPr lang="en-US" sz="1350" dirty="0"/>
          </a:p>
        </p:txBody>
      </p:sp>
      <p:sp>
        <p:nvSpPr>
          <p:cNvPr id="15" name="Text 13"/>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6B63"/>
                </a:solidFill>
                <a:latin typeface="Calibri" pitchFamily="34" charset="0"/>
                <a:ea typeface="Calibri" pitchFamily="34" charset="-122"/>
                <a:cs typeface="Calibri" pitchFamily="34" charset="-120"/>
              </a:rPr>
              <a:t>Day 11 · Linux, Virtual Machines &amp; File System</a:t>
            </a:r>
            <a:endParaRPr lang="en-US" sz="1000" dirty="0"/>
          </a:p>
        </p:txBody>
      </p:sp>
      <p:sp>
        <p:nvSpPr>
          <p:cNvPr id="16" name="Text 14"/>
          <p:cNvSpPr/>
          <p:nvPr/>
        </p:nvSpPr>
        <p:spPr>
          <a:xfrm>
            <a:off x="11274552" y="6510528"/>
            <a:ext cx="457200" cy="274320"/>
          </a:xfrm>
          <a:prstGeom prst="rect">
            <a:avLst/>
          </a:prstGeom>
          <a:noFill/>
          <a:ln/>
        </p:spPr>
        <p:txBody>
          <a:bodyPr wrap="square" rtlCol="0" anchor="ctr"/>
          <a:lstStyle/>
          <a:p>
            <a:pPr algn="r" indent="0" marL="0">
              <a:buNone/>
            </a:pPr>
            <a:r>
              <a:rPr lang="en-US" sz="1000" dirty="0">
                <a:solidFill>
                  <a:srgbClr val="5B6B6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41C"/>
        </a:solidFill>
      </p:bgPr>
    </p:bg>
    <p:spTree>
      <p:nvGrpSpPr>
        <p:cNvPr id="1" name=""/>
        <p:cNvGrpSpPr/>
        <p:nvPr/>
      </p:nvGrpSpPr>
      <p:grpSpPr>
        <a:xfrm>
          <a:off x="0" y="0"/>
          <a:ext cx="0" cy="0"/>
          <a:chOff x="0" y="0"/>
          <a:chExt cx="0" cy="0"/>
        </a:xfrm>
      </p:grpSpPr>
      <p:sp>
        <p:nvSpPr>
          <p:cNvPr id="2" name="Text 0"/>
          <p:cNvSpPr/>
          <p:nvPr/>
        </p:nvSpPr>
        <p:spPr>
          <a:xfrm>
            <a:off x="457200" y="50292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Summary</a:t>
            </a:r>
            <a:endParaRPr lang="en-US" sz="3000" dirty="0"/>
          </a:p>
        </p:txBody>
      </p:sp>
      <p:sp>
        <p:nvSpPr>
          <p:cNvPr id="3" name="Shape 1"/>
          <p:cNvSpPr/>
          <p:nvPr/>
        </p:nvSpPr>
        <p:spPr>
          <a:xfrm>
            <a:off x="457200" y="1417320"/>
            <a:ext cx="5394960" cy="1051560"/>
          </a:xfrm>
          <a:prstGeom prst="roundRect">
            <a:avLst>
              <a:gd name="adj" fmla="val 6957"/>
            </a:avLst>
          </a:prstGeom>
          <a:solidFill>
            <a:srgbClr val="1E2F24"/>
          </a:solidFill>
          <a:ln/>
        </p:spPr>
      </p:sp>
      <p:sp>
        <p:nvSpPr>
          <p:cNvPr id="4" name="Shape 2"/>
          <p:cNvSpPr/>
          <p:nvPr/>
        </p:nvSpPr>
        <p:spPr>
          <a:xfrm>
            <a:off x="621792" y="1581912"/>
            <a:ext cx="310896" cy="310896"/>
          </a:xfrm>
          <a:prstGeom prst="ellipse">
            <a:avLst/>
          </a:prstGeom>
          <a:solidFill>
            <a:srgbClr val="22C55E"/>
          </a:solidFill>
          <a:ln/>
        </p:spPr>
      </p:sp>
      <p:sp>
        <p:nvSpPr>
          <p:cNvPr id="5" name="Text 3"/>
          <p:cNvSpPr/>
          <p:nvPr/>
        </p:nvSpPr>
        <p:spPr>
          <a:xfrm>
            <a:off x="621792" y="158191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51560" y="150876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Linux is a secure and open-source operating system.</a:t>
            </a:r>
            <a:endParaRPr lang="en-US" sz="1150" dirty="0"/>
          </a:p>
        </p:txBody>
      </p:sp>
      <p:sp>
        <p:nvSpPr>
          <p:cNvPr id="7" name="Shape 5"/>
          <p:cNvSpPr/>
          <p:nvPr/>
        </p:nvSpPr>
        <p:spPr>
          <a:xfrm>
            <a:off x="6217920" y="1417320"/>
            <a:ext cx="5394960" cy="1051560"/>
          </a:xfrm>
          <a:prstGeom prst="roundRect">
            <a:avLst>
              <a:gd name="adj" fmla="val 6957"/>
            </a:avLst>
          </a:prstGeom>
          <a:solidFill>
            <a:srgbClr val="1E2F24"/>
          </a:solidFill>
          <a:ln/>
        </p:spPr>
      </p:sp>
      <p:sp>
        <p:nvSpPr>
          <p:cNvPr id="8" name="Shape 6"/>
          <p:cNvSpPr/>
          <p:nvPr/>
        </p:nvSpPr>
        <p:spPr>
          <a:xfrm>
            <a:off x="6382512" y="1581912"/>
            <a:ext cx="310896" cy="310896"/>
          </a:xfrm>
          <a:prstGeom prst="ellipse">
            <a:avLst/>
          </a:prstGeom>
          <a:solidFill>
            <a:srgbClr val="22C55E"/>
          </a:solidFill>
          <a:ln/>
        </p:spPr>
      </p:sp>
      <p:sp>
        <p:nvSpPr>
          <p:cNvPr id="9" name="Text 7"/>
          <p:cNvSpPr/>
          <p:nvPr/>
        </p:nvSpPr>
        <p:spPr>
          <a:xfrm>
            <a:off x="6382512" y="158191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6812280" y="150876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Ubuntu is a beginner-friendly Linux distribution.</a:t>
            </a:r>
            <a:endParaRPr lang="en-US" sz="1150" dirty="0"/>
          </a:p>
        </p:txBody>
      </p:sp>
      <p:sp>
        <p:nvSpPr>
          <p:cNvPr id="11" name="Shape 9"/>
          <p:cNvSpPr/>
          <p:nvPr/>
        </p:nvSpPr>
        <p:spPr>
          <a:xfrm>
            <a:off x="457200" y="2651760"/>
            <a:ext cx="5394960" cy="1051560"/>
          </a:xfrm>
          <a:prstGeom prst="roundRect">
            <a:avLst>
              <a:gd name="adj" fmla="val 6957"/>
            </a:avLst>
          </a:prstGeom>
          <a:solidFill>
            <a:srgbClr val="1E2F24"/>
          </a:solidFill>
          <a:ln/>
        </p:spPr>
      </p:sp>
      <p:sp>
        <p:nvSpPr>
          <p:cNvPr id="12" name="Shape 10"/>
          <p:cNvSpPr/>
          <p:nvPr/>
        </p:nvSpPr>
        <p:spPr>
          <a:xfrm>
            <a:off x="621792" y="2816352"/>
            <a:ext cx="310896" cy="310896"/>
          </a:xfrm>
          <a:prstGeom prst="ellipse">
            <a:avLst/>
          </a:prstGeom>
          <a:solidFill>
            <a:srgbClr val="22C55E"/>
          </a:solidFill>
          <a:ln/>
        </p:spPr>
      </p:sp>
      <p:sp>
        <p:nvSpPr>
          <p:cNvPr id="13" name="Text 11"/>
          <p:cNvSpPr/>
          <p:nvPr/>
        </p:nvSpPr>
        <p:spPr>
          <a:xfrm>
            <a:off x="621792" y="281635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51560" y="274320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A Virtual Machine lets you run another operating system inside your current OS.</a:t>
            </a:r>
            <a:endParaRPr lang="en-US" sz="1150" dirty="0"/>
          </a:p>
        </p:txBody>
      </p:sp>
      <p:sp>
        <p:nvSpPr>
          <p:cNvPr id="15" name="Shape 13"/>
          <p:cNvSpPr/>
          <p:nvPr/>
        </p:nvSpPr>
        <p:spPr>
          <a:xfrm>
            <a:off x="6217920" y="2651760"/>
            <a:ext cx="5394960" cy="1051560"/>
          </a:xfrm>
          <a:prstGeom prst="roundRect">
            <a:avLst>
              <a:gd name="adj" fmla="val 6957"/>
            </a:avLst>
          </a:prstGeom>
          <a:solidFill>
            <a:srgbClr val="1E2F24"/>
          </a:solidFill>
          <a:ln/>
        </p:spPr>
      </p:sp>
      <p:sp>
        <p:nvSpPr>
          <p:cNvPr id="16" name="Shape 14"/>
          <p:cNvSpPr/>
          <p:nvPr/>
        </p:nvSpPr>
        <p:spPr>
          <a:xfrm>
            <a:off x="6382512" y="2816352"/>
            <a:ext cx="310896" cy="310896"/>
          </a:xfrm>
          <a:prstGeom prst="ellipse">
            <a:avLst/>
          </a:prstGeom>
          <a:solidFill>
            <a:srgbClr val="22C55E"/>
          </a:solidFill>
          <a:ln/>
        </p:spPr>
      </p:sp>
      <p:sp>
        <p:nvSpPr>
          <p:cNvPr id="17" name="Text 15"/>
          <p:cNvSpPr/>
          <p:nvPr/>
        </p:nvSpPr>
        <p:spPr>
          <a:xfrm>
            <a:off x="6382512" y="281635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812280" y="274320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The Host OS is the physical operating system, while the Guest OS runs inside the VM.</a:t>
            </a:r>
            <a:endParaRPr lang="en-US" sz="1150" dirty="0"/>
          </a:p>
        </p:txBody>
      </p:sp>
      <p:sp>
        <p:nvSpPr>
          <p:cNvPr id="19" name="Shape 17"/>
          <p:cNvSpPr/>
          <p:nvPr/>
        </p:nvSpPr>
        <p:spPr>
          <a:xfrm>
            <a:off x="457200" y="3886200"/>
            <a:ext cx="5394960" cy="1051560"/>
          </a:xfrm>
          <a:prstGeom prst="roundRect">
            <a:avLst>
              <a:gd name="adj" fmla="val 6957"/>
            </a:avLst>
          </a:prstGeom>
          <a:solidFill>
            <a:srgbClr val="1E2F24"/>
          </a:solidFill>
          <a:ln/>
        </p:spPr>
      </p:sp>
      <p:sp>
        <p:nvSpPr>
          <p:cNvPr id="20" name="Shape 18"/>
          <p:cNvSpPr/>
          <p:nvPr/>
        </p:nvSpPr>
        <p:spPr>
          <a:xfrm>
            <a:off x="621792" y="4050792"/>
            <a:ext cx="310896" cy="310896"/>
          </a:xfrm>
          <a:prstGeom prst="ellipse">
            <a:avLst/>
          </a:prstGeom>
          <a:solidFill>
            <a:srgbClr val="22C55E"/>
          </a:solidFill>
          <a:ln/>
        </p:spPr>
      </p:sp>
      <p:sp>
        <p:nvSpPr>
          <p:cNvPr id="21" name="Text 19"/>
          <p:cNvSpPr/>
          <p:nvPr/>
        </p:nvSpPr>
        <p:spPr>
          <a:xfrm>
            <a:off x="621792" y="405079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1051560" y="397764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VirtualBox is a Type 2 Hypervisor.</a:t>
            </a:r>
            <a:endParaRPr lang="en-US" sz="1150" dirty="0"/>
          </a:p>
        </p:txBody>
      </p:sp>
      <p:sp>
        <p:nvSpPr>
          <p:cNvPr id="23" name="Shape 21"/>
          <p:cNvSpPr/>
          <p:nvPr/>
        </p:nvSpPr>
        <p:spPr>
          <a:xfrm>
            <a:off x="6217920" y="3886200"/>
            <a:ext cx="5394960" cy="1051560"/>
          </a:xfrm>
          <a:prstGeom prst="roundRect">
            <a:avLst>
              <a:gd name="adj" fmla="val 6957"/>
            </a:avLst>
          </a:prstGeom>
          <a:solidFill>
            <a:srgbClr val="1E2F24"/>
          </a:solidFill>
          <a:ln/>
        </p:spPr>
      </p:sp>
      <p:sp>
        <p:nvSpPr>
          <p:cNvPr id="24" name="Shape 22"/>
          <p:cNvSpPr/>
          <p:nvPr/>
        </p:nvSpPr>
        <p:spPr>
          <a:xfrm>
            <a:off x="6382512" y="4050792"/>
            <a:ext cx="310896" cy="310896"/>
          </a:xfrm>
          <a:prstGeom prst="ellipse">
            <a:avLst/>
          </a:prstGeom>
          <a:solidFill>
            <a:srgbClr val="22C55E"/>
          </a:solidFill>
          <a:ln/>
        </p:spPr>
      </p:sp>
      <p:sp>
        <p:nvSpPr>
          <p:cNvPr id="25" name="Text 23"/>
          <p:cNvSpPr/>
          <p:nvPr/>
        </p:nvSpPr>
        <p:spPr>
          <a:xfrm>
            <a:off x="6382512" y="405079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p:nvPr/>
        </p:nvSpPr>
        <p:spPr>
          <a:xfrm>
            <a:off x="6812280" y="397764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The Linux file system starts from the Root directory (/).</a:t>
            </a:r>
            <a:endParaRPr lang="en-US" sz="1150" dirty="0"/>
          </a:p>
        </p:txBody>
      </p:sp>
      <p:sp>
        <p:nvSpPr>
          <p:cNvPr id="27" name="Shape 25"/>
          <p:cNvSpPr/>
          <p:nvPr/>
        </p:nvSpPr>
        <p:spPr>
          <a:xfrm>
            <a:off x="457200" y="5120640"/>
            <a:ext cx="5394960" cy="1051560"/>
          </a:xfrm>
          <a:prstGeom prst="roundRect">
            <a:avLst>
              <a:gd name="adj" fmla="val 6957"/>
            </a:avLst>
          </a:prstGeom>
          <a:solidFill>
            <a:srgbClr val="1E2F24"/>
          </a:solidFill>
          <a:ln/>
        </p:spPr>
      </p:sp>
      <p:sp>
        <p:nvSpPr>
          <p:cNvPr id="28" name="Shape 26"/>
          <p:cNvSpPr/>
          <p:nvPr/>
        </p:nvSpPr>
        <p:spPr>
          <a:xfrm>
            <a:off x="621792" y="5285232"/>
            <a:ext cx="310896" cy="310896"/>
          </a:xfrm>
          <a:prstGeom prst="ellipse">
            <a:avLst/>
          </a:prstGeom>
          <a:solidFill>
            <a:srgbClr val="22C55E"/>
          </a:solidFill>
          <a:ln/>
        </p:spPr>
      </p:sp>
      <p:sp>
        <p:nvSpPr>
          <p:cNvPr id="29" name="Text 27"/>
          <p:cNvSpPr/>
          <p:nvPr/>
        </p:nvSpPr>
        <p:spPr>
          <a:xfrm>
            <a:off x="621792" y="52852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p:nvPr/>
        </p:nvSpPr>
        <p:spPr>
          <a:xfrm>
            <a:off x="1051560" y="521208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Important directories include /home, /etc, /var, /usr, /boot, /dev, and /tmp.</a:t>
            </a:r>
            <a:endParaRPr lang="en-US" sz="1150" dirty="0"/>
          </a:p>
        </p:txBody>
      </p:sp>
      <p:sp>
        <p:nvSpPr>
          <p:cNvPr id="31" name="Shape 29"/>
          <p:cNvSpPr/>
          <p:nvPr/>
        </p:nvSpPr>
        <p:spPr>
          <a:xfrm>
            <a:off x="6217920" y="5120640"/>
            <a:ext cx="5394960" cy="1051560"/>
          </a:xfrm>
          <a:prstGeom prst="roundRect">
            <a:avLst>
              <a:gd name="adj" fmla="val 6957"/>
            </a:avLst>
          </a:prstGeom>
          <a:solidFill>
            <a:srgbClr val="1E2F24"/>
          </a:solidFill>
          <a:ln/>
        </p:spPr>
      </p:sp>
      <p:sp>
        <p:nvSpPr>
          <p:cNvPr id="32" name="Shape 30"/>
          <p:cNvSpPr/>
          <p:nvPr/>
        </p:nvSpPr>
        <p:spPr>
          <a:xfrm>
            <a:off x="6382512" y="5285232"/>
            <a:ext cx="310896" cy="310896"/>
          </a:xfrm>
          <a:prstGeom prst="ellipse">
            <a:avLst/>
          </a:prstGeom>
          <a:solidFill>
            <a:srgbClr val="22C55E"/>
          </a:solidFill>
          <a:ln/>
        </p:spPr>
      </p:sp>
      <p:sp>
        <p:nvSpPr>
          <p:cNvPr id="33" name="Text 31"/>
          <p:cNvSpPr/>
          <p:nvPr/>
        </p:nvSpPr>
        <p:spPr>
          <a:xfrm>
            <a:off x="6382512" y="52852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2"/>
          <p:cNvSpPr/>
          <p:nvPr/>
        </p:nvSpPr>
        <p:spPr>
          <a:xfrm>
            <a:off x="6812280" y="5212080"/>
            <a:ext cx="4617720" cy="868680"/>
          </a:xfrm>
          <a:prstGeom prst="rect">
            <a:avLst/>
          </a:prstGeom>
          <a:noFill/>
          <a:ln/>
        </p:spPr>
        <p:txBody>
          <a:bodyPr wrap="square" rtlCol="0" anchor="ctr"/>
          <a:lstStyle/>
          <a:p>
            <a:pPr indent="0" marL="0">
              <a:lnSpc>
                <a:spcPct val="115000"/>
              </a:lnSpc>
              <a:buNone/>
            </a:pPr>
            <a:r>
              <a:rPr lang="en-US" sz="1150" dirty="0">
                <a:solidFill>
                  <a:srgbClr val="E4EEE8"/>
                </a:solidFill>
                <a:latin typeface="Calibri" pitchFamily="34" charset="0"/>
                <a:ea typeface="Calibri" pitchFamily="34" charset="-122"/>
                <a:cs typeface="Calibri" pitchFamily="34" charset="-120"/>
              </a:rPr>
              <a:t>Basic navigation commands include pwd, ls, cd, history, clear, and whoami.</a:t>
            </a:r>
            <a:endParaRPr lang="en-US" sz="1150" dirty="0"/>
          </a:p>
        </p:txBody>
      </p:sp>
      <p:sp>
        <p:nvSpPr>
          <p:cNvPr id="35" name="Text 33"/>
          <p:cNvSpPr/>
          <p:nvPr/>
        </p:nvSpPr>
        <p:spPr>
          <a:xfrm>
            <a:off x="457200" y="6400800"/>
            <a:ext cx="8229600" cy="320040"/>
          </a:xfrm>
          <a:prstGeom prst="rect">
            <a:avLst/>
          </a:prstGeom>
          <a:noFill/>
          <a:ln/>
        </p:spPr>
        <p:txBody>
          <a:bodyPr wrap="square" rtlCol="0" anchor="ctr"/>
          <a:lstStyle/>
          <a:p>
            <a:pPr indent="0" marL="0">
              <a:buNone/>
            </a:pPr>
            <a:r>
              <a:rPr lang="en-US" sz="1200" dirty="0">
                <a:solidFill>
                  <a:srgbClr val="7FEBA6"/>
                </a:solidFill>
                <a:latin typeface="Courier New" pitchFamily="34" charset="0"/>
                <a:ea typeface="Courier New" pitchFamily="34" charset="-122"/>
                <a:cs typeface="Courier New" pitchFamily="34" charset="-120"/>
              </a:rPr>
              <a:t>root@day11:~$ echo "Notes complete."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2026-08-02T07:54:04Z</dcterms:created>
  <dcterms:modified xsi:type="dcterms:W3CDTF">2026-08-02T07:54:04Z</dcterms:modified>
</cp:coreProperties>
</file>